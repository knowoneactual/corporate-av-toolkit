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9BA4513-4C80-46AD-9498-C3BDF6ECC9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98E5A7C-D46F-487C-B6B8-84F1219A19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A6E6509-7364-4E9F-AF46-A2EFF583D6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5922BE3-B5A4-42D3-AE92-066C6A1A5C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69F6428-B39C-4FAA-96AC-2B91FBBB04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38AF54F-E8ED-4B2A-9610-C8BE9C5657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9D868A8-8FB8-4201-AD79-6E79D0F7B6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A2EF46B-8BE3-4E01-8C61-0D9FA9BDEE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578D179-45C0-485F-B44A-715A347166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045BBFB-AEF0-429B-810A-761C7BAD5A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778CE5D-FB0C-4435-BEB2-07C6F29AEF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14400" y="1371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84240" rIns="90000" bIns="842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OPTICAL CALIBRATION CODE // MANUAL 1.0b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914400" y="1645920"/>
            <a:ext cx="502848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PROJECTOR ALIGNMENT &amp; KEYSTONE PROTOCOL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914400" y="4114800"/>
            <a:ext cx="47541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The ultimate guide to keystoning, dust bunnies, and bulb lifespans that defy the laws of safety.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5"/>
          <p:cNvSpPr/>
          <p:nvPr/>
        </p:nvSpPr>
        <p:spPr>
          <a:xfrm>
            <a:off x="914400" y="5212080"/>
            <a:ext cx="4754160" cy="1005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47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1051560" y="5303520"/>
            <a:ext cx="44798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LASER SAFETY: DO NOT LOOK INTO LENS WITH REMAINING EYE</a:t>
            </a:r>
            <a:br>
              <a:rPr sz="1100"/>
            </a:b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STATUS: KEYSTONED TO HELL</a:t>
            </a:r>
            <a:br>
              <a:rPr sz="1100"/>
            </a:b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CALIBRATION target: 100% Squint-free display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6583680" y="914400"/>
            <a:ext cx="457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PROJECTOR RAY TRACING &amp; INTENSITY MATRIX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Oval 8"/>
          <p:cNvSpPr/>
          <p:nvPr/>
        </p:nvSpPr>
        <p:spPr>
          <a:xfrm>
            <a:off x="6858000" y="2011680"/>
            <a:ext cx="2285280" cy="228528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47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Oval 9"/>
          <p:cNvSpPr/>
          <p:nvPr/>
        </p:nvSpPr>
        <p:spPr>
          <a:xfrm>
            <a:off x="7360920" y="2514600"/>
            <a:ext cx="1279440" cy="127944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Oval 10"/>
          <p:cNvSpPr/>
          <p:nvPr/>
        </p:nvSpPr>
        <p:spPr>
          <a:xfrm>
            <a:off x="7680960" y="2834640"/>
            <a:ext cx="639360" cy="63936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1"/>
          <p:cNvSpPr/>
          <p:nvPr/>
        </p:nvSpPr>
        <p:spPr>
          <a:xfrm rot="20880000">
            <a:off x="8961120" y="2742480"/>
            <a:ext cx="2010960" cy="176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12"/>
          <p:cNvSpPr/>
          <p:nvPr/>
        </p:nvSpPr>
        <p:spPr>
          <a:xfrm rot="720000">
            <a:off x="8960400" y="3474720"/>
            <a:ext cx="2010960" cy="176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13"/>
          <p:cNvSpPr/>
          <p:nvPr/>
        </p:nvSpPr>
        <p:spPr>
          <a:xfrm>
            <a:off x="10972800" y="1463040"/>
            <a:ext cx="273600" cy="338256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10332720" y="4937760"/>
            <a:ext cx="1645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PROJECTED IMAGE</a:t>
            </a:r>
            <a:br>
              <a:rPr sz="1000"/>
            </a:b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(Distorted on arrival)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15"/>
          <p:cNvSpPr/>
          <p:nvPr/>
        </p:nvSpPr>
        <p:spPr>
          <a:xfrm>
            <a:off x="0" y="0"/>
            <a:ext cx="90720" cy="685728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360" tIns="45000" rIns="45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731520" y="36576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6680" rIns="90000" bIns="7668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01 / PHYSICAL SETUP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731520" y="548640"/>
            <a:ext cx="10057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Physical Alignment: Mounts &amp; Trapezoids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4"/>
          <p:cNvSpPr/>
          <p:nvPr/>
        </p:nvSpPr>
        <p:spPr>
          <a:xfrm>
            <a:off x="731520" y="1280160"/>
            <a:ext cx="10728000" cy="176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ounded Rectangle 5"/>
          <p:cNvSpPr/>
          <p:nvPr/>
        </p:nvSpPr>
        <p:spPr>
          <a:xfrm>
            <a:off x="731520" y="1645920"/>
            <a:ext cx="5485680" cy="4571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47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914400" y="1828800"/>
            <a:ext cx="5119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MOUNTING &amp; ANGLE CHECKLIST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914400" y="2286000"/>
            <a:ext cx="511992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The Trapezoid Struggle: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Attempt to correct a 30-degree off-axis ceiling mount using digital keystone faders until the text pixels look like melted ice cream.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Seismic Vibration Check: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Verify if foot traffic on the second floor makes the projector rock like a cradle, causing immediate sea-sickness in the audience.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Lens Shift Jam: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Pretend that manual lens-shift dials aren't frozen in place by years of grease and dust. Avoid snapping them off completely.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Throw Distance Paradox: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Double check why the projector was installed 3 feet too close, forcing you to crop the top-right corner off the slide frame.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8"/>
          <p:cNvSpPr/>
          <p:nvPr/>
        </p:nvSpPr>
        <p:spPr>
          <a:xfrm>
            <a:off x="6583680" y="1645920"/>
            <a:ext cx="4845600" cy="4571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47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6766560" y="1828800"/>
            <a:ext cx="4479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KEYSTONE CALIBRATION COMPARISON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0"/>
          <p:cNvSpPr/>
          <p:nvPr/>
        </p:nvSpPr>
        <p:spPr>
          <a:xfrm>
            <a:off x="6949440" y="2377440"/>
            <a:ext cx="4114080" cy="1462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9050">
            <a:solidFill>
              <a:srgbClr val="47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rapezoid 11"/>
          <p:cNvSpPr/>
          <p:nvPr/>
        </p:nvSpPr>
        <p:spPr>
          <a:xfrm>
            <a:off x="7589520" y="2632320"/>
            <a:ext cx="2833920" cy="1096560"/>
          </a:xfrm>
          <a:prstGeom prst="trapezoid">
            <a:avLst>
              <a:gd name="adj" fmla="val 25000"/>
            </a:avLst>
          </a:prstGeom>
          <a:solidFill>
            <a:srgbClr val="1E293B"/>
          </a:solidFill>
          <a:ln w="19050"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12"/>
          <p:cNvSpPr/>
          <p:nvPr/>
        </p:nvSpPr>
        <p:spPr>
          <a:xfrm>
            <a:off x="6949440" y="237744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6680" rIns="90000" bIns="7668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Trapezoid of Despair (Default Setup)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3"/>
          <p:cNvSpPr/>
          <p:nvPr/>
        </p:nvSpPr>
        <p:spPr>
          <a:xfrm>
            <a:off x="6949440" y="4114800"/>
            <a:ext cx="4114080" cy="1462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9050">
            <a:solidFill>
              <a:srgbClr val="47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14"/>
          <p:cNvSpPr/>
          <p:nvPr/>
        </p:nvSpPr>
        <p:spPr>
          <a:xfrm>
            <a:off x="7589520" y="4369680"/>
            <a:ext cx="2833920" cy="109656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5"/>
          <p:cNvSpPr/>
          <p:nvPr/>
        </p:nvSpPr>
        <p:spPr>
          <a:xfrm>
            <a:off x="6949440" y="411480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6680" rIns="90000" bIns="7668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Calibrated Screen (99% Crop Loss)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731520" y="36576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6680" rIns="90000" bIns="7668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02 / OPTICAL INTENSITY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731520" y="548640"/>
            <a:ext cx="10057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Brightness, Contrast, &amp; Bulb Longevity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4"/>
          <p:cNvSpPr/>
          <p:nvPr/>
        </p:nvSpPr>
        <p:spPr>
          <a:xfrm>
            <a:off x="731520" y="1280160"/>
            <a:ext cx="10728000" cy="176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ounded Rectangle 5"/>
          <p:cNvSpPr/>
          <p:nvPr/>
        </p:nvSpPr>
        <p:spPr>
          <a:xfrm>
            <a:off x="731520" y="1645920"/>
            <a:ext cx="5485680" cy="4571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47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914400" y="1828800"/>
            <a:ext cx="5119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ILLUMINATION CHECKLIST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914400" y="2286000"/>
            <a:ext cx="511992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Bulb Expiry Defiance: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Check bulb clock. If bulb has exceeded its 2,000-hour rated limit by another 4,000 hours, prepare a fire extinguisher.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Eco Mode Compromise: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Toggle Eco Mode. It extends bulb life but reduces brightness to that of a single birthday candle in a foggy forest.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Sunlight Incursion: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Blame the sun for breaching the 1-inch gap in the automated drapes, turning your high-contrast presentation into grey mud.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Dynamic Contrast Lie: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Disable dynamic contrast settings that adjust brightness with every transition, triggering epilepsy alerts.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8"/>
          <p:cNvSpPr/>
          <p:nvPr/>
        </p:nvSpPr>
        <p:spPr>
          <a:xfrm>
            <a:off x="6583680" y="1645920"/>
            <a:ext cx="4845600" cy="4571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9"/>
          <p:cNvSpPr/>
          <p:nvPr/>
        </p:nvSpPr>
        <p:spPr>
          <a:xfrm>
            <a:off x="6766560" y="1828800"/>
            <a:ext cx="4479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🚨 OPTICAL STRESS WARNING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6766560" y="2286000"/>
            <a:ext cx="4479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LAMP EXPIRED LIFE CHART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11"/>
          <p:cNvSpPr/>
          <p:nvPr/>
        </p:nvSpPr>
        <p:spPr>
          <a:xfrm>
            <a:off x="6949440" y="3383280"/>
            <a:ext cx="4114080" cy="365040"/>
          </a:xfrm>
          <a:prstGeom prst="rect">
            <a:avLst/>
          </a:prstGeom>
          <a:solidFill>
            <a:srgbClr val="0F172A"/>
          </a:solidFill>
          <a:ln>
            <a:solidFill>
              <a:srgbClr val="47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12"/>
          <p:cNvSpPr/>
          <p:nvPr/>
        </p:nvSpPr>
        <p:spPr>
          <a:xfrm>
            <a:off x="6949440" y="3383280"/>
            <a:ext cx="3565800" cy="365040"/>
          </a:xfrm>
          <a:prstGeom prst="rect">
            <a:avLst/>
          </a:prstGeom>
          <a:solidFill>
            <a:srgbClr val="991B1B"/>
          </a:solidFill>
          <a:ln w="12700">
            <a:solidFill>
              <a:srgbClr val="F8FAF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13"/>
          <p:cNvSpPr/>
          <p:nvPr/>
        </p:nvSpPr>
        <p:spPr>
          <a:xfrm>
            <a:off x="10515600" y="3383280"/>
            <a:ext cx="730800" cy="365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8FAF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4"/>
          <p:cNvSpPr/>
          <p:nvPr/>
        </p:nvSpPr>
        <p:spPr>
          <a:xfrm>
            <a:off x="6949440" y="384048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6680" rIns="90000" bIns="7668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RATED BULB LIMIT (2,000 hrs)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5"/>
          <p:cNvSpPr/>
          <p:nvPr/>
        </p:nvSpPr>
        <p:spPr>
          <a:xfrm>
            <a:off x="9601560" y="384084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6680" rIns="90000" bIns="7668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ACTUAL: 6,432 hrs (Danger)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6"/>
          <p:cNvSpPr/>
          <p:nvPr/>
        </p:nvSpPr>
        <p:spPr>
          <a:xfrm>
            <a:off x="6766560" y="4389120"/>
            <a:ext cx="447984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OPERATIONAL LOGIC:</a:t>
            </a:r>
            <a:br>
              <a:rPr sz="1200"/>
            </a:b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If the image looks like it's being projected through a tea bag, the lamp filament has entered the final phase of decay. Expect a quiet pop and a smell of burnt plastic shortly.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731520" y="36576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6680" rIns="90000" bIns="7668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03 / CONVERGENCE &amp; FOCUS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731520" y="548640"/>
            <a:ext cx="10057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Focus Calibrations &amp; Grid Convergence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4"/>
          <p:cNvSpPr/>
          <p:nvPr/>
        </p:nvSpPr>
        <p:spPr>
          <a:xfrm>
            <a:off x="731520" y="1280160"/>
            <a:ext cx="10728000" cy="176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ounded Rectangle 5"/>
          <p:cNvSpPr/>
          <p:nvPr/>
        </p:nvSpPr>
        <p:spPr>
          <a:xfrm>
            <a:off x="731520" y="1645920"/>
            <a:ext cx="5485680" cy="4571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47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914400" y="1828800"/>
            <a:ext cx="5119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GRID ALIGNMENT TASKS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914400" y="2286000"/>
            <a:ext cx="511992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The Squint Grid: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Project a crosshair alignment pattern until everyone in the boardroom has developed a mild migraine. Make no corrections.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Dust Spec Identification: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Determine if the fuzzy magenta blob in the center is a dead pixel, a lens smudge, or a spider trapped inside the optical engine.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Border Spillover: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Calibrate zoom so that exactly 3 inches of the slide spill over the black velvet screen border onto the white wall behind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Manual Focus Slip: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Turn focus ring. When it feels like it's engaging, release it and watch it slide immediately back to 'blurry default.'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8"/>
          <p:cNvSpPr/>
          <p:nvPr/>
        </p:nvSpPr>
        <p:spPr>
          <a:xfrm>
            <a:off x="6583680" y="1645920"/>
            <a:ext cx="4845600" cy="4571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47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6766560" y="1828800"/>
            <a:ext cx="4479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CALIBRATION CROSSHAIR GRID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10"/>
          <p:cNvSpPr/>
          <p:nvPr/>
        </p:nvSpPr>
        <p:spPr>
          <a:xfrm>
            <a:off x="7498080" y="2468880"/>
            <a:ext cx="3016800" cy="2193840"/>
          </a:xfrm>
          <a:prstGeom prst="rect">
            <a:avLst/>
          </a:prstGeom>
          <a:noFill/>
          <a:ln w="19050"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11"/>
          <p:cNvSpPr/>
          <p:nvPr/>
        </p:nvSpPr>
        <p:spPr>
          <a:xfrm>
            <a:off x="7498080" y="3547800"/>
            <a:ext cx="3016800" cy="176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12"/>
          <p:cNvSpPr/>
          <p:nvPr/>
        </p:nvSpPr>
        <p:spPr>
          <a:xfrm>
            <a:off x="8997840" y="2468880"/>
            <a:ext cx="17640" cy="21938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" tIns="45000" rIns="9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Oval 13"/>
          <p:cNvSpPr/>
          <p:nvPr/>
        </p:nvSpPr>
        <p:spPr>
          <a:xfrm>
            <a:off x="8540640" y="3090600"/>
            <a:ext cx="913680" cy="913680"/>
          </a:xfrm>
          <a:prstGeom prst="ellipse">
            <a:avLst/>
          </a:prstGeom>
          <a:noFill/>
          <a:ln w="19050"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Oval 14"/>
          <p:cNvSpPr/>
          <p:nvPr/>
        </p:nvSpPr>
        <p:spPr>
          <a:xfrm>
            <a:off x="8229600" y="2834640"/>
            <a:ext cx="227880" cy="18216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15"/>
          <p:cNvSpPr/>
          <p:nvPr/>
        </p:nvSpPr>
        <p:spPr>
          <a:xfrm>
            <a:off x="6766560" y="4937760"/>
            <a:ext cx="4479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Calibration Note: If the dust blob (orange) appears, do not attempt to clean. Inform users it represents 'warm corporate pixel-noise.'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731520" y="36576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6680" rIns="90000" bIns="7668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04 / CHROMATIC MATCHING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731520" y="548640"/>
            <a:ext cx="10057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Color Calibration &amp; Aged Polymer Compensation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4"/>
          <p:cNvSpPr/>
          <p:nvPr/>
        </p:nvSpPr>
        <p:spPr>
          <a:xfrm>
            <a:off x="731520" y="1280160"/>
            <a:ext cx="10728000" cy="176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ounded Rectangle 5"/>
          <p:cNvSpPr/>
          <p:nvPr/>
        </p:nvSpPr>
        <p:spPr>
          <a:xfrm>
            <a:off x="731520" y="1645920"/>
            <a:ext cx="5485680" cy="4571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47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6"/>
          <p:cNvSpPr/>
          <p:nvPr/>
        </p:nvSpPr>
        <p:spPr>
          <a:xfrm>
            <a:off x="914400" y="1828800"/>
            <a:ext cx="5119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COLOR CALIBRATION STEPS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914400" y="2286000"/>
            <a:ext cx="511992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Chromatic Convergence: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Ensure red, green, and blue panels overlap, rather than displaying text with a default 3D-glasses silhouette.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Aged Lens compensation: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Calibrate white balance to compensate for the thick yellowing plastic casing that has baked since 2004.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Reactor Warm-up Cycle: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Allow projector at least 20 minutes to reach its peak operating temperature of 'nuclear core containment failure.'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Gray Scale Uniformity: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Verify grey tones look grey rather than the corporate standard 'swimming-pool cyan' or 'antique tea-stain beige.'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8"/>
          <p:cNvSpPr/>
          <p:nvPr/>
        </p:nvSpPr>
        <p:spPr>
          <a:xfrm>
            <a:off x="6583680" y="1645920"/>
            <a:ext cx="4845600" cy="4571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47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9"/>
          <p:cNvSpPr/>
          <p:nvPr/>
        </p:nvSpPr>
        <p:spPr>
          <a:xfrm>
            <a:off x="6766560" y="1828800"/>
            <a:ext cx="4479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CHROMATIC CHANNELS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10"/>
          <p:cNvSpPr/>
          <p:nvPr/>
        </p:nvSpPr>
        <p:spPr>
          <a:xfrm>
            <a:off x="7132320" y="2468880"/>
            <a:ext cx="913680" cy="913680"/>
          </a:xfrm>
          <a:prstGeom prst="rect">
            <a:avLst/>
          </a:prstGeom>
          <a:solidFill>
            <a:srgbClr val="991B1B"/>
          </a:solidFill>
          <a:ln w="12700">
            <a:solidFill>
              <a:srgbClr val="F8FAF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11"/>
          <p:cNvSpPr/>
          <p:nvPr/>
        </p:nvSpPr>
        <p:spPr>
          <a:xfrm>
            <a:off x="6949440" y="347472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9120" rIns="90000" bIns="691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RED CH.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12"/>
          <p:cNvSpPr/>
          <p:nvPr/>
        </p:nvSpPr>
        <p:spPr>
          <a:xfrm>
            <a:off x="8229600" y="2468880"/>
            <a:ext cx="913680" cy="913680"/>
          </a:xfrm>
          <a:prstGeom prst="rect">
            <a:avLst/>
          </a:prstGeom>
          <a:solidFill>
            <a:srgbClr val="22C55E"/>
          </a:solidFill>
          <a:ln w="12700">
            <a:solidFill>
              <a:srgbClr val="F8FAF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3"/>
          <p:cNvSpPr/>
          <p:nvPr/>
        </p:nvSpPr>
        <p:spPr>
          <a:xfrm>
            <a:off x="8046720" y="347472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9120" rIns="90000" bIns="691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GREEN CH.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14"/>
          <p:cNvSpPr/>
          <p:nvPr/>
        </p:nvSpPr>
        <p:spPr>
          <a:xfrm>
            <a:off x="9326880" y="2468880"/>
            <a:ext cx="913680" cy="913680"/>
          </a:xfrm>
          <a:prstGeom prst="rect">
            <a:avLst/>
          </a:prstGeom>
          <a:solidFill>
            <a:srgbClr val="3B82F6"/>
          </a:solidFill>
          <a:ln w="12700">
            <a:solidFill>
              <a:srgbClr val="F8FAF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15"/>
          <p:cNvSpPr/>
          <p:nvPr/>
        </p:nvSpPr>
        <p:spPr>
          <a:xfrm>
            <a:off x="9144000" y="347472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9120" rIns="90000" bIns="691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BLUE CH.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16"/>
          <p:cNvSpPr/>
          <p:nvPr/>
        </p:nvSpPr>
        <p:spPr>
          <a:xfrm>
            <a:off x="7132320" y="4114800"/>
            <a:ext cx="3108240" cy="822240"/>
          </a:xfrm>
          <a:prstGeom prst="rect">
            <a:avLst/>
          </a:prstGeom>
          <a:solidFill>
            <a:srgbClr val="A16207"/>
          </a:solidFill>
          <a:ln w="12700">
            <a:solidFill>
              <a:srgbClr val="F8FAF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7"/>
          <p:cNvSpPr/>
          <p:nvPr/>
        </p:nvSpPr>
        <p:spPr>
          <a:xfrm>
            <a:off x="7132320" y="5029200"/>
            <a:ext cx="3108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Target Output color: Aged Lens Parchment (RGB: 161, 98, 7)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991B1B"/>
          </a:solidFill>
          <a:ln>
            <a:solidFill>
              <a:srgbClr val="991B1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731520" y="36576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6680" rIns="90000" bIns="7668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OPTICAL SHUTDOWN // SYSTEM FAILURE PROTOCOL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731520" y="548640"/>
            <a:ext cx="10057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Emergency Protocol: Lens Shutdown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4"/>
          <p:cNvSpPr/>
          <p:nvPr/>
        </p:nvSpPr>
        <p:spPr>
          <a:xfrm>
            <a:off x="731520" y="1280160"/>
            <a:ext cx="10728000" cy="1764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ounded Rectangle 5"/>
          <p:cNvSpPr/>
          <p:nvPr/>
        </p:nvSpPr>
        <p:spPr>
          <a:xfrm>
            <a:off x="731520" y="1645920"/>
            <a:ext cx="5119920" cy="201096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 w="19050">
            <a:solidFill>
              <a:srgbClr val="EF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914400" y="173736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1. THE LENS CAP PARADOX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7"/>
          <p:cNvSpPr/>
          <p:nvPr/>
        </p:nvSpPr>
        <p:spPr>
          <a:xfrm>
            <a:off x="914400" y="2011680"/>
            <a:ext cx="47541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Verify if the pitch-black display is due to custom video configuration or if the black plastic lens cap is still firmly attached. Over 40% of critical tickets end here.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8"/>
          <p:cNvSpPr/>
          <p:nvPr/>
        </p:nvSpPr>
        <p:spPr>
          <a:xfrm>
            <a:off x="6309360" y="1645920"/>
            <a:ext cx="5119920" cy="201096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 w="19050">
            <a:solidFill>
              <a:srgbClr val="EF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9"/>
          <p:cNvSpPr/>
          <p:nvPr/>
        </p:nvSpPr>
        <p:spPr>
          <a:xfrm>
            <a:off x="6492240" y="173736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2. THE MESOZOIC FILTER CLEANSE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0"/>
          <p:cNvSpPr/>
          <p:nvPr/>
        </p:nvSpPr>
        <p:spPr>
          <a:xfrm>
            <a:off x="6492240" y="2011680"/>
            <a:ext cx="47541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Vacuum the air dust filter. It contains fabric lint from the Jurassic Era and carbon remnants of past failed corporate quarterly projections. Allow air to flow, preventing fires.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11"/>
          <p:cNvSpPr/>
          <p:nvPr/>
        </p:nvSpPr>
        <p:spPr>
          <a:xfrm>
            <a:off x="731520" y="3931920"/>
            <a:ext cx="5119920" cy="201096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 w="19050">
            <a:solidFill>
              <a:srgbClr val="EF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12"/>
          <p:cNvSpPr/>
          <p:nvPr/>
        </p:nvSpPr>
        <p:spPr>
          <a:xfrm>
            <a:off x="914400" y="402336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3. THERMAL DEFLECTION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3"/>
          <p:cNvSpPr/>
          <p:nvPr/>
        </p:nvSpPr>
        <p:spPr>
          <a:xfrm>
            <a:off x="914400" y="4297680"/>
            <a:ext cx="47541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Say: 'The bulb filament is currently in thermal equilibrium with the localized carbon ceiling matrix. It requires 10 minutes of complete cooldown to prevent thermal degradation.'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14"/>
          <p:cNvSpPr/>
          <p:nvPr/>
        </p:nvSpPr>
        <p:spPr>
          <a:xfrm>
            <a:off x="6309360" y="3931920"/>
            <a:ext cx="5119920" cy="201096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 w="19050">
            <a:solidFill>
              <a:srgbClr val="EF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15"/>
          <p:cNvSpPr/>
          <p:nvPr/>
        </p:nvSpPr>
        <p:spPr>
          <a:xfrm>
            <a:off x="6492240" y="402336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4. ANALOG PAPER SIMULATION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6"/>
          <p:cNvSpPr/>
          <p:nvPr/>
        </p:nvSpPr>
        <p:spPr>
          <a:xfrm>
            <a:off x="6492240" y="4297680"/>
            <a:ext cx="47541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Hand drawing the slides onto A4 paper and passing them around the room is statistically 90% faster than waiting for a projection handshake. Call it a 'hands-on tangible workshop.'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731520" y="36576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6680" rIns="90000" bIns="7668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05 / OPTICAL SIGN-OFF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3"/>
          <p:cNvSpPr/>
          <p:nvPr/>
        </p:nvSpPr>
        <p:spPr>
          <a:xfrm>
            <a:off x="731520" y="548640"/>
            <a:ext cx="10057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Optical Readiness Certification &amp; Sign-off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4"/>
          <p:cNvSpPr/>
          <p:nvPr/>
        </p:nvSpPr>
        <p:spPr>
          <a:xfrm>
            <a:off x="731520" y="1280160"/>
            <a:ext cx="10728000" cy="176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ounded Rectangle 5"/>
          <p:cNvSpPr/>
          <p:nvPr/>
        </p:nvSpPr>
        <p:spPr>
          <a:xfrm>
            <a:off x="731520" y="1645920"/>
            <a:ext cx="5485680" cy="4571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47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6"/>
          <p:cNvSpPr/>
          <p:nvPr/>
        </p:nvSpPr>
        <p:spPr>
          <a:xfrm>
            <a:off x="914400" y="1828800"/>
            <a:ext cx="5119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FINAL OPTICAL CHECKLIST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7"/>
          <p:cNvSpPr/>
          <p:nvPr/>
        </p:nvSpPr>
        <p:spPr>
          <a:xfrm>
            <a:off x="914400" y="2286000"/>
            <a:ext cx="511992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Image is aligned (provided everyone in the audience tilts their neck 5 degrees to the left).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Projector fan decibels are below the threshold of an industrial aircraft turbine.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The lens cover has been verified as 'removed' rather than 'missing' (two distinct states).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Digital keystone correction is set to 'Maximum Despair' setting.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Projector chassis has been patted exactly once while whispering 'good boy' to prevent failure.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8"/>
          <p:cNvSpPr/>
          <p:nvPr/>
        </p:nvSpPr>
        <p:spPr>
          <a:xfrm>
            <a:off x="6583680" y="1645920"/>
            <a:ext cx="4845600" cy="4571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47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9"/>
          <p:cNvSpPr/>
          <p:nvPr/>
        </p:nvSpPr>
        <p:spPr>
          <a:xfrm>
            <a:off x="6766560" y="1828800"/>
            <a:ext cx="4479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OFFICIAL VERIFICATION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0"/>
          <p:cNvSpPr/>
          <p:nvPr/>
        </p:nvSpPr>
        <p:spPr>
          <a:xfrm>
            <a:off x="6766560" y="2286000"/>
            <a:ext cx="447984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AV Technician Signature (witness to optical decay):</a:t>
            </a:r>
            <a:br>
              <a:rPr sz="1200"/>
            </a:b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X __________________________________________________</a:t>
            </a:r>
            <a:br>
              <a:rPr sz="1200"/>
            </a:br>
            <a:br>
              <a:rPr sz="1200"/>
            </a:br>
            <a:br>
              <a:rPr sz="1200"/>
            </a:b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Presenter Signature (who will look directly into the beam):</a:t>
            </a:r>
            <a:br>
              <a:rPr sz="1200"/>
            </a:b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X __________________________________________________</a:t>
            </a:r>
            <a:br>
              <a:rPr sz="1200"/>
            </a:br>
            <a:br>
              <a:rPr sz="1200"/>
            </a:br>
            <a:br>
              <a:rPr sz="1200"/>
            </a:b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Keystone Correction Approved:</a:t>
            </a:r>
            <a:br>
              <a:rPr sz="1200"/>
            </a:b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 ] Yes    [ ] Slightly Bent    [X] Trapezoidal Desolation</a:t>
            </a:r>
            <a:br>
              <a:rPr sz="1200"/>
            </a:br>
            <a:br>
              <a:rPr sz="1200"/>
            </a:b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Bulb Smell Status:</a:t>
            </a:r>
            <a:br>
              <a:rPr sz="1200"/>
            </a:b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[X] Standard Burnt Plastic    [ ] Neutral Air    [ ] Active Fire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LibreOffice/26.2.3.2$Linux_X86_64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2026-06-07T15:14:43Z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