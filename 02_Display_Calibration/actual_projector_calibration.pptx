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1" i="0">
                <a:solidFill>
                  <a:srgbClr val="06B6D4"/>
                </a:solidFill>
                <a:latin typeface="Calibri"/>
              </a:defRPr>
            </a:pPr>
            <a:r>
              <a:t>OPTICAL STANDARDS &amp; MEASUREMENTS // STD-PRJ-01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0292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4200" b="1" i="0">
                <a:solidFill>
                  <a:srgbClr val="F8FAFC"/>
                </a:solidFill>
                <a:latin typeface="Calibri"/>
              </a:defRPr>
            </a:pPr>
            <a:r>
              <a:t>PROFESSIONAL PROJECTOR CALIBRATION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475488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Standard operating procedures for optical convergence, geometry alignment, chromatic balancing, and thermal maintenance.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212080"/>
            <a:ext cx="47548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303520"/>
            <a:ext cx="4480560" cy="822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F8FAFC"/>
                </a:solidFill>
                <a:latin typeface="Calibri"/>
              </a:defRPr>
            </a:pPr>
            <a:r>
              <a:t>COMPLIANCE: SMPTE / ANSI standards</a:t>
            </a:r>
            <a:br/>
            <a:r>
              <a:t>CALIBRATION SUITE: Geometry, Luminance, Colorimetry, Airflow</a:t>
            </a:r>
            <a:br/>
            <a:r>
              <a:t>TARGET PRECISION: ±1% Color Accuracy, Zero Pixel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914400"/>
            <a:ext cx="4572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200" b="1" i="0">
                <a:solidFill>
                  <a:srgbClr val="06B6D4"/>
                </a:solidFill>
                <a:latin typeface="Calibri"/>
              </a:defRPr>
            </a:pPr>
            <a:r>
              <a:t>OPTICAL PATHWAY &amp; ANGLE OF PROJECTION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2011680"/>
            <a:ext cx="2286000" cy="22860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60920" y="2514600"/>
            <a:ext cx="1280160" cy="128016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0" y="2834640"/>
            <a:ext cx="640080" cy="6400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880000">
            <a:off x="8961120" y="2743200"/>
            <a:ext cx="2011680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720000">
            <a:off x="8961120" y="3474720"/>
            <a:ext cx="2011680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463040"/>
            <a:ext cx="274320" cy="338328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4937760"/>
            <a:ext cx="164592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PROJECTION SURFACE</a:t>
            </a:r>
            <a:br/>
            <a:r>
              <a:t>(Flat / Uniform Gain)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000" b="1" i="0">
                <a:solidFill>
                  <a:srgbClr val="06B6D4"/>
                </a:solidFill>
                <a:latin typeface="Calibri"/>
              </a:defRPr>
            </a:pPr>
            <a:r>
              <a:t>01 / GEOMETRIC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 i="0">
                <a:solidFill>
                  <a:srgbClr val="F8FAFC"/>
                </a:solidFill>
                <a:latin typeface="Calibri"/>
              </a:defRPr>
            </a:pPr>
            <a:r>
              <a:t>Geometric Alignment: Aspect Ratios &amp; Keystoning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600" b="1" i="0">
                <a:solidFill>
                  <a:srgbClr val="06B6D4"/>
                </a:solidFill>
                <a:latin typeface="Calibri"/>
              </a:defRPr>
            </a:pPr>
            <a:r>
              <a:t>GEOMETRIC ALIGNMENT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Aspect Ratio Verification:</a:t>
            </a:r>
            <a:r>
              <a:rPr b="0" sz="1200">
                <a:solidFill>
                  <a:srgbClr val="94A3B8"/>
                </a:solidFill>
                <a:latin typeface="Calibri"/>
              </a:rPr>
              <a:t> Ensure the source signal aspect ratio matches the projector's native panel layout (e.g., 16:9 widescreen, 16:10 WUXGA, or legacy 4:3) to prevent scaling stretch.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Physical Leveling &amp; Tilt:</a:t>
            </a:r>
            <a:r>
              <a:rPr b="0" sz="1200">
                <a:solidFill>
                  <a:srgbClr val="94A3B8"/>
                </a:solidFill>
                <a:latin typeface="Calibri"/>
              </a:rPr>
              <a:t> Adjust the physical mount's pitch, roll, and yaw faders to align the projection axis perpendicular to the screen surface.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Optical Lens Shift:</a:t>
            </a:r>
            <a:r>
              <a:rPr b="0" sz="1200">
                <a:solidFill>
                  <a:srgbClr val="94A3B8"/>
                </a:solidFill>
                <a:latin typeface="Calibri"/>
              </a:rPr>
              <a:t> Centering the image vertically and horizontally using mechanical or motorized lens shift controls before applying digital correction.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Keystone Correction:</a:t>
            </a:r>
            <a:r>
              <a:rPr b="0" sz="1200">
                <a:solidFill>
                  <a:srgbClr val="94A3B8"/>
                </a:solidFill>
                <a:latin typeface="Calibri"/>
              </a:rPr>
              <a:t> Keep digital keystone processing to absolute minimum (ideally zero) to eliminate pixel interpolation, image compression, and scaling artifacts.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alibri"/>
              </a:defRPr>
            </a:pPr>
            <a:r>
              <a:t>KEYSTONE DISTORTION GEOMETRY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377440"/>
            <a:ext cx="411480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pezoid 11"/>
          <p:cNvSpPr/>
          <p:nvPr/>
        </p:nvSpPr>
        <p:spPr>
          <a:xfrm>
            <a:off x="7589520" y="2560320"/>
            <a:ext cx="2834640" cy="1097280"/>
          </a:xfrm>
          <a:prstGeom prst="trapezoid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377440"/>
            <a:ext cx="41148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000" b="0" i="0">
                <a:solidFill>
                  <a:srgbClr val="F97316"/>
                </a:solidFill>
                <a:latin typeface="Calibri"/>
              </a:defRPr>
            </a:pPr>
            <a:r>
              <a:t>Vertical Keystone Distortion (Uncalibrated)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114800"/>
            <a:ext cx="411480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4297680"/>
            <a:ext cx="283464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114800"/>
            <a:ext cx="41148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000" b="0" i="0">
                <a:solidFill>
                  <a:srgbClr val="06B6D4"/>
                </a:solidFill>
                <a:latin typeface="Calibri"/>
              </a:defRPr>
            </a:pPr>
            <a:r>
              <a:t>Orthogonal Calibration (Uniform Grid Alignment)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000" b="1" i="0">
                <a:solidFill>
                  <a:srgbClr val="06B6D4"/>
                </a:solidFill>
                <a:latin typeface="Calibri"/>
              </a:defRPr>
            </a:pPr>
            <a:r>
              <a:t>02 / OPTICAL LUMINANCE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 i="0">
                <a:solidFill>
                  <a:srgbClr val="F8FAFC"/>
                </a:solidFill>
                <a:latin typeface="Calibri"/>
              </a:defRPr>
            </a:pPr>
            <a:r>
              <a:t>Luminance: Brightness &amp; Contrast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600" b="1" i="0">
                <a:solidFill>
                  <a:srgbClr val="06B6D4"/>
                </a:solidFill>
                <a:latin typeface="Calibri"/>
              </a:defRPr>
            </a:pPr>
            <a:r>
              <a:t>LUMINANCE CALIBRATION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Black Level (Brightness):</a:t>
            </a:r>
            <a:r>
              <a:rPr b="0" sz="1200">
                <a:solidFill>
                  <a:srgbClr val="94A3B8"/>
                </a:solidFill>
                <a:latin typeface="Calibri"/>
              </a:rPr>
              <a:t> Use a standard PLUGE (Picture Line-Up Generation Equipment) test pattern to adjust brightness until dark gray bars are just visible and black bars blend.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White Level (Contrast):</a:t>
            </a:r>
            <a:r>
              <a:rPr b="0" sz="1200">
                <a:solidFill>
                  <a:srgbClr val="94A3B8"/>
                </a:solidFill>
                <a:latin typeface="Calibri"/>
              </a:rPr>
              <a:t> Adjust contrast levels to ensure white details do not clip (crush whites) and details in highlight zones remain distinct.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Lux &amp; Ambient Light Check:</a:t>
            </a:r>
            <a:r>
              <a:rPr b="0" sz="1200">
                <a:solidFill>
                  <a:srgbClr val="94A3B8"/>
                </a:solidFill>
                <a:latin typeface="Calibri"/>
              </a:rPr>
              <a:t> Measure room lux levels with curtains closed. Configure lamp output mode (Normal, High, or Eco) to optimize the dynamic contrast ratio.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Lamp Degradation Logging:</a:t>
            </a:r>
            <a:r>
              <a:rPr b="0" sz="1200">
                <a:solidFill>
                  <a:srgbClr val="94A3B8"/>
                </a:solidFill>
                <a:latin typeface="Calibri"/>
              </a:rPr>
              <a:t> Check current lamp hours against manufacturer expectancy to track gradual decline in lumen output and schedule replacement.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alibri"/>
              </a:defRPr>
            </a:pPr>
            <a:r>
              <a:t>GRAYSCALE STEP CALIBRATION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560320"/>
            <a:ext cx="82296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402336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Calibri"/>
              </a:defRPr>
            </a:pPr>
            <a:r>
              <a:t>0% (Black)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560320"/>
            <a:ext cx="822960" cy="1371600"/>
          </a:xfrm>
          <a:prstGeom prst="rect">
            <a:avLst/>
          </a:prstGeom>
          <a:solidFill>
            <a:srgbClr val="404040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02336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560320"/>
            <a:ext cx="822960" cy="1371600"/>
          </a:xfrm>
          <a:prstGeom prst="rect">
            <a:avLst/>
          </a:prstGeom>
          <a:solidFill>
            <a:srgbClr val="808080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02336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2560320"/>
            <a:ext cx="822960" cy="1371600"/>
          </a:xfrm>
          <a:prstGeom prst="rect">
            <a:avLst/>
          </a:prstGeom>
          <a:solidFill>
            <a:srgbClr val="C0C0C0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402336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2560320"/>
            <a:ext cx="822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402336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Calibri"/>
              </a:defRPr>
            </a:pPr>
            <a:r>
              <a:t>100% (White)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572000"/>
            <a:ext cx="411480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663440"/>
            <a:ext cx="3840480" cy="1188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CALIBRATION METHODOLOGY:</a:t>
            </a:r>
            <a:br/>
            <a:r>
              <a:t>1. Adjust brightness until 0% blends with background.</a:t>
            </a:r>
            <a:br/>
            <a:r>
              <a:t>2. Adjust contrast until 100% is distinct from 75%.</a:t>
            </a:r>
            <a:br/>
            <a:r>
              <a:t>3. Verify color neutrality across mid-tones (25%-75%).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000" b="1" i="0">
                <a:solidFill>
                  <a:srgbClr val="06B6D4"/>
                </a:solidFill>
                <a:latin typeface="Calibri"/>
              </a:defRPr>
            </a:pPr>
            <a:r>
              <a:t>03 / OPTICAL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 i="0">
                <a:solidFill>
                  <a:srgbClr val="F8FAFC"/>
                </a:solidFill>
                <a:latin typeface="Calibri"/>
              </a:defRPr>
            </a:pPr>
            <a:r>
              <a:t>Clarity: Focus &amp; Optical Panel Convergence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600" b="1" i="0">
                <a:solidFill>
                  <a:srgbClr val="06B6D4"/>
                </a:solidFill>
                <a:latin typeface="Calibri"/>
              </a:defRPr>
            </a:pPr>
            <a:r>
              <a:t>FOCUS &amp; CONVERGENCE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Center &amp; Corner Focus:</a:t>
            </a:r>
            <a:r>
              <a:rPr b="0" sz="1200">
                <a:solidFill>
                  <a:srgbClr val="94A3B8"/>
                </a:solidFill>
                <a:latin typeface="Calibri"/>
              </a:rPr>
              <a:t> Project a high-resolution grid pattern. Adjust center focus to sharp limits, then evaluate corner focus to ensure minimal lens aberration.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Panel Convergence Sweep:</a:t>
            </a:r>
            <a:r>
              <a:rPr b="0" sz="1200">
                <a:solidFill>
                  <a:srgbClr val="94A3B8"/>
                </a:solidFill>
                <a:latin typeface="Calibri"/>
              </a:rPr>
              <a:t> Align LCD, LCoS, or DLP red, green, and blue panels to eliminate color fringing (chromatic aberration) on high-contrast text borders.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Sharpness Verification:</a:t>
            </a:r>
            <a:r>
              <a:rPr b="0" sz="1200">
                <a:solidFill>
                  <a:srgbClr val="94A3B8"/>
                </a:solidFill>
                <a:latin typeface="Calibri"/>
              </a:rPr>
              <a:t> Adjust the digital sharpness filter to a neutral value (usually 0) to avoid artificial halos or ringing around characters.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Analog Clock &amp; Phase:</a:t>
            </a:r>
            <a:r>
              <a:rPr b="0" sz="1200">
                <a:solidFill>
                  <a:srgbClr val="94A3B8"/>
                </a:solidFill>
                <a:latin typeface="Calibri"/>
              </a:rPr>
              <a:t> For VGA/Analog inputs, calibrate pixel clock phase to eliminate horizontal crawling noise, jitter, or pixel instability.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alibri"/>
              </a:defRPr>
            </a:pPr>
            <a:r>
              <a:t>OPTICAL ALIGNMENT TARGET GRID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468880"/>
            <a:ext cx="3017520" cy="2194560"/>
          </a:xfrm>
          <a:prstGeom prst="rect">
            <a:avLst/>
          </a:prstGeom>
          <a:noFill/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3547872"/>
            <a:ext cx="3017520" cy="1828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97696" y="2468880"/>
            <a:ext cx="18288" cy="219456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0496" y="3090672"/>
            <a:ext cx="914400" cy="914400"/>
          </a:xfrm>
          <a:prstGeom prst="ellipse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69096" y="3319272"/>
            <a:ext cx="457200" cy="457200"/>
          </a:xfrm>
          <a:prstGeom prst="ellipse">
            <a:avLst/>
          </a:prstGeom>
          <a:noFill/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937760"/>
            <a:ext cx="448056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Calibration Standard: The target pattern must display clean, single-pixel white lines. Red, Green, or Blue borders must align within ±0.5 pixels.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000" b="1" i="0">
                <a:solidFill>
                  <a:srgbClr val="06B6D4"/>
                </a:solidFill>
                <a:latin typeface="Calibri"/>
              </a:defRPr>
            </a:pPr>
            <a:r>
              <a:t>04 / COLORIMETRY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 i="0">
                <a:solidFill>
                  <a:srgbClr val="F8FAFC"/>
                </a:solidFill>
                <a:latin typeface="Calibri"/>
              </a:defRPr>
            </a:pPr>
            <a:r>
              <a:t>Colorimetry: Color Temperature &amp; Gamut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600" b="1" i="0">
                <a:solidFill>
                  <a:srgbClr val="06B6D4"/>
                </a:solidFill>
                <a:latin typeface="Calibri"/>
              </a:defRPr>
            </a:pPr>
            <a:r>
              <a:t>COLOR CALIBRATION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Color Temperature Selection:</a:t>
            </a:r>
            <a:r>
              <a:rPr b="0" sz="1200">
                <a:solidFill>
                  <a:srgbClr val="94A3B8"/>
                </a:solidFill>
                <a:latin typeface="Calibri"/>
              </a:rPr>
              <a:t> Set the baseline color temperature mode to 6500K (D65) for natural, standard-compliant white point representation.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Color Space Handshake:</a:t>
            </a:r>
            <a:r>
              <a:rPr b="0" sz="1200">
                <a:solidFill>
                  <a:srgbClr val="94A3B8"/>
                </a:solidFill>
                <a:latin typeface="Calibri"/>
              </a:rPr>
              <a:t> Confirm the projector's input color gamut setting matches the source video format (e.g., sRGB/Rec. 709 for SDR, Rec. 2020 for HDR).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RGB Gain &amp; Bias Adjustment:</a:t>
            </a:r>
            <a:r>
              <a:rPr b="0" sz="1200">
                <a:solidFill>
                  <a:srgbClr val="94A3B8"/>
                </a:solidFill>
                <a:latin typeface="Calibri"/>
              </a:rPr>
              <a:t> Configure RGB Gain faders (highlights) and RGB Bias faders (shadows) to ensure neutral gray throughout the luminance curve.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Saturation &amp; Tint Tuning:</a:t>
            </a:r>
            <a:r>
              <a:rPr b="0" sz="1200">
                <a:solidFill>
                  <a:srgbClr val="94A3B8"/>
                </a:solidFill>
                <a:latin typeface="Calibri"/>
              </a:rPr>
              <a:t> Fine-tune master color saturation and tint using color bar charts and colorimeters to prevent hue displacement.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alibri"/>
              </a:defRPr>
            </a:pPr>
            <a:r>
              <a:t>REFERENCE CHROMATICITY SWATCHES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377440"/>
            <a:ext cx="100584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24612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377440"/>
            <a:ext cx="100584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24612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2377440"/>
            <a:ext cx="100584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24612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Calibri"/>
              </a:defRPr>
            </a:pPr>
            <a:r>
              <a:t>BLUE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023360"/>
            <a:ext cx="1005840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89204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Calibri"/>
              </a:defRPr>
            </a:pPr>
            <a:r>
              <a:t>CYAN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023360"/>
            <a:ext cx="1005840" cy="822960"/>
          </a:xfrm>
          <a:prstGeom prst="rect">
            <a:avLst/>
          </a:prstGeom>
          <a:solidFill>
            <a:srgbClr val="EAB308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89204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Calibri"/>
              </a:defRPr>
            </a:pPr>
            <a:r>
              <a:t>YELLOW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4023360"/>
            <a:ext cx="1005840" cy="822960"/>
          </a:xfrm>
          <a:prstGeom prst="rect">
            <a:avLst/>
          </a:prstGeom>
          <a:solidFill>
            <a:srgbClr val="D946EF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4892040"/>
            <a:ext cx="11887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Calibri"/>
              </a:defRPr>
            </a:pPr>
            <a:r>
              <a:t>MAGENTA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303520"/>
            <a:ext cx="448056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100" b="1" i="0">
                <a:solidFill>
                  <a:srgbClr val="06B6D4"/>
                </a:solidFill>
                <a:latin typeface="Calibri"/>
              </a:defRPr>
            </a:pPr>
            <a:r>
              <a:t>Calibration Target: Rec. 709 Standard Gamut (D65 White Point)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000" b="1" i="0">
                <a:solidFill>
                  <a:srgbClr val="06B6D4"/>
                </a:solidFill>
                <a:latin typeface="Calibri"/>
              </a:defRPr>
            </a:pPr>
            <a:r>
              <a:t>05 / THERMAL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 i="0">
                <a:solidFill>
                  <a:srgbClr val="F8FAFC"/>
                </a:solidFill>
                <a:latin typeface="Calibri"/>
              </a:defRPr>
            </a:pPr>
            <a:r>
              <a:t>Thermal Management: CoolDown &amp; Airflow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600" b="1" i="0">
                <a:solidFill>
                  <a:srgbClr val="06B6D4"/>
                </a:solidFill>
                <a:latin typeface="Calibri"/>
              </a:defRPr>
            </a:pPr>
            <a:r>
              <a:t>THERMAL &amp; FAN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Filter Maintenance:</a:t>
            </a:r>
            <a:r>
              <a:rPr b="0" sz="1200">
                <a:solidFill>
                  <a:srgbClr val="94A3B8"/>
                </a:solidFill>
                <a:latin typeface="Calibri"/>
              </a:rPr>
              <a:t> Clean or replace air filters every 100-300 operating hours to prevent dust accumulation and internal optical engine degradation.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Air Intake Clearance:</a:t>
            </a:r>
            <a:r>
              <a:rPr b="0" sz="1200">
                <a:solidFill>
                  <a:srgbClr val="94A3B8"/>
                </a:solidFill>
                <a:latin typeface="Calibri"/>
              </a:rPr>
              <a:t> Ensure a minimum of 20 inches of clearance around air intakes and exhaust vents to allow unobstructed heat dissipation.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High Altitude Mode:</a:t>
            </a:r>
            <a:r>
              <a:rPr b="0" sz="1200">
                <a:solidFill>
                  <a:srgbClr val="94A3B8"/>
                </a:solidFill>
                <a:latin typeface="Calibri"/>
              </a:rPr>
              <a:t> Enable High Altitude fan profiles when operating above 4,900 feet to compensate for thinner air and prevent overheating.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8FAFC"/>
                </a:solidFill>
                <a:latin typeface="Calibri"/>
              </a:rPr>
              <a:t>[ ] Power Down Sequence:</a:t>
            </a:r>
            <a:r>
              <a:rPr b="0" sz="1200">
                <a:solidFill>
                  <a:srgbClr val="94A3B8"/>
                </a:solidFill>
                <a:latin typeface="Calibri"/>
              </a:rPr>
              <a:t> Never remove AC mains power directly. Allow the projector to complete its cooling cycle (fans running) to avoid bulb fatigue.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alibri"/>
              </a:defRPr>
            </a:pPr>
            <a:r>
              <a:t>OPTICAL ENGINE THERMAL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77440"/>
            <a:ext cx="16459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1" i="0">
                <a:solidFill>
                  <a:srgbClr val="F8FAFC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377440"/>
            <a:ext cx="13716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1" i="0">
                <a:solidFill>
                  <a:srgbClr val="F8FAFC"/>
                </a:solidFill>
                <a:latin typeface="Calibri"/>
              </a:defRPr>
            </a:pPr>
            <a:r>
              <a:t>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377440"/>
            <a:ext cx="10972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1" i="0">
                <a:solidFill>
                  <a:srgbClr val="F8FAFC"/>
                </a:solidFill>
                <a:latin typeface="Calibri"/>
              </a:defRPr>
            </a:pPr>
            <a:r>
              <a:t>Max Limit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697480"/>
            <a:ext cx="4480560" cy="9144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880360"/>
            <a:ext cx="16459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Lamp Chamber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80360"/>
            <a:ext cx="13716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06B6D4"/>
                </a:solidFill>
                <a:latin typeface="Calibri"/>
              </a:defRPr>
            </a:pPr>
            <a:r>
              <a:t>75°C - 85°C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880360"/>
            <a:ext cx="10972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EF4444"/>
                </a:solidFill>
                <a:latin typeface="Calibri"/>
              </a:defRPr>
            </a:pPr>
            <a:r>
              <a:t>95°C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200400"/>
            <a:ext cx="4480560" cy="9144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383280"/>
            <a:ext cx="16459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LCD/DLP Prism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383280"/>
            <a:ext cx="13716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06B6D4"/>
                </a:solidFill>
                <a:latin typeface="Calibri"/>
              </a:defRPr>
            </a:pPr>
            <a:r>
              <a:t>45°C - 50°C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383280"/>
            <a:ext cx="10972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EF4444"/>
                </a:solidFill>
                <a:latin typeface="Calibri"/>
              </a:defRPr>
            </a:pPr>
            <a:r>
              <a:t>60°C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3703320"/>
            <a:ext cx="4480560" cy="9144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886200"/>
            <a:ext cx="16459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Exhaust Temp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886200"/>
            <a:ext cx="13716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06B6D4"/>
                </a:solidFill>
                <a:latin typeface="Calibri"/>
              </a:defRPr>
            </a:pPr>
            <a:r>
              <a:t>55°C - 65°C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886200"/>
            <a:ext cx="10972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100" b="0" i="0">
                <a:solidFill>
                  <a:srgbClr val="EF4444"/>
                </a:solidFill>
                <a:latin typeface="Calibri"/>
              </a:defRPr>
            </a:pPr>
            <a:r>
              <a:t>75°C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4206240"/>
            <a:ext cx="4480560" cy="9144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66560" y="4754880"/>
            <a:ext cx="448056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846320"/>
            <a:ext cx="41148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000" b="0" i="0">
                <a:solidFill>
                  <a:srgbClr val="F97316"/>
                </a:solidFill>
                <a:latin typeface="Calibri"/>
              </a:defRPr>
            </a:pPr>
            <a:r>
              <a:t>CRITICAL SAFETY NOTE:</a:t>
            </a:r>
            <a:br/>
            <a:r>
              <a:t>Direct AC disconnection cuts off power to cooling fans while the lamp is at max heat, causing immediate panel warping or thermal lamp cracking.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000" b="1" i="0">
                <a:solidFill>
                  <a:srgbClr val="06B6D4"/>
                </a:solidFill>
                <a:latin typeface="Calibri"/>
              </a:defRPr>
            </a:pPr>
            <a:r>
              <a:t>06 / CALIBRATION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 i="0">
                <a:solidFill>
                  <a:srgbClr val="F8FAFC"/>
                </a:solidFill>
                <a:latin typeface="Calibri"/>
              </a:defRPr>
            </a:pPr>
            <a:r>
              <a:t>Calibration Log &amp; Quality Certification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600" b="1" i="0">
                <a:solidFill>
                  <a:srgbClr val="06B6D4"/>
                </a:solidFill>
                <a:latin typeface="Calibri"/>
              </a:defRPr>
            </a:pPr>
            <a:r>
              <a:t>VERIFIED CALIBRATION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F8FAFC"/>
                </a:solidFill>
                <a:latin typeface="Calibri"/>
              </a:rPr>
              <a:t>[ ] Image Aspect Ratio matches native screen dimensions (16:</a:t>
            </a:r>
            <a:r>
              <a:rPr b="0" sz="1300">
                <a:solidFill>
                  <a:srgbClr val="94A3B8"/>
                </a:solidFill>
                <a:latin typeface="Calibri"/>
              </a:rPr>
              <a:t>9/16:10).</a:t>
            </a:r>
          </a:p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[ ] Keystone distortion is eliminated (image edges check perpendicular).</a:t>
            </a:r>
          </a:p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[ ] Focus pattern verified (individual pixels are sharp across grid).</a:t>
            </a:r>
          </a:p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[ ] Grayscale luminance steps are distinct (0% to 100% detail retention).</a:t>
            </a:r>
          </a:p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[ ] Color Temperature checks within target parameters (6500K ±200K).</a:t>
            </a:r>
          </a:p>
          <a:p>
            <a:pPr>
              <a:spcAft>
                <a:spcPts val="10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[ ] Thermal airflow and intake ventilation cleared of obstructions.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alibri"/>
              </a:defRPr>
            </a:pPr>
            <a:r>
              <a:t>CALIBRATION COMMISSIONING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48056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200" b="0" i="0">
                <a:solidFill>
                  <a:srgbClr val="F8FAFC"/>
                </a:solidFill>
                <a:latin typeface="Calibri"/>
              </a:defRPr>
            </a:pPr>
            <a:r>
              <a:t>Projector Manufacturer &amp; Model:</a:t>
            </a:r>
            <a:br/>
            <a:r>
              <a:t>____________________________________________________</a:t>
            </a:r>
            <a:br/>
            <a:br/>
            <a:r>
              <a:t>Lamp/Laser Engine Run Time Hours:</a:t>
            </a:r>
            <a:br/>
            <a:r>
              <a:t>____________________________________________________</a:t>
            </a:r>
            <a:br/>
            <a:br/>
            <a:r>
              <a:t>Calibration Instrument Used (e.g., Colorimeter):</a:t>
            </a:r>
            <a:br/>
            <a:r>
              <a:t>____________________________________________________</a:t>
            </a:r>
            <a:br/>
            <a:br/>
            <a:r>
              <a:t>Commissioning Date:</a:t>
            </a:r>
            <a:br/>
            <a:r>
              <a:t>____________________________________________________</a:t>
            </a:r>
            <a:br/>
            <a:br/>
            <a:r>
              <a:t>Calibration Technician Signature:</a:t>
            </a:r>
            <a:br/>
            <a:r>
              <a:t>X __________________________________________________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