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5486400" cy="274320"/>
          </a:xfrm>
          <a:prstGeom prst="rect">
            <a:avLst/>
          </a:prstGeom>
          <a:noFill/>
        </p:spPr>
        <p:txBody>
          <a:bodyPr wrap="square" tIns="91440" bIns="91440">
            <a:spAutoFit/>
          </a:bodyPr>
          <a:lstStyle/>
          <a:p>
            <a:pPr algn="l">
              <a:defRPr sz="1100" b="1" i="0">
                <a:solidFill>
                  <a:srgbClr val="06B6D4"/>
                </a:solidFill>
                <a:latin typeface="Calibri"/>
              </a:defRPr>
            </a:pPr>
            <a:r>
              <a:t>AV COMMISSIONING STANDARD // VERSION 4.2</a:t>
            </a:r>
          </a:p>
        </p:txBody>
      </p:sp>
      <p:sp>
        <p:nvSpPr>
          <p:cNvPr id="4" name="TextBox 3"/>
          <p:cNvSpPr txBox="1"/>
          <p:nvPr/>
        </p:nvSpPr>
        <p:spPr>
          <a:xfrm>
            <a:off x="914400" y="1645920"/>
            <a:ext cx="5029200" cy="2286000"/>
          </a:xfrm>
          <a:prstGeom prst="rect">
            <a:avLst/>
          </a:prstGeom>
          <a:noFill/>
        </p:spPr>
        <p:txBody>
          <a:bodyPr wrap="square" tIns="91440" bIns="91440">
            <a:spAutoFit/>
          </a:bodyPr>
          <a:lstStyle/>
          <a:p>
            <a:pPr algn="l">
              <a:defRPr sz="4200" b="1" i="0">
                <a:solidFill>
                  <a:srgbClr val="F8FAFC"/>
                </a:solidFill>
                <a:latin typeface="Calibri"/>
              </a:defRPr>
            </a:pPr>
            <a:r>
              <a:t>THE ULTIMATE AV SYSTEM TEST PROTOCOL</a:t>
            </a:r>
          </a:p>
        </p:txBody>
      </p:sp>
      <p:sp>
        <p:nvSpPr>
          <p:cNvPr id="5" name="TextBox 4"/>
          <p:cNvSpPr txBox="1"/>
          <p:nvPr/>
        </p:nvSpPr>
        <p:spPr>
          <a:xfrm>
            <a:off x="914400" y="4114800"/>
            <a:ext cx="4754880" cy="914400"/>
          </a:xfrm>
          <a:prstGeom prst="rect">
            <a:avLst/>
          </a:prstGeom>
          <a:noFill/>
        </p:spPr>
        <p:txBody>
          <a:bodyPr wrap="square" tIns="91440" bIns="91440">
            <a:spAutoFit/>
          </a:bodyPr>
          <a:lstStyle/>
          <a:p>
            <a:pPr algn="l">
              <a:defRPr sz="1500" b="0" i="1">
                <a:solidFill>
                  <a:srgbClr val="94A3B8"/>
                </a:solidFill>
                <a:latin typeface="Calibri"/>
              </a:defRPr>
            </a:pPr>
            <a:r>
              <a:t>A comprehensive, battle-tested checklist for ensuring audio-visual readiness (and preventing the 60Hz ground hum from eating your soul).</a:t>
            </a:r>
          </a:p>
        </p:txBody>
      </p:sp>
      <p:sp>
        <p:nvSpPr>
          <p:cNvPr id="6" name="Rounded Rectangle 5"/>
          <p:cNvSpPr/>
          <p:nvPr/>
        </p:nvSpPr>
        <p:spPr>
          <a:xfrm>
            <a:off x="914400" y="5212080"/>
            <a:ext cx="4754880" cy="100584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303520"/>
            <a:ext cx="4480560" cy="822960"/>
          </a:xfrm>
          <a:prstGeom prst="rect">
            <a:avLst/>
          </a:prstGeom>
          <a:noFill/>
        </p:spPr>
        <p:txBody>
          <a:bodyPr wrap="square" tIns="91440" bIns="91440">
            <a:spAutoFit/>
          </a:bodyPr>
          <a:lstStyle/>
          <a:p>
            <a:pPr algn="l">
              <a:defRPr sz="1100" b="0" i="0">
                <a:solidFill>
                  <a:srgbClr val="F8FAFC"/>
                </a:solidFill>
                <a:latin typeface="Calibri"/>
              </a:defRPr>
            </a:pPr>
            <a:r>
              <a:t>SYSTEM STATUS: FRAGILE</a:t>
            </a:r>
            <a:br/>
            <a:r>
              <a:t>PRE-REQUISITES: Zen Patience, 3x USB-C Dongles, 1x Active Prayer Circle</a:t>
            </a:r>
            <a:br/>
            <a:r>
              <a:t>BLAME REDUCTION MATRIX: Activated</a:t>
            </a:r>
          </a:p>
        </p:txBody>
      </p:sp>
      <p:sp>
        <p:nvSpPr>
          <p:cNvPr id="8" name="TextBox 7"/>
          <p:cNvSpPr txBox="1"/>
          <p:nvPr/>
        </p:nvSpPr>
        <p:spPr>
          <a:xfrm>
            <a:off x="6583680" y="914400"/>
            <a:ext cx="4572000" cy="365760"/>
          </a:xfrm>
          <a:prstGeom prst="rect">
            <a:avLst/>
          </a:prstGeom>
          <a:noFill/>
        </p:spPr>
        <p:txBody>
          <a:bodyPr wrap="square" tIns="91440" bIns="91440">
            <a:spAutoFit/>
          </a:bodyPr>
          <a:lstStyle/>
          <a:p>
            <a:pPr algn="ctr">
              <a:defRPr sz="1200" b="1" i="0">
                <a:solidFill>
                  <a:srgbClr val="06B6D4"/>
                </a:solidFill>
                <a:latin typeface="Calibri"/>
              </a:defRPr>
            </a:pPr>
            <a:r>
              <a:t>SIGNAL FLOW &amp; CRITICAL FAILURE POINTS</a:t>
            </a:r>
          </a:p>
        </p:txBody>
      </p:sp>
      <p:sp>
        <p:nvSpPr>
          <p:cNvPr id="9" name="Rounded Rectangle 8"/>
          <p:cNvSpPr/>
          <p:nvPr/>
        </p:nvSpPr>
        <p:spPr>
          <a:xfrm>
            <a:off x="6583680" y="1463040"/>
            <a:ext cx="2011680" cy="100584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645920"/>
            <a:ext cx="2011680" cy="731520"/>
          </a:xfrm>
          <a:prstGeom prst="rect">
            <a:avLst/>
          </a:prstGeom>
          <a:noFill/>
        </p:spPr>
        <p:txBody>
          <a:bodyPr wrap="square" tIns="91440" bIns="91440">
            <a:spAutoFit/>
          </a:bodyPr>
          <a:lstStyle/>
          <a:p>
            <a:pPr algn="ctr">
              <a:defRPr sz="1200" b="1" i="0">
                <a:solidFill>
                  <a:srgbClr val="F8FAFC"/>
                </a:solidFill>
                <a:latin typeface="Calibri"/>
              </a:defRPr>
            </a:pPr>
            <a:r>
              <a:t>INPUT SOURCES</a:t>
            </a:r>
            <a:br/>
            <a:r>
              <a:t>(HDMI / USB-C / Hope)</a:t>
            </a:r>
          </a:p>
        </p:txBody>
      </p:sp>
      <p:sp>
        <p:nvSpPr>
          <p:cNvPr id="11" name="Rectangle 10"/>
          <p:cNvSpPr/>
          <p:nvPr/>
        </p:nvSpPr>
        <p:spPr>
          <a:xfrm>
            <a:off x="8595360" y="1920240"/>
            <a:ext cx="731520" cy="27432"/>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326880" y="1463040"/>
            <a:ext cx="2011680" cy="16459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1645920"/>
            <a:ext cx="2011680" cy="1280160"/>
          </a:xfrm>
          <a:prstGeom prst="rect">
            <a:avLst/>
          </a:prstGeom>
          <a:noFill/>
        </p:spPr>
        <p:txBody>
          <a:bodyPr wrap="square" tIns="91440" bIns="91440">
            <a:spAutoFit/>
          </a:bodyPr>
          <a:lstStyle/>
          <a:p>
            <a:pPr algn="ctr">
              <a:defRPr sz="1200" b="1" i="0">
                <a:solidFill>
                  <a:srgbClr val="F8FAFC"/>
                </a:solidFill>
                <a:latin typeface="Calibri"/>
              </a:defRPr>
            </a:pPr>
            <a:r>
              <a:t>THE SWITCHER</a:t>
            </a:r>
            <a:br/>
            <a:r>
              <a:t>(Black Box of Magic)</a:t>
            </a:r>
            <a:br/>
            <a:br/>
            <a:r>
              <a:t>*Do not breath on this*</a:t>
            </a:r>
          </a:p>
        </p:txBody>
      </p:sp>
      <p:sp>
        <p:nvSpPr>
          <p:cNvPr id="14" name="Rectangle 13"/>
          <p:cNvSpPr/>
          <p:nvPr/>
        </p:nvSpPr>
        <p:spPr>
          <a:xfrm>
            <a:off x="10314432" y="3108960"/>
            <a:ext cx="27432" cy="100584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0" y="3108960"/>
            <a:ext cx="27432" cy="164592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20" y="4754880"/>
            <a:ext cx="2039112" cy="27432"/>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0" y="4114800"/>
            <a:ext cx="2011680" cy="100584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297680"/>
            <a:ext cx="2011680" cy="731520"/>
          </a:xfrm>
          <a:prstGeom prst="rect">
            <a:avLst/>
          </a:prstGeom>
          <a:noFill/>
        </p:spPr>
        <p:txBody>
          <a:bodyPr wrap="square" tIns="91440" bIns="91440">
            <a:spAutoFit/>
          </a:bodyPr>
          <a:lstStyle/>
          <a:p>
            <a:pPr algn="ctr">
              <a:defRPr sz="1200" b="1" i="0">
                <a:solidFill>
                  <a:srgbClr val="F8FAFC"/>
                </a:solidFill>
                <a:latin typeface="Calibri"/>
              </a:defRPr>
            </a:pPr>
            <a:r>
              <a:t>PROJECTOR DISPLAY</a:t>
            </a:r>
            <a:br/>
            <a:r>
              <a:t>(640x480 stretched)</a:t>
            </a:r>
          </a:p>
        </p:txBody>
      </p:sp>
      <p:sp>
        <p:nvSpPr>
          <p:cNvPr id="19" name="Rounded Rectangle 18"/>
          <p:cNvSpPr/>
          <p:nvPr/>
        </p:nvSpPr>
        <p:spPr>
          <a:xfrm>
            <a:off x="9326880" y="4114800"/>
            <a:ext cx="2011680" cy="100584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297680"/>
            <a:ext cx="2011680" cy="731520"/>
          </a:xfrm>
          <a:prstGeom prst="rect">
            <a:avLst/>
          </a:prstGeom>
          <a:noFill/>
        </p:spPr>
        <p:txBody>
          <a:bodyPr wrap="square" tIns="91440" bIns="91440">
            <a:spAutoFit/>
          </a:bodyPr>
          <a:lstStyle/>
          <a:p>
            <a:pPr algn="ctr">
              <a:defRPr sz="1100" b="1" i="0">
                <a:solidFill>
                  <a:srgbClr val="F97316"/>
                </a:solidFill>
                <a:latin typeface="Calibri"/>
              </a:defRPr>
            </a:pPr>
            <a:r>
              <a:t>AUDIO AMPLIFIER</a:t>
            </a:r>
            <a:br/>
            <a:r>
              <a:t>(60Hz Ground Loop</a:t>
            </a:r>
            <a:br/>
            <a:r>
              <a:t>Generator)</a:t>
            </a:r>
          </a:p>
        </p:txBody>
      </p:sp>
      <p:sp>
        <p:nvSpPr>
          <p:cNvPr id="21" name="Rectangle 20"/>
          <p:cNvSpPr/>
          <p:nvPr/>
        </p:nvSpPr>
        <p:spPr>
          <a:xfrm>
            <a:off x="0" y="0"/>
            <a:ext cx="91440" cy="6858000"/>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74320"/>
          </a:xfrm>
          <a:prstGeom prst="rect">
            <a:avLst/>
          </a:prstGeom>
          <a:noFill/>
        </p:spPr>
        <p:txBody>
          <a:bodyPr wrap="square" tIns="91440" bIns="91440">
            <a:spAutoFit/>
          </a:bodyPr>
          <a:lstStyle/>
          <a:p>
            <a:pPr algn="l">
              <a:defRPr sz="1000" b="1" i="0">
                <a:solidFill>
                  <a:srgbClr val="06B6D4"/>
                </a:solidFill>
                <a:latin typeface="Calibri"/>
              </a:defRPr>
            </a:pPr>
            <a:r>
              <a:t>01 / AUDIO CALIBRATION</a:t>
            </a:r>
          </a:p>
        </p:txBody>
      </p:sp>
      <p:sp>
        <p:nvSpPr>
          <p:cNvPr id="4" name="TextBox 3"/>
          <p:cNvSpPr txBox="1"/>
          <p:nvPr/>
        </p:nvSpPr>
        <p:spPr>
          <a:xfrm>
            <a:off x="731520" y="548640"/>
            <a:ext cx="10058400" cy="731520"/>
          </a:xfrm>
          <a:prstGeom prst="rect">
            <a:avLst/>
          </a:prstGeom>
          <a:noFill/>
        </p:spPr>
        <p:txBody>
          <a:bodyPr wrap="square" tIns="91440" bIns="91440">
            <a:spAutoFit/>
          </a:bodyPr>
          <a:lstStyle/>
          <a:p>
            <a:pPr algn="l">
              <a:defRPr sz="2800" b="1" i="0">
                <a:solidFill>
                  <a:srgbClr val="F8FAFC"/>
                </a:solidFill>
                <a:latin typeface="Calibri"/>
              </a:defRPr>
            </a:pPr>
            <a:r>
              <a:t>Audio Calibration: The Hunt for Feedback</a:t>
            </a:r>
          </a:p>
        </p:txBody>
      </p:sp>
      <p:sp>
        <p:nvSpPr>
          <p:cNvPr id="5" name="Rectangle 4"/>
          <p:cNvSpPr/>
          <p:nvPr/>
        </p:nvSpPr>
        <p:spPr>
          <a:xfrm>
            <a:off x="731520" y="1280160"/>
            <a:ext cx="10728655" cy="18288"/>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5120640" cy="365760"/>
          </a:xfrm>
          <a:prstGeom prst="rect">
            <a:avLst/>
          </a:prstGeom>
          <a:noFill/>
        </p:spPr>
        <p:txBody>
          <a:bodyPr wrap="square" tIns="91440" bIns="91440">
            <a:spAutoFit/>
          </a:bodyPr>
          <a:lstStyle/>
          <a:p>
            <a:pPr algn="l">
              <a:defRPr sz="1600" b="1" i="0">
                <a:solidFill>
                  <a:srgbClr val="06B6D4"/>
                </a:solidFill>
                <a:latin typeface="Calibri"/>
              </a:defRPr>
            </a:pPr>
            <a:r>
              <a:t>REQUIRED CALIBRATION STEPS</a:t>
            </a:r>
          </a:p>
        </p:txBody>
      </p:sp>
      <p:sp>
        <p:nvSpPr>
          <p:cNvPr id="8" name="TextBox 7"/>
          <p:cNvSpPr txBox="1"/>
          <p:nvPr/>
        </p:nvSpPr>
        <p:spPr>
          <a:xfrm>
            <a:off x="914400" y="2286000"/>
            <a:ext cx="5120640" cy="3657600"/>
          </a:xfrm>
          <a:prstGeom prst="rect">
            <a:avLst/>
          </a:prstGeom>
          <a:noFill/>
        </p:spPr>
        <p:txBody>
          <a:bodyPr wrap="square" lIns="137160" rIns="137160" tIns="137160" bIns="137160">
            <a:spAutoFit/>
          </a:bodyPr>
          <a:lstStyle/>
          <a:p>
            <a:pPr>
              <a:spcAft>
                <a:spcPts val="1000"/>
              </a:spcAft>
            </a:pPr>
            <a:r>
              <a:rPr b="1" sz="1300">
                <a:solidFill>
                  <a:srgbClr val="F8FAFC"/>
                </a:solidFill>
                <a:latin typeface="Calibri"/>
              </a:rPr>
              <a:t>[ ] Mic Placement Check:</a:t>
            </a:r>
            <a:r>
              <a:rPr b="0" sz="1300">
                <a:solidFill>
                  <a:srgbClr val="94A3B8"/>
                </a:solidFill>
                <a:latin typeface="Calibri"/>
              </a:rPr>
              <a:t> Inform presenters that holding the lapel microphone at belt-level will not make them sound like Barry White. It will just amplify breathing.</a:t>
            </a:r>
          </a:p>
          <a:p>
            <a:pPr>
              <a:spcAft>
                <a:spcPts val="1000"/>
              </a:spcAft>
            </a:pPr>
            <a:r>
              <a:rPr b="1" sz="1300">
                <a:solidFill>
                  <a:srgbClr val="F8FAFC"/>
                </a:solidFill>
                <a:latin typeface="Calibri"/>
              </a:rPr>
              <a:t>[ ] The Ground Loop Search:</a:t>
            </a:r>
            <a:r>
              <a:rPr b="0" sz="1300">
                <a:solidFill>
                  <a:srgbClr val="94A3B8"/>
                </a:solidFill>
                <a:latin typeface="Calibri"/>
              </a:rPr>
              <a:t> Listen for a constant, warm 60Hz hum. If absent, check if the main audio rack is actually plugged into an electrical socket.</a:t>
            </a:r>
          </a:p>
          <a:p>
            <a:pPr>
              <a:spcAft>
                <a:spcPts val="1000"/>
              </a:spcAft>
            </a:pPr>
            <a:r>
              <a:rPr b="1" sz="1300">
                <a:solidFill>
                  <a:srgbClr val="F8FAFC"/>
                </a:solidFill>
                <a:latin typeface="Calibri"/>
              </a:rPr>
              <a:t>[ ] The Sound Check Rule:</a:t>
            </a:r>
            <a:r>
              <a:rPr b="0" sz="1300">
                <a:solidFill>
                  <a:srgbClr val="94A3B8"/>
                </a:solidFill>
                <a:latin typeface="Calibri"/>
              </a:rPr>
              <a:t> Repeat 'testing, testing, one, two' exactly 17 times. Physics dictates the system will only activate on the 18th attempt.</a:t>
            </a:r>
          </a:p>
          <a:p>
            <a:pPr>
              <a:spcAft>
                <a:spcPts val="1000"/>
              </a:spcAft>
            </a:pPr>
            <a:r>
              <a:rPr b="1" sz="1300">
                <a:solidFill>
                  <a:srgbClr val="F8FAFC"/>
                </a:solidFill>
                <a:latin typeface="Calibri"/>
              </a:rPr>
              <a:t>[ ] Gain Staging Balance:</a:t>
            </a:r>
            <a:r>
              <a:rPr b="0" sz="1300">
                <a:solidFill>
                  <a:srgbClr val="94A3B8"/>
                </a:solidFill>
                <a:latin typeface="Calibri"/>
              </a:rPr>
              <a:t> Calibrate levels so a soft whisper is barely audible, but an unexpected throat clear sounds like a localized artillery strike.</a:t>
            </a:r>
          </a:p>
        </p:txBody>
      </p:sp>
      <p:sp>
        <p:nvSpPr>
          <p:cNvPr id="9" name="Rounded Rectangle 8"/>
          <p:cNvSpPr/>
          <p:nvPr/>
        </p:nvSpPr>
        <p:spPr>
          <a:xfrm>
            <a:off x="6583680" y="1645920"/>
            <a:ext cx="4846320"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828800"/>
            <a:ext cx="4480560" cy="365760"/>
          </a:xfrm>
          <a:prstGeom prst="rect">
            <a:avLst/>
          </a:prstGeom>
          <a:noFill/>
        </p:spPr>
        <p:txBody>
          <a:bodyPr wrap="square" tIns="91440" bIns="91440">
            <a:spAutoFit/>
          </a:bodyPr>
          <a:lstStyle/>
          <a:p>
            <a:pPr algn="l">
              <a:defRPr sz="1400" b="1" i="0">
                <a:solidFill>
                  <a:srgbClr val="F97316"/>
                </a:solidFill>
                <a:latin typeface="Calibri"/>
              </a:defRPr>
            </a:pPr>
            <a:r>
              <a:t>🚨 PHYSICAL LAW #18</a:t>
            </a:r>
          </a:p>
        </p:txBody>
      </p:sp>
      <p:sp>
        <p:nvSpPr>
          <p:cNvPr id="11" name="TextBox 10"/>
          <p:cNvSpPr txBox="1"/>
          <p:nvPr/>
        </p:nvSpPr>
        <p:spPr>
          <a:xfrm>
            <a:off x="6766560" y="2286000"/>
            <a:ext cx="4480560" cy="914400"/>
          </a:xfrm>
          <a:prstGeom prst="rect">
            <a:avLst/>
          </a:prstGeom>
          <a:noFill/>
        </p:spPr>
        <p:txBody>
          <a:bodyPr wrap="square" tIns="91440" bIns="91440">
            <a:spAutoFit/>
          </a:bodyPr>
          <a:lstStyle/>
          <a:p>
            <a:pPr algn="l">
              <a:defRPr sz="1800" b="1" i="0">
                <a:solidFill>
                  <a:srgbClr val="F8FAFC"/>
                </a:solidFill>
                <a:latin typeface="Calibri"/>
              </a:defRPr>
            </a:pPr>
            <a:r>
              <a:t>HEURISTICS OF AUDIO FEEDBACK</a:t>
            </a:r>
          </a:p>
        </p:txBody>
      </p:sp>
      <p:sp>
        <p:nvSpPr>
          <p:cNvPr id="12" name="TextBox 11"/>
          <p:cNvSpPr txBox="1"/>
          <p:nvPr/>
        </p:nvSpPr>
        <p:spPr>
          <a:xfrm>
            <a:off x="6766560" y="2926080"/>
            <a:ext cx="4480560" cy="3108960"/>
          </a:xfrm>
          <a:prstGeom prst="rect">
            <a:avLst/>
          </a:prstGeom>
          <a:noFill/>
        </p:spPr>
        <p:txBody>
          <a:bodyPr wrap="square" tIns="91440" bIns="91440">
            <a:spAutoFit/>
          </a:bodyPr>
          <a:lstStyle/>
          <a:p>
            <a:pPr algn="l">
              <a:defRPr sz="1300" b="0" i="0">
                <a:solidFill>
                  <a:srgbClr val="94A3B8"/>
                </a:solidFill>
                <a:latin typeface="Calibri"/>
              </a:defRPr>
            </a:pPr>
            <a:r>
              <a:t>Audio feedback will only occur during the most critical slide of a presentation.</a:t>
            </a:r>
            <a:br/>
            <a:br/>
            <a:r>
              <a:t>It is scientifically proven to select the frequency most painful to human ears (typically 2.4kHz, which activates the visual 'cringe' reflex in executives).</a:t>
            </a:r>
            <a:br/>
            <a:br/>
            <a:r>
              <a:t>DEFLECTION STRATEGY:</a:t>
            </a:r>
            <a:br/>
            <a:r>
              <a:t>If feedback starts, do not look at the soundboard or the faders. Act deeply confused and stare accusingly at the ceiling air conditioning vents. The audience will blame the HVAC system, and you will survive another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74320"/>
          </a:xfrm>
          <a:prstGeom prst="rect">
            <a:avLst/>
          </a:prstGeom>
          <a:noFill/>
        </p:spPr>
        <p:txBody>
          <a:bodyPr wrap="square" tIns="91440" bIns="91440">
            <a:spAutoFit/>
          </a:bodyPr>
          <a:lstStyle/>
          <a:p>
            <a:pPr algn="l">
              <a:defRPr sz="1000" b="1" i="0">
                <a:solidFill>
                  <a:srgbClr val="06B6D4"/>
                </a:solidFill>
                <a:latin typeface="Calibri"/>
              </a:defRPr>
            </a:pPr>
            <a:r>
              <a:t>02 / VIDEO ROUTING</a:t>
            </a:r>
          </a:p>
        </p:txBody>
      </p:sp>
      <p:sp>
        <p:nvSpPr>
          <p:cNvPr id="4" name="TextBox 3"/>
          <p:cNvSpPr txBox="1"/>
          <p:nvPr/>
        </p:nvSpPr>
        <p:spPr>
          <a:xfrm>
            <a:off x="731520" y="548640"/>
            <a:ext cx="10058400" cy="731520"/>
          </a:xfrm>
          <a:prstGeom prst="rect">
            <a:avLst/>
          </a:prstGeom>
          <a:noFill/>
        </p:spPr>
        <p:txBody>
          <a:bodyPr wrap="square" tIns="91440" bIns="91440">
            <a:spAutoFit/>
          </a:bodyPr>
          <a:lstStyle/>
          <a:p>
            <a:pPr algn="l">
              <a:defRPr sz="2800" b="1" i="0">
                <a:solidFill>
                  <a:srgbClr val="F8FAFC"/>
                </a:solidFill>
                <a:latin typeface="Calibri"/>
              </a:defRPr>
            </a:pPr>
            <a:r>
              <a:t>Video Handshakes: The Dongle Roulette</a:t>
            </a:r>
          </a:p>
        </p:txBody>
      </p:sp>
      <p:sp>
        <p:nvSpPr>
          <p:cNvPr id="5" name="Rectangle 4"/>
          <p:cNvSpPr/>
          <p:nvPr/>
        </p:nvSpPr>
        <p:spPr>
          <a:xfrm>
            <a:off x="731520" y="1280160"/>
            <a:ext cx="10728655" cy="18288"/>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5120640" cy="365760"/>
          </a:xfrm>
          <a:prstGeom prst="rect">
            <a:avLst/>
          </a:prstGeom>
          <a:noFill/>
        </p:spPr>
        <p:txBody>
          <a:bodyPr wrap="square" tIns="91440" bIns="91440">
            <a:spAutoFit/>
          </a:bodyPr>
          <a:lstStyle/>
          <a:p>
            <a:pPr algn="l">
              <a:defRPr sz="1600" b="1" i="0">
                <a:solidFill>
                  <a:srgbClr val="06B6D4"/>
                </a:solidFill>
                <a:latin typeface="Calibri"/>
              </a:defRPr>
            </a:pPr>
            <a:r>
              <a:t>VIDEO HANDSHAKE PROTOCOL</a:t>
            </a:r>
          </a:p>
        </p:txBody>
      </p:sp>
      <p:sp>
        <p:nvSpPr>
          <p:cNvPr id="8" name="TextBox 7"/>
          <p:cNvSpPr txBox="1"/>
          <p:nvPr/>
        </p:nvSpPr>
        <p:spPr>
          <a:xfrm>
            <a:off x="914400" y="2286000"/>
            <a:ext cx="5120640" cy="3657600"/>
          </a:xfrm>
          <a:prstGeom prst="rect">
            <a:avLst/>
          </a:prstGeom>
          <a:noFill/>
        </p:spPr>
        <p:txBody>
          <a:bodyPr wrap="square" lIns="137160" rIns="137160" tIns="137160" bIns="137160">
            <a:spAutoFit/>
          </a:bodyPr>
          <a:lstStyle/>
          <a:p>
            <a:pPr>
              <a:spcAft>
                <a:spcPts val="1000"/>
              </a:spcAft>
            </a:pPr>
            <a:r>
              <a:rPr b="1" sz="1300">
                <a:solidFill>
                  <a:srgbClr val="F8FAFC"/>
                </a:solidFill>
                <a:latin typeface="Calibri"/>
              </a:rPr>
              <a:t>[ ] Dongle Roulette:</a:t>
            </a:r>
            <a:r>
              <a:rPr b="0" sz="1300">
                <a:solidFill>
                  <a:srgbClr val="94A3B8"/>
                </a:solidFill>
                <a:latin typeface="Calibri"/>
              </a:rPr>
              <a:t> Presenters must bring a minimum of three adapters. None of them will fit their specific laptop. Prepare to borrow a fourth.</a:t>
            </a:r>
          </a:p>
          <a:p>
            <a:pPr>
              <a:spcAft>
                <a:spcPts val="1000"/>
              </a:spcAft>
            </a:pPr>
            <a:r>
              <a:rPr b="1" sz="1300">
                <a:solidFill>
                  <a:srgbClr val="F8FAFC"/>
                </a:solidFill>
                <a:latin typeface="Calibri"/>
              </a:rPr>
              <a:t>[ ] Resolution Handshake:</a:t>
            </a:r>
            <a:r>
              <a:rPr b="0" sz="1300">
                <a:solidFill>
                  <a:srgbClr val="94A3B8"/>
                </a:solidFill>
                <a:latin typeface="Calibri"/>
              </a:rPr>
              <a:t> The projector and the laptop will negotiate a resolution. The projector will always win, choosing a compressed 640x480 layout.</a:t>
            </a:r>
          </a:p>
          <a:p>
            <a:pPr>
              <a:spcAft>
                <a:spcPts val="1000"/>
              </a:spcAft>
            </a:pPr>
            <a:r>
              <a:rPr b="1" sz="1300">
                <a:solidFill>
                  <a:srgbClr val="F8FAFC"/>
                </a:solidFill>
                <a:latin typeface="Calibri"/>
              </a:rPr>
              <a:t>[ ] Aspect Ratio Check:</a:t>
            </a:r>
            <a:r>
              <a:rPr b="0" sz="1300">
                <a:solidFill>
                  <a:srgbClr val="94A3B8"/>
                </a:solidFill>
                <a:latin typeface="Calibri"/>
              </a:rPr>
              <a:t> Stave off the urge to stretch a 4:3 slide to 16:9. It makes the CEO look wider, which is historically terrible for career growth.</a:t>
            </a:r>
          </a:p>
          <a:p>
            <a:pPr>
              <a:spcAft>
                <a:spcPts val="1000"/>
              </a:spcAft>
            </a:pPr>
            <a:r>
              <a:rPr b="1" sz="1300">
                <a:solidFill>
                  <a:srgbClr val="F8FAFC"/>
                </a:solidFill>
                <a:latin typeface="Calibri"/>
              </a:rPr>
              <a:t>[ ] Handshake Latency:</a:t>
            </a:r>
            <a:r>
              <a:rPr b="0" sz="1300">
                <a:solidFill>
                  <a:srgbClr val="94A3B8"/>
                </a:solidFill>
                <a:latin typeface="Calibri"/>
              </a:rPr>
              <a:t> Allow 8-10 seconds of black screen while the EDID handshake fails three times before finally displaying a heavily tinted desktop.</a:t>
            </a:r>
          </a:p>
        </p:txBody>
      </p:sp>
      <p:sp>
        <p:nvSpPr>
          <p:cNvPr id="9" name="Rounded Rectangle 8"/>
          <p:cNvSpPr/>
          <p:nvPr/>
        </p:nvSpPr>
        <p:spPr>
          <a:xfrm>
            <a:off x="6583680" y="1645920"/>
            <a:ext cx="484632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828800"/>
            <a:ext cx="4480560" cy="365760"/>
          </a:xfrm>
          <a:prstGeom prst="rect">
            <a:avLst/>
          </a:prstGeom>
          <a:noFill/>
        </p:spPr>
        <p:txBody>
          <a:bodyPr wrap="square" tIns="91440" bIns="91440">
            <a:spAutoFit/>
          </a:bodyPr>
          <a:lstStyle/>
          <a:p>
            <a:pPr algn="l">
              <a:defRPr sz="1400" b="1" i="0">
                <a:solidFill>
                  <a:srgbClr val="06B6D4"/>
                </a:solidFill>
                <a:latin typeface="Calibri"/>
              </a:defRPr>
            </a:pPr>
            <a:r>
              <a:t>EDID HANDSHAKE FLOWCHART</a:t>
            </a:r>
          </a:p>
        </p:txBody>
      </p:sp>
      <p:sp>
        <p:nvSpPr>
          <p:cNvPr id="11" name="Rounded Rectangle 10"/>
          <p:cNvSpPr/>
          <p:nvPr/>
        </p:nvSpPr>
        <p:spPr>
          <a:xfrm>
            <a:off x="7772400" y="2377440"/>
            <a:ext cx="2468880" cy="731520"/>
          </a:xfrm>
          <a:prstGeom prst="roundRect">
            <a:avLst/>
          </a:prstGeom>
          <a:solidFill>
            <a:srgbClr val="1E293B"/>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2468880"/>
            <a:ext cx="2468880" cy="548640"/>
          </a:xfrm>
          <a:prstGeom prst="rect">
            <a:avLst/>
          </a:prstGeom>
          <a:noFill/>
        </p:spPr>
        <p:txBody>
          <a:bodyPr wrap="square" tIns="91440" bIns="91440">
            <a:spAutoFit/>
          </a:bodyPr>
          <a:lstStyle/>
          <a:p>
            <a:pPr algn="ctr">
              <a:defRPr sz="1100" b="1" i="0">
                <a:solidFill>
                  <a:srgbClr val="F8FAFC"/>
                </a:solidFill>
                <a:latin typeface="Calibri"/>
              </a:defRPr>
            </a:pPr>
            <a:r>
              <a:t>LAPTOP</a:t>
            </a:r>
            <a:br/>
            <a:r>
              <a:t>"I want to send 4K UHD!"</a:t>
            </a:r>
          </a:p>
        </p:txBody>
      </p:sp>
      <p:sp>
        <p:nvSpPr>
          <p:cNvPr id="13" name="Rectangle 12"/>
          <p:cNvSpPr/>
          <p:nvPr/>
        </p:nvSpPr>
        <p:spPr>
          <a:xfrm>
            <a:off x="8988552" y="3108960"/>
            <a:ext cx="36576" cy="36576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0" y="3474720"/>
            <a:ext cx="2468880" cy="73152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3566160"/>
            <a:ext cx="2468880" cy="548640"/>
          </a:xfrm>
          <a:prstGeom prst="rect">
            <a:avLst/>
          </a:prstGeom>
          <a:noFill/>
        </p:spPr>
        <p:txBody>
          <a:bodyPr wrap="square" tIns="91440" bIns="91440">
            <a:spAutoFit/>
          </a:bodyPr>
          <a:lstStyle/>
          <a:p>
            <a:pPr algn="ctr">
              <a:defRPr sz="1100" b="1" i="0">
                <a:solidFill>
                  <a:srgbClr val="F97316"/>
                </a:solidFill>
                <a:latin typeface="Calibri"/>
              </a:defRPr>
            </a:pPr>
            <a:r>
              <a:t>USB-C DONGLE</a:t>
            </a:r>
            <a:br/>
            <a:r>
              <a:t>*Converts to 1080p &amp; gets hot*</a:t>
            </a:r>
          </a:p>
        </p:txBody>
      </p:sp>
      <p:sp>
        <p:nvSpPr>
          <p:cNvPr id="16" name="Rectangle 15"/>
          <p:cNvSpPr/>
          <p:nvPr/>
        </p:nvSpPr>
        <p:spPr>
          <a:xfrm>
            <a:off x="8988552" y="4206240"/>
            <a:ext cx="36576" cy="36576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4572000"/>
            <a:ext cx="2468880" cy="7315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4663440"/>
            <a:ext cx="2468880" cy="548640"/>
          </a:xfrm>
          <a:prstGeom prst="rect">
            <a:avLst/>
          </a:prstGeom>
          <a:noFill/>
        </p:spPr>
        <p:txBody>
          <a:bodyPr wrap="square" tIns="91440" bIns="91440">
            <a:spAutoFit/>
          </a:bodyPr>
          <a:lstStyle/>
          <a:p>
            <a:pPr algn="ctr">
              <a:defRPr sz="1100" b="1" i="0">
                <a:solidFill>
                  <a:srgbClr val="06B6D4"/>
                </a:solidFill>
                <a:latin typeface="Calibri"/>
              </a:defRPr>
            </a:pPr>
            <a:r>
              <a:t>PROJECTOR</a:t>
            </a:r>
            <a:br/>
            <a:r>
              <a:t>"Best I can do is 640x480 (green tint)"</a:t>
            </a:r>
          </a:p>
        </p:txBody>
      </p:sp>
      <p:sp>
        <p:nvSpPr>
          <p:cNvPr id="19" name="TextBox 18"/>
          <p:cNvSpPr txBox="1"/>
          <p:nvPr/>
        </p:nvSpPr>
        <p:spPr>
          <a:xfrm>
            <a:off x="6766560" y="5486400"/>
            <a:ext cx="4480560" cy="548640"/>
          </a:xfrm>
          <a:prstGeom prst="rect">
            <a:avLst/>
          </a:prstGeom>
          <a:noFill/>
        </p:spPr>
        <p:txBody>
          <a:bodyPr wrap="square" tIns="91440" bIns="91440">
            <a:spAutoFit/>
          </a:bodyPr>
          <a:lstStyle/>
          <a:p>
            <a:pPr algn="ctr">
              <a:defRPr sz="1200" b="0" i="1">
                <a:solidFill>
                  <a:srgbClr val="94A3B8"/>
                </a:solidFill>
                <a:latin typeface="Calibri"/>
              </a:defRPr>
            </a:pPr>
            <a:r>
              <a:t>Outcome: Successful negotiation of standard corporate squint-vision.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74320"/>
          </a:xfrm>
          <a:prstGeom prst="rect">
            <a:avLst/>
          </a:prstGeom>
          <a:noFill/>
        </p:spPr>
        <p:txBody>
          <a:bodyPr wrap="square" tIns="91440" bIns="91440">
            <a:spAutoFit/>
          </a:bodyPr>
          <a:lstStyle/>
          <a:p>
            <a:pPr algn="l">
              <a:defRPr sz="1000" b="1" i="0">
                <a:solidFill>
                  <a:srgbClr val="06B6D4"/>
                </a:solidFill>
                <a:latin typeface="Calibri"/>
              </a:defRPr>
            </a:pPr>
            <a:r>
              <a:t>03 / MIXER CONFIGURATION</a:t>
            </a:r>
          </a:p>
        </p:txBody>
      </p:sp>
      <p:sp>
        <p:nvSpPr>
          <p:cNvPr id="4" name="TextBox 3"/>
          <p:cNvSpPr txBox="1"/>
          <p:nvPr/>
        </p:nvSpPr>
        <p:spPr>
          <a:xfrm>
            <a:off x="731520" y="548640"/>
            <a:ext cx="10058400" cy="731520"/>
          </a:xfrm>
          <a:prstGeom prst="rect">
            <a:avLst/>
          </a:prstGeom>
          <a:noFill/>
        </p:spPr>
        <p:txBody>
          <a:bodyPr wrap="square" tIns="91440" bIns="91440">
            <a:spAutoFit/>
          </a:bodyPr>
          <a:lstStyle/>
          <a:p>
            <a:pPr algn="l">
              <a:defRPr sz="2800" b="1" i="0">
                <a:solidFill>
                  <a:srgbClr val="F8FAFC"/>
                </a:solidFill>
                <a:latin typeface="Calibri"/>
              </a:defRPr>
            </a:pPr>
            <a:r>
              <a:t>Mixer Configuration: Faders &amp; Tape Protection</a:t>
            </a:r>
          </a:p>
        </p:txBody>
      </p:sp>
      <p:sp>
        <p:nvSpPr>
          <p:cNvPr id="5" name="Rectangle 4"/>
          <p:cNvSpPr/>
          <p:nvPr/>
        </p:nvSpPr>
        <p:spPr>
          <a:xfrm>
            <a:off x="731520" y="1280160"/>
            <a:ext cx="10728655" cy="18288"/>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5120640" cy="365760"/>
          </a:xfrm>
          <a:prstGeom prst="rect">
            <a:avLst/>
          </a:prstGeom>
          <a:noFill/>
        </p:spPr>
        <p:txBody>
          <a:bodyPr wrap="square" tIns="91440" bIns="91440">
            <a:spAutoFit/>
          </a:bodyPr>
          <a:lstStyle/>
          <a:p>
            <a:pPr algn="l">
              <a:defRPr sz="1600" b="1" i="0">
                <a:solidFill>
                  <a:srgbClr val="06B6D4"/>
                </a:solidFill>
                <a:latin typeface="Calibri"/>
              </a:defRPr>
            </a:pPr>
            <a:r>
              <a:t>FADER &amp; KNOB CALIBRATION</a:t>
            </a:r>
          </a:p>
        </p:txBody>
      </p:sp>
      <p:sp>
        <p:nvSpPr>
          <p:cNvPr id="8" name="TextBox 7"/>
          <p:cNvSpPr txBox="1"/>
          <p:nvPr/>
        </p:nvSpPr>
        <p:spPr>
          <a:xfrm>
            <a:off x="914400" y="2286000"/>
            <a:ext cx="5120640" cy="3657600"/>
          </a:xfrm>
          <a:prstGeom prst="rect">
            <a:avLst/>
          </a:prstGeom>
          <a:noFill/>
        </p:spPr>
        <p:txBody>
          <a:bodyPr wrap="square" lIns="137160" rIns="137160" tIns="137160" bIns="137160">
            <a:spAutoFit/>
          </a:bodyPr>
          <a:lstStyle/>
          <a:p>
            <a:pPr>
              <a:spcAft>
                <a:spcPts val="1000"/>
              </a:spcAft>
            </a:pPr>
            <a:r>
              <a:rPr b="1" sz="1300">
                <a:solidFill>
                  <a:srgbClr val="F8FAFC"/>
                </a:solidFill>
                <a:latin typeface="Calibri"/>
              </a:rPr>
              <a:t>[ ] The Tape Rule:</a:t>
            </a:r>
            <a:r>
              <a:rPr b="0" sz="1300">
                <a:solidFill>
                  <a:srgbClr val="94A3B8"/>
                </a:solidFill>
                <a:latin typeface="Calibri"/>
              </a:rPr>
              <a:t> Apply thick, neon orange tape over all master faders. Label it 'DO NOT TOUCH OR DIE.' This is 95% effective.</a:t>
            </a:r>
          </a:p>
          <a:p>
            <a:pPr>
              <a:spcAft>
                <a:spcPts val="1000"/>
              </a:spcAft>
            </a:pPr>
            <a:r>
              <a:rPr b="1" sz="1300">
                <a:solidFill>
                  <a:srgbClr val="F8FAFC"/>
                </a:solidFill>
                <a:latin typeface="Calibri"/>
              </a:rPr>
              <a:t>[ ] The Placebo Knob:</a:t>
            </a:r>
            <a:r>
              <a:rPr b="0" sz="1300">
                <a:solidFill>
                  <a:srgbClr val="94A3B8"/>
                </a:solidFill>
                <a:latin typeface="Calibri"/>
              </a:rPr>
              <a:t> Calibrate a knob labeled 'EQ' or 'Enhance' that is completely unwired. When a VIP complains, twist it slightly. They will thank you.</a:t>
            </a:r>
          </a:p>
          <a:p>
            <a:pPr>
              <a:spcAft>
                <a:spcPts val="1000"/>
              </a:spcAft>
            </a:pPr>
            <a:r>
              <a:rPr b="1" sz="1300">
                <a:solidFill>
                  <a:srgbClr val="F8FAFC"/>
                </a:solidFill>
                <a:latin typeface="Calibri"/>
              </a:rPr>
              <a:t>[ ] RF Interference Sweep:</a:t>
            </a:r>
            <a:r>
              <a:rPr b="0" sz="1300">
                <a:solidFill>
                  <a:srgbClr val="94A3B8"/>
                </a:solidFill>
                <a:latin typeface="Calibri"/>
              </a:rPr>
              <a:t> Sweep wireless microphone frequencies to ensure you are not picking up local truck driver CB radio gossip.</a:t>
            </a:r>
          </a:p>
          <a:p>
            <a:pPr>
              <a:spcAft>
                <a:spcPts val="1000"/>
              </a:spcAft>
            </a:pPr>
            <a:r>
              <a:rPr b="1" sz="1300">
                <a:solidFill>
                  <a:srgbClr val="F8FAFC"/>
                </a:solidFill>
                <a:latin typeface="Calibri"/>
              </a:rPr>
              <a:t>[ ] The Red Zone Rule:</a:t>
            </a:r>
            <a:r>
              <a:rPr b="0" sz="1300">
                <a:solidFill>
                  <a:srgbClr val="94A3B8"/>
                </a:solidFill>
                <a:latin typeface="Calibri"/>
              </a:rPr>
              <a:t> Keep individual channel faders below the red zone, unless you explicitly want to shake 40 years of ceiling dust onto the stage.</a:t>
            </a:r>
          </a:p>
        </p:txBody>
      </p:sp>
      <p:sp>
        <p:nvSpPr>
          <p:cNvPr id="9" name="Rounded Rectangle 8"/>
          <p:cNvSpPr/>
          <p:nvPr/>
        </p:nvSpPr>
        <p:spPr>
          <a:xfrm>
            <a:off x="6583680" y="1645920"/>
            <a:ext cx="484632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828800"/>
            <a:ext cx="4480560" cy="365760"/>
          </a:xfrm>
          <a:prstGeom prst="rect">
            <a:avLst/>
          </a:prstGeom>
          <a:noFill/>
        </p:spPr>
        <p:txBody>
          <a:bodyPr wrap="square" tIns="91440" bIns="91440">
            <a:spAutoFit/>
          </a:bodyPr>
          <a:lstStyle/>
          <a:p>
            <a:pPr algn="l">
              <a:defRPr sz="1400" b="1" i="0">
                <a:solidFill>
                  <a:srgbClr val="06B6D4"/>
                </a:solidFill>
                <a:latin typeface="Calibri"/>
              </a:defRPr>
            </a:pPr>
            <a:r>
              <a:t>FADER MATRIX DIAGNOSTIC</a:t>
            </a:r>
          </a:p>
        </p:txBody>
      </p:sp>
      <p:sp>
        <p:nvSpPr>
          <p:cNvPr id="11" name="Rectangle 10"/>
          <p:cNvSpPr/>
          <p:nvPr/>
        </p:nvSpPr>
        <p:spPr>
          <a:xfrm>
            <a:off x="7315200" y="2286000"/>
            <a:ext cx="73152" cy="274320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228600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78040" y="283464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338328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393192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78040" y="448056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78040" y="502920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3474720"/>
            <a:ext cx="530352" cy="228600"/>
          </a:xfrm>
          <a:prstGeom prst="rect">
            <a:avLst/>
          </a:prstGeom>
          <a:solidFill>
            <a:srgbClr val="06B6D4"/>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5120640"/>
            <a:ext cx="1371600" cy="274320"/>
          </a:xfrm>
          <a:prstGeom prst="rect">
            <a:avLst/>
          </a:prstGeom>
          <a:noFill/>
        </p:spPr>
        <p:txBody>
          <a:bodyPr wrap="square" tIns="91440" bIns="91440">
            <a:spAutoFit/>
          </a:bodyPr>
          <a:lstStyle/>
          <a:p>
            <a:pPr algn="ctr">
              <a:defRPr sz="1200" b="1" i="0">
                <a:solidFill>
                  <a:srgbClr val="F8FAFC"/>
                </a:solidFill>
                <a:latin typeface="Calibri"/>
              </a:defRPr>
            </a:pPr>
            <a:r>
              <a:t>Vocal</a:t>
            </a:r>
          </a:p>
        </p:txBody>
      </p:sp>
      <p:sp>
        <p:nvSpPr>
          <p:cNvPr id="20" name="Rectangle 19"/>
          <p:cNvSpPr/>
          <p:nvPr/>
        </p:nvSpPr>
        <p:spPr>
          <a:xfrm>
            <a:off x="8686800" y="2286000"/>
            <a:ext cx="73152" cy="274320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49640" y="228600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49640" y="283464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49640" y="338328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549640" y="393192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49640" y="448056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49640" y="502920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58200" y="2103120"/>
            <a:ext cx="530352" cy="228600"/>
          </a:xfrm>
          <a:prstGeom prst="rect">
            <a:avLst/>
          </a:prstGeom>
          <a:solidFill>
            <a:srgbClr val="F97316"/>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5120640"/>
            <a:ext cx="1371600" cy="274320"/>
          </a:xfrm>
          <a:prstGeom prst="rect">
            <a:avLst/>
          </a:prstGeom>
          <a:noFill/>
        </p:spPr>
        <p:txBody>
          <a:bodyPr wrap="square" tIns="91440" bIns="91440">
            <a:spAutoFit/>
          </a:bodyPr>
          <a:lstStyle/>
          <a:p>
            <a:pPr algn="ctr">
              <a:defRPr sz="1200" b="1" i="0">
                <a:solidFill>
                  <a:srgbClr val="F8FAFC"/>
                </a:solidFill>
                <a:latin typeface="Calibri"/>
              </a:defRPr>
            </a:pPr>
            <a:r>
              <a:t>Hum</a:t>
            </a:r>
          </a:p>
        </p:txBody>
      </p:sp>
      <p:sp>
        <p:nvSpPr>
          <p:cNvPr id="29" name="Rectangle 28"/>
          <p:cNvSpPr/>
          <p:nvPr/>
        </p:nvSpPr>
        <p:spPr>
          <a:xfrm>
            <a:off x="10058400" y="2286000"/>
            <a:ext cx="73152" cy="2743200"/>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21240" y="228600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21240" y="283464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921240" y="338328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21240" y="393192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21240" y="448056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21240" y="5029200"/>
            <a:ext cx="347472" cy="18288"/>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29800" y="4572000"/>
            <a:ext cx="530352" cy="228600"/>
          </a:xfrm>
          <a:prstGeom prst="rect">
            <a:avLst/>
          </a:prstGeom>
          <a:solidFill>
            <a:srgbClr val="94A3B8"/>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18320" y="5120640"/>
            <a:ext cx="1371600" cy="274320"/>
          </a:xfrm>
          <a:prstGeom prst="rect">
            <a:avLst/>
          </a:prstGeom>
          <a:noFill/>
        </p:spPr>
        <p:txBody>
          <a:bodyPr wrap="square" tIns="91440" bIns="91440">
            <a:spAutoFit/>
          </a:bodyPr>
          <a:lstStyle/>
          <a:p>
            <a:pPr algn="ctr">
              <a:defRPr sz="1200" b="1" i="0">
                <a:solidFill>
                  <a:srgbClr val="F8FAFC"/>
                </a:solidFill>
                <a:latin typeface="Calibri"/>
              </a:defRPr>
            </a:pPr>
            <a:r>
              <a:t>Hope</a:t>
            </a:r>
          </a:p>
        </p:txBody>
      </p:sp>
      <p:sp>
        <p:nvSpPr>
          <p:cNvPr id="38" name="TextBox 37"/>
          <p:cNvSpPr txBox="1"/>
          <p:nvPr/>
        </p:nvSpPr>
        <p:spPr>
          <a:xfrm>
            <a:off x="6766560" y="5486400"/>
            <a:ext cx="4480560" cy="548640"/>
          </a:xfrm>
          <a:prstGeom prst="rect">
            <a:avLst/>
          </a:prstGeom>
          <a:noFill/>
        </p:spPr>
        <p:txBody>
          <a:bodyPr wrap="square" tIns="91440" bIns="91440">
            <a:spAutoFit/>
          </a:bodyPr>
          <a:lstStyle/>
          <a:p>
            <a:pPr algn="ctr">
              <a:defRPr sz="1100" b="0" i="1">
                <a:solidFill>
                  <a:srgbClr val="F97316"/>
                </a:solidFill>
                <a:latin typeface="Calibri"/>
              </a:defRPr>
            </a:pPr>
            <a:r>
              <a:t>Status: Hum level locked at 100% for classic vintage corporate acoustic presence.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74320"/>
          </a:xfrm>
          <a:prstGeom prst="rect">
            <a:avLst/>
          </a:prstGeom>
          <a:noFill/>
        </p:spPr>
        <p:txBody>
          <a:bodyPr wrap="square" tIns="91440" bIns="91440">
            <a:spAutoFit/>
          </a:bodyPr>
          <a:lstStyle/>
          <a:p>
            <a:pPr algn="l">
              <a:defRPr sz="1000" b="1" i="0">
                <a:solidFill>
                  <a:srgbClr val="06B6D4"/>
                </a:solidFill>
                <a:latin typeface="Calibri"/>
              </a:defRPr>
            </a:pPr>
            <a:r>
              <a:t>04 / ENVIRONMENT CONTROL</a:t>
            </a:r>
          </a:p>
        </p:txBody>
      </p:sp>
      <p:sp>
        <p:nvSpPr>
          <p:cNvPr id="4" name="TextBox 3"/>
          <p:cNvSpPr txBox="1"/>
          <p:nvPr/>
        </p:nvSpPr>
        <p:spPr>
          <a:xfrm>
            <a:off x="731520" y="548640"/>
            <a:ext cx="10058400" cy="731520"/>
          </a:xfrm>
          <a:prstGeom prst="rect">
            <a:avLst/>
          </a:prstGeom>
          <a:noFill/>
        </p:spPr>
        <p:txBody>
          <a:bodyPr wrap="square" tIns="91440" bIns="91440">
            <a:spAutoFit/>
          </a:bodyPr>
          <a:lstStyle/>
          <a:p>
            <a:pPr algn="l">
              <a:defRPr sz="2800" b="1" i="0">
                <a:solidFill>
                  <a:srgbClr val="F8FAFC"/>
                </a:solidFill>
                <a:latin typeface="Calibri"/>
              </a:defRPr>
            </a:pPr>
            <a:r>
              <a:t>Stage Layout: Lighting &amp; Clicker Optimization</a:t>
            </a:r>
          </a:p>
        </p:txBody>
      </p:sp>
      <p:sp>
        <p:nvSpPr>
          <p:cNvPr id="5" name="Rectangle 4"/>
          <p:cNvSpPr/>
          <p:nvPr/>
        </p:nvSpPr>
        <p:spPr>
          <a:xfrm>
            <a:off x="731520" y="1280160"/>
            <a:ext cx="10728655" cy="18288"/>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365760"/>
          </a:xfrm>
          <a:prstGeom prst="rect">
            <a:avLst/>
          </a:prstGeom>
          <a:noFill/>
        </p:spPr>
        <p:txBody>
          <a:bodyPr wrap="square" tIns="91440" bIns="91440">
            <a:spAutoFit/>
          </a:bodyPr>
          <a:lstStyle/>
          <a:p>
            <a:pPr algn="l">
              <a:defRPr sz="1600" b="1" i="0">
                <a:solidFill>
                  <a:srgbClr val="06B6D4"/>
                </a:solidFill>
                <a:latin typeface="Calibri"/>
              </a:defRPr>
            </a:pPr>
            <a:r>
              <a:t>LIGHTING &amp; PLATFORM SETUP</a:t>
            </a:r>
          </a:p>
        </p:txBody>
      </p:sp>
      <p:sp>
        <p:nvSpPr>
          <p:cNvPr id="8" name="TextBox 7"/>
          <p:cNvSpPr txBox="1"/>
          <p:nvPr/>
        </p:nvSpPr>
        <p:spPr>
          <a:xfrm>
            <a:off x="914400" y="2286000"/>
            <a:ext cx="4846320" cy="3657600"/>
          </a:xfrm>
          <a:prstGeom prst="rect">
            <a:avLst/>
          </a:prstGeom>
          <a:noFill/>
        </p:spPr>
        <p:txBody>
          <a:bodyPr wrap="square" lIns="137160" rIns="137160" tIns="137160" bIns="137160">
            <a:spAutoFit/>
          </a:bodyPr>
          <a:lstStyle/>
          <a:p>
            <a:pPr>
              <a:spcAft>
                <a:spcPts val="1000"/>
              </a:spcAft>
            </a:pPr>
            <a:r>
              <a:rPr b="1" sz="1200">
                <a:solidFill>
                  <a:srgbClr val="F8FAFC"/>
                </a:solidFill>
                <a:latin typeface="Calibri"/>
              </a:rPr>
              <a:t>[ ] Retinal Burn Adjustment:</a:t>
            </a:r>
            <a:r>
              <a:rPr b="0" sz="1200">
                <a:solidFill>
                  <a:srgbClr val="94A3B8"/>
                </a:solidFill>
                <a:latin typeface="Calibri"/>
              </a:rPr>
              <a:t> Target the spotlight directly into the presenter's retinas, guaranteeing they cannot see their notes or the expressions of their bored audience.</a:t>
            </a:r>
          </a:p>
          <a:p>
            <a:pPr>
              <a:spcAft>
                <a:spcPts val="1000"/>
              </a:spcAft>
            </a:pPr>
            <a:r>
              <a:rPr b="1" sz="1200">
                <a:solidFill>
                  <a:srgbClr val="F8FAFC"/>
                </a:solidFill>
                <a:latin typeface="Calibri"/>
              </a:rPr>
              <a:t>[ ] Projector Washout:</a:t>
            </a:r>
            <a:r>
              <a:rPr b="0" sz="1200">
                <a:solidFill>
                  <a:srgbClr val="94A3B8"/>
                </a:solidFill>
                <a:latin typeface="Calibri"/>
              </a:rPr>
              <a:t> Ensure the floodlights directly above the projection screen are on full brightness, rendering all dark mode slides completely invisible.</a:t>
            </a:r>
          </a:p>
          <a:p>
            <a:pPr>
              <a:spcAft>
                <a:spcPts val="1000"/>
              </a:spcAft>
            </a:pPr>
            <a:r>
              <a:rPr b="1" sz="1200">
                <a:solidFill>
                  <a:srgbClr val="F8FAFC"/>
                </a:solidFill>
                <a:latin typeface="Calibri"/>
              </a:rPr>
              <a:t>[ ] Podium Security:</a:t>
            </a:r>
            <a:r>
              <a:rPr b="0" sz="1200">
                <a:solidFill>
                  <a:srgbClr val="94A3B8"/>
                </a:solidFill>
                <a:latin typeface="Calibri"/>
              </a:rPr>
              <a:t> Bolt the wooden podium to the floor to prevent a nervous presenter from dragging it off the stage like a security blanket.</a:t>
            </a:r>
          </a:p>
          <a:p>
            <a:pPr>
              <a:spcAft>
                <a:spcPts val="1000"/>
              </a:spcAft>
            </a:pPr>
            <a:r>
              <a:rPr b="1" sz="1200">
                <a:solidFill>
                  <a:srgbClr val="F8FAFC"/>
                </a:solidFill>
                <a:latin typeface="Calibri"/>
              </a:rPr>
              <a:t>[ ] The Black Hole Zone:</a:t>
            </a:r>
            <a:r>
              <a:rPr b="0" sz="1200">
                <a:solidFill>
                  <a:srgbClr val="94A3B8"/>
                </a:solidFill>
                <a:latin typeface="Calibri"/>
              </a:rPr>
              <a:t> Identify the specific 3-foot radius on stage where wireless lapel mic signals instantly vanish. Mark it with tape for presenter avoidance.</a:t>
            </a:r>
          </a:p>
        </p:txBody>
      </p:sp>
      <p:sp>
        <p:nvSpPr>
          <p:cNvPr id="9" name="Rounded Rectangle 8"/>
          <p:cNvSpPr/>
          <p:nvPr/>
        </p:nvSpPr>
        <p:spPr>
          <a:xfrm>
            <a:off x="6217920" y="1645920"/>
            <a:ext cx="521208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365760"/>
          </a:xfrm>
          <a:prstGeom prst="rect">
            <a:avLst/>
          </a:prstGeom>
          <a:noFill/>
        </p:spPr>
        <p:txBody>
          <a:bodyPr wrap="square" tIns="91440" bIns="91440">
            <a:spAutoFit/>
          </a:bodyPr>
          <a:lstStyle/>
          <a:p>
            <a:pPr algn="l">
              <a:defRPr sz="1600" b="1" i="0">
                <a:solidFill>
                  <a:srgbClr val="06B6D4"/>
                </a:solidFill>
                <a:latin typeface="Calibri"/>
              </a:defRPr>
            </a:pPr>
            <a:r>
              <a:t>ACOUSTIC &amp; CONTROL CALIBRATION</a:t>
            </a:r>
          </a:p>
        </p:txBody>
      </p:sp>
      <p:sp>
        <p:nvSpPr>
          <p:cNvPr id="11" name="TextBox 10"/>
          <p:cNvSpPr txBox="1"/>
          <p:nvPr/>
        </p:nvSpPr>
        <p:spPr>
          <a:xfrm>
            <a:off x="6400800" y="2286000"/>
            <a:ext cx="4846320" cy="3657600"/>
          </a:xfrm>
          <a:prstGeom prst="rect">
            <a:avLst/>
          </a:prstGeom>
          <a:noFill/>
        </p:spPr>
        <p:txBody>
          <a:bodyPr wrap="square" lIns="137160" rIns="137160" tIns="137160" bIns="137160">
            <a:spAutoFit/>
          </a:bodyPr>
          <a:lstStyle/>
          <a:p>
            <a:pPr>
              <a:spcAft>
                <a:spcPts val="1000"/>
              </a:spcAft>
            </a:pPr>
            <a:r>
              <a:rPr b="1" sz="1200">
                <a:solidFill>
                  <a:srgbClr val="F8FAFC"/>
                </a:solidFill>
                <a:latin typeface="Calibri"/>
              </a:rPr>
              <a:t>[ ] Empty Room Calibration:</a:t>
            </a:r>
            <a:r>
              <a:rPr b="0" sz="1200">
                <a:solidFill>
                  <a:srgbClr val="94A3B8"/>
                </a:solidFill>
                <a:latin typeface="Calibri"/>
              </a:rPr>
              <a:t> Calibrate audio delays for an empty room. This will be highly accurate, as only four people will attend the morning session.</a:t>
            </a:r>
          </a:p>
          <a:p>
            <a:pPr>
              <a:spcAft>
                <a:spcPts val="1000"/>
              </a:spcAft>
            </a:pPr>
            <a:r>
              <a:rPr b="1" sz="1200">
                <a:solidFill>
                  <a:srgbClr val="F8FAFC"/>
                </a:solidFill>
                <a:latin typeface="Calibri"/>
              </a:rPr>
              <a:t>[ ] The Clicker of Destiny:</a:t>
            </a:r>
            <a:r>
              <a:rPr b="0" sz="1200">
                <a:solidFill>
                  <a:srgbClr val="94A3B8"/>
                </a:solidFill>
                <a:latin typeface="Calibri"/>
              </a:rPr>
              <a:t> Test the clicker from the exact back row of the hall. It will work. When the presenter stands 5 feet away from the receiver, the battery will instantly die.</a:t>
            </a:r>
          </a:p>
          <a:p>
            <a:pPr>
              <a:spcAft>
                <a:spcPts val="1000"/>
              </a:spcAft>
            </a:pPr>
            <a:r>
              <a:rPr b="1" sz="1200">
                <a:solidFill>
                  <a:srgbClr val="F8FAFC"/>
                </a:solidFill>
                <a:latin typeface="Calibri"/>
              </a:rPr>
              <a:t>[ ] Laser Pointer Warning:</a:t>
            </a:r>
            <a:r>
              <a:rPr b="0" sz="1200">
                <a:solidFill>
                  <a:srgbClr val="94A3B8"/>
                </a:solidFill>
                <a:latin typeface="Calibri"/>
              </a:rPr>
              <a:t> Remind speakers that the laser pointer is for highlight details, not for feline entertainment or blinding the VP of Finance.</a:t>
            </a:r>
          </a:p>
          <a:p>
            <a:pPr>
              <a:spcAft>
                <a:spcPts val="1000"/>
              </a:spcAft>
            </a:pPr>
            <a:r>
              <a:rPr b="1" sz="1200">
                <a:solidFill>
                  <a:srgbClr val="F8FAFC"/>
                </a:solidFill>
                <a:latin typeface="Calibri"/>
              </a:rPr>
              <a:t>[ ] Ambient Noise Calibration:</a:t>
            </a:r>
            <a:r>
              <a:rPr b="0" sz="1200">
                <a:solidFill>
                  <a:srgbClr val="94A3B8"/>
                </a:solidFill>
                <a:latin typeface="Calibri"/>
              </a:rPr>
              <a:t> Fine-tune noise gates to filter out the sound of heavy ceramic coffee mugs clattering against tables and whispered gossip.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91B1B"/>
          </a:solidFill>
          <a:ln>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74320"/>
          </a:xfrm>
          <a:prstGeom prst="rect">
            <a:avLst/>
          </a:prstGeom>
          <a:noFill/>
        </p:spPr>
        <p:txBody>
          <a:bodyPr wrap="square" tIns="91440" bIns="91440">
            <a:spAutoFit/>
          </a:bodyPr>
          <a:lstStyle/>
          <a:p>
            <a:pPr algn="l">
              <a:defRPr sz="1000" b="1" i="0">
                <a:solidFill>
                  <a:srgbClr val="F8FAFC"/>
                </a:solidFill>
                <a:latin typeface="Calibri"/>
              </a:defRPr>
            </a:pPr>
            <a:r>
              <a:t>CRITICAL SYSTEM FAILURE // ESCAPE PROTOCOL</a:t>
            </a:r>
          </a:p>
        </p:txBody>
      </p:sp>
      <p:sp>
        <p:nvSpPr>
          <p:cNvPr id="4" name="TextBox 3"/>
          <p:cNvSpPr txBox="1"/>
          <p:nvPr/>
        </p:nvSpPr>
        <p:spPr>
          <a:xfrm>
            <a:off x="731520" y="548640"/>
            <a:ext cx="10058400" cy="731520"/>
          </a:xfrm>
          <a:prstGeom prst="rect">
            <a:avLst/>
          </a:prstGeom>
          <a:noFill/>
        </p:spPr>
        <p:txBody>
          <a:bodyPr wrap="square" tIns="91440" bIns="91440">
            <a:spAutoFit/>
          </a:bodyPr>
          <a:lstStyle/>
          <a:p>
            <a:pPr algn="l">
              <a:defRPr sz="2800" b="1" i="0">
                <a:solidFill>
                  <a:srgbClr val="F8FAFC"/>
                </a:solidFill>
                <a:latin typeface="Calibri"/>
              </a:defRPr>
            </a:pPr>
            <a:r>
              <a:t>Emergency Protocol: When Everything Fails</a:t>
            </a:r>
          </a:p>
        </p:txBody>
      </p:sp>
      <p:sp>
        <p:nvSpPr>
          <p:cNvPr id="5" name="Rectangle 4"/>
          <p:cNvSpPr/>
          <p:nvPr/>
        </p:nvSpPr>
        <p:spPr>
          <a:xfrm>
            <a:off x="731520" y="1280160"/>
            <a:ext cx="10728655" cy="18288"/>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2011680"/>
          </a:xfrm>
          <a:prstGeom prst="roundRect">
            <a:avLst/>
          </a:prstGeom>
          <a:solidFill>
            <a:srgbClr val="B91C1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274320"/>
          </a:xfrm>
          <a:prstGeom prst="rect">
            <a:avLst/>
          </a:prstGeom>
          <a:noFill/>
        </p:spPr>
        <p:txBody>
          <a:bodyPr wrap="square" tIns="91440" bIns="91440">
            <a:spAutoFit/>
          </a:bodyPr>
          <a:lstStyle/>
          <a:p>
            <a:pPr algn="l">
              <a:defRPr sz="1300" b="1" i="0">
                <a:solidFill>
                  <a:srgbClr val="F8FAFC"/>
                </a:solidFill>
                <a:latin typeface="Calibri"/>
              </a:defRPr>
            </a:pPr>
            <a:r>
              <a:t>1. THE IT SHRUG</a:t>
            </a:r>
          </a:p>
        </p:txBody>
      </p:sp>
      <p:sp>
        <p:nvSpPr>
          <p:cNvPr id="8" name="TextBox 7"/>
          <p:cNvSpPr txBox="1"/>
          <p:nvPr/>
        </p:nvSpPr>
        <p:spPr>
          <a:xfrm>
            <a:off x="914400" y="2011680"/>
            <a:ext cx="4754880" cy="1463040"/>
          </a:xfrm>
          <a:prstGeom prst="rect">
            <a:avLst/>
          </a:prstGeom>
          <a:noFill/>
        </p:spPr>
        <p:txBody>
          <a:bodyPr wrap="square" tIns="91440" bIns="91440">
            <a:spAutoFit/>
          </a:bodyPr>
          <a:lstStyle/>
          <a:p>
            <a:pPr algn="l">
              <a:defRPr sz="1100" b="0" i="0">
                <a:solidFill>
                  <a:srgbClr val="F8FAFC"/>
                </a:solidFill>
                <a:latin typeface="Calibri"/>
              </a:defRPr>
            </a:pPr>
            <a:r>
              <a:t>Cross your arms, shake your head slowly, and mutter: 'Looks like a DHCP lease expiration in the subnet mask.' The audience will not understand, but they will nod in agreement.</a:t>
            </a:r>
          </a:p>
        </p:txBody>
      </p:sp>
      <p:sp>
        <p:nvSpPr>
          <p:cNvPr id="9" name="Rounded Rectangle 8"/>
          <p:cNvSpPr/>
          <p:nvPr/>
        </p:nvSpPr>
        <p:spPr>
          <a:xfrm>
            <a:off x="6309360" y="1645920"/>
            <a:ext cx="5120640" cy="2011680"/>
          </a:xfrm>
          <a:prstGeom prst="roundRect">
            <a:avLst/>
          </a:prstGeom>
          <a:solidFill>
            <a:srgbClr val="B91C1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37360"/>
            <a:ext cx="4754880" cy="274320"/>
          </a:xfrm>
          <a:prstGeom prst="rect">
            <a:avLst/>
          </a:prstGeom>
          <a:noFill/>
        </p:spPr>
        <p:txBody>
          <a:bodyPr wrap="square" tIns="91440" bIns="91440">
            <a:spAutoFit/>
          </a:bodyPr>
          <a:lstStyle/>
          <a:p>
            <a:pPr algn="l">
              <a:defRPr sz="1300" b="1" i="0">
                <a:solidFill>
                  <a:srgbClr val="F8FAFC"/>
                </a:solidFill>
                <a:latin typeface="Calibri"/>
              </a:defRPr>
            </a:pPr>
            <a:r>
              <a:t>2. THE SACRED POWER CYCLE</a:t>
            </a:r>
          </a:p>
        </p:txBody>
      </p:sp>
      <p:sp>
        <p:nvSpPr>
          <p:cNvPr id="11" name="TextBox 10"/>
          <p:cNvSpPr txBox="1"/>
          <p:nvPr/>
        </p:nvSpPr>
        <p:spPr>
          <a:xfrm>
            <a:off x="6492240" y="2011680"/>
            <a:ext cx="4754880" cy="1463040"/>
          </a:xfrm>
          <a:prstGeom prst="rect">
            <a:avLst/>
          </a:prstGeom>
          <a:noFill/>
        </p:spPr>
        <p:txBody>
          <a:bodyPr wrap="square" tIns="91440" bIns="91440">
            <a:spAutoFit/>
          </a:bodyPr>
          <a:lstStyle/>
          <a:p>
            <a:pPr algn="l">
              <a:defRPr sz="1100" b="0" i="0">
                <a:solidFill>
                  <a:srgbClr val="F8FAFC"/>
                </a:solidFill>
                <a:latin typeface="Calibri"/>
              </a:defRPr>
            </a:pPr>
            <a:r>
              <a:t>Turn the system completely off. Wait exactly 10 seconds (the sacred standard). Turn it back on. If it works, call it a 'proactive micro-kernel hardware defragmentation.'</a:t>
            </a:r>
          </a:p>
        </p:txBody>
      </p:sp>
      <p:sp>
        <p:nvSpPr>
          <p:cNvPr id="12" name="Rounded Rectangle 11"/>
          <p:cNvSpPr/>
          <p:nvPr/>
        </p:nvSpPr>
        <p:spPr>
          <a:xfrm>
            <a:off x="731520" y="3931920"/>
            <a:ext cx="5120640" cy="2011680"/>
          </a:xfrm>
          <a:prstGeom prst="roundRect">
            <a:avLst/>
          </a:prstGeom>
          <a:solidFill>
            <a:srgbClr val="B91C1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23360"/>
            <a:ext cx="4754880" cy="274320"/>
          </a:xfrm>
          <a:prstGeom prst="rect">
            <a:avLst/>
          </a:prstGeom>
          <a:noFill/>
        </p:spPr>
        <p:txBody>
          <a:bodyPr wrap="square" tIns="91440" bIns="91440">
            <a:spAutoFit/>
          </a:bodyPr>
          <a:lstStyle/>
          <a:p>
            <a:pPr algn="l">
              <a:defRPr sz="1300" b="1" i="0">
                <a:solidFill>
                  <a:srgbClr val="F8FAFC"/>
                </a:solidFill>
                <a:latin typeface="Calibri"/>
              </a:defRPr>
            </a:pPr>
            <a:r>
              <a:t>3. HARDWARE DEFLECTION</a:t>
            </a:r>
          </a:p>
        </p:txBody>
      </p:sp>
      <p:sp>
        <p:nvSpPr>
          <p:cNvPr id="14" name="TextBox 13"/>
          <p:cNvSpPr txBox="1"/>
          <p:nvPr/>
        </p:nvSpPr>
        <p:spPr>
          <a:xfrm>
            <a:off x="914400" y="4297680"/>
            <a:ext cx="4754880" cy="1463040"/>
          </a:xfrm>
          <a:prstGeom prst="rect">
            <a:avLst/>
          </a:prstGeom>
          <a:noFill/>
        </p:spPr>
        <p:txBody>
          <a:bodyPr wrap="square" tIns="91440" bIns="91440">
            <a:spAutoFit/>
          </a:bodyPr>
          <a:lstStyle/>
          <a:p>
            <a:pPr algn="l">
              <a:defRPr sz="1100" b="0" i="0">
                <a:solidFill>
                  <a:srgbClr val="F8FAFC"/>
                </a:solidFill>
                <a:latin typeface="Calibri"/>
              </a:defRPr>
            </a:pPr>
            <a:r>
              <a:t>Blame the HDMI connector purity. Say: 'This cable has gold plating, but the internal copper purity is only 99.9%. We need at least 99.999% for high-density EDID streams.'</a:t>
            </a:r>
          </a:p>
        </p:txBody>
      </p:sp>
      <p:sp>
        <p:nvSpPr>
          <p:cNvPr id="15" name="Rounded Rectangle 14"/>
          <p:cNvSpPr/>
          <p:nvPr/>
        </p:nvSpPr>
        <p:spPr>
          <a:xfrm>
            <a:off x="6309360" y="3931920"/>
            <a:ext cx="5120640" cy="2011680"/>
          </a:xfrm>
          <a:prstGeom prst="roundRect">
            <a:avLst/>
          </a:prstGeom>
          <a:solidFill>
            <a:srgbClr val="B91C1C"/>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023360"/>
            <a:ext cx="4754880" cy="274320"/>
          </a:xfrm>
          <a:prstGeom prst="rect">
            <a:avLst/>
          </a:prstGeom>
          <a:noFill/>
        </p:spPr>
        <p:txBody>
          <a:bodyPr wrap="square" tIns="91440" bIns="91440">
            <a:spAutoFit/>
          </a:bodyPr>
          <a:lstStyle/>
          <a:p>
            <a:pPr algn="l">
              <a:defRPr sz="1300" b="1" i="0">
                <a:solidFill>
                  <a:srgbClr val="F8FAFC"/>
                </a:solidFill>
                <a:latin typeface="Calibri"/>
              </a:defRPr>
            </a:pPr>
            <a:r>
              <a:t>4. RETRO ACOUSTIC BACKUP</a:t>
            </a:r>
          </a:p>
        </p:txBody>
      </p:sp>
      <p:sp>
        <p:nvSpPr>
          <p:cNvPr id="17" name="TextBox 16"/>
          <p:cNvSpPr txBox="1"/>
          <p:nvPr/>
        </p:nvSpPr>
        <p:spPr>
          <a:xfrm>
            <a:off x="6492240" y="4297680"/>
            <a:ext cx="4754880" cy="1463040"/>
          </a:xfrm>
          <a:prstGeom prst="rect">
            <a:avLst/>
          </a:prstGeom>
          <a:noFill/>
        </p:spPr>
        <p:txBody>
          <a:bodyPr wrap="square" tIns="91440" bIns="91440">
            <a:spAutoFit/>
          </a:bodyPr>
          <a:lstStyle/>
          <a:p>
            <a:pPr algn="l">
              <a:defRPr sz="1100" b="0" i="0">
                <a:solidFill>
                  <a:srgbClr val="F8FAFC"/>
                </a:solidFill>
                <a:latin typeface="Calibri"/>
              </a:defRPr>
            </a:pPr>
            <a:r>
              <a:t>In case of total blackout, hand the presenter a megaphone from the 1990s and a whiteboard. Tell the client it is a 'highly interactive, distraction-free brainstorm workshop.'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74320"/>
          </a:xfrm>
          <a:prstGeom prst="rect">
            <a:avLst/>
          </a:prstGeom>
          <a:noFill/>
        </p:spPr>
        <p:txBody>
          <a:bodyPr wrap="square" tIns="91440" bIns="91440">
            <a:spAutoFit/>
          </a:bodyPr>
          <a:lstStyle/>
          <a:p>
            <a:pPr algn="l">
              <a:defRPr sz="1000" b="1" i="0">
                <a:solidFill>
                  <a:srgbClr val="06B6D4"/>
                </a:solidFill>
                <a:latin typeface="Calibri"/>
              </a:defRPr>
            </a:pPr>
            <a:r>
              <a:t>05 / SYSTEM SIGN-OFF</a:t>
            </a:r>
          </a:p>
        </p:txBody>
      </p:sp>
      <p:sp>
        <p:nvSpPr>
          <p:cNvPr id="4" name="TextBox 3"/>
          <p:cNvSpPr txBox="1"/>
          <p:nvPr/>
        </p:nvSpPr>
        <p:spPr>
          <a:xfrm>
            <a:off x="731520" y="548640"/>
            <a:ext cx="10058400" cy="731520"/>
          </a:xfrm>
          <a:prstGeom prst="rect">
            <a:avLst/>
          </a:prstGeom>
          <a:noFill/>
        </p:spPr>
        <p:txBody>
          <a:bodyPr wrap="square" tIns="91440" bIns="91440">
            <a:spAutoFit/>
          </a:bodyPr>
          <a:lstStyle/>
          <a:p>
            <a:pPr algn="l">
              <a:defRPr sz="2800" b="1" i="0">
                <a:solidFill>
                  <a:srgbClr val="F8FAFC"/>
                </a:solidFill>
                <a:latin typeface="Calibri"/>
              </a:defRPr>
            </a:pPr>
            <a:r>
              <a:t>AV Readiness Certification &amp; Sign-off</a:t>
            </a:r>
          </a:p>
        </p:txBody>
      </p:sp>
      <p:sp>
        <p:nvSpPr>
          <p:cNvPr id="5" name="Rectangle 4"/>
          <p:cNvSpPr/>
          <p:nvPr/>
        </p:nvSpPr>
        <p:spPr>
          <a:xfrm>
            <a:off x="731520" y="1280160"/>
            <a:ext cx="10728655" cy="18288"/>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5120640" cy="365760"/>
          </a:xfrm>
          <a:prstGeom prst="rect">
            <a:avLst/>
          </a:prstGeom>
          <a:noFill/>
        </p:spPr>
        <p:txBody>
          <a:bodyPr wrap="square" tIns="91440" bIns="91440">
            <a:spAutoFit/>
          </a:bodyPr>
          <a:lstStyle/>
          <a:p>
            <a:pPr algn="l">
              <a:defRPr sz="1600" b="1" i="0">
                <a:solidFill>
                  <a:srgbClr val="06B6D4"/>
                </a:solidFill>
                <a:latin typeface="Calibri"/>
              </a:defRPr>
            </a:pPr>
            <a:r>
              <a:t>FINAL SYSTEM CHECKLIST</a:t>
            </a:r>
          </a:p>
        </p:txBody>
      </p:sp>
      <p:sp>
        <p:nvSpPr>
          <p:cNvPr id="8" name="TextBox 7"/>
          <p:cNvSpPr txBox="1"/>
          <p:nvPr/>
        </p:nvSpPr>
        <p:spPr>
          <a:xfrm>
            <a:off x="914400" y="2286000"/>
            <a:ext cx="5120640" cy="3657600"/>
          </a:xfrm>
          <a:prstGeom prst="rect">
            <a:avLst/>
          </a:prstGeom>
          <a:noFill/>
        </p:spPr>
        <p:txBody>
          <a:bodyPr wrap="square" lIns="137160" rIns="137160" tIns="137160" bIns="137160">
            <a:spAutoFit/>
          </a:bodyPr>
          <a:lstStyle/>
          <a:p>
            <a:pPr>
              <a:spcAft>
                <a:spcPts val="1000"/>
              </a:spcAft>
              <a:defRPr sz="1300" b="0">
                <a:solidFill>
                  <a:srgbClr val="F8FAFC"/>
                </a:solidFill>
                <a:latin typeface="Calibri"/>
              </a:defRPr>
            </a:pPr>
            <a:r>
              <a:t>[ ] Audio hum is at a tolerable 'old refrigerator' decibel level, creating a cozy ambient white noise.</a:t>
            </a:r>
          </a:p>
          <a:p>
            <a:pPr>
              <a:spcAft>
                <a:spcPts val="1000"/>
              </a:spcAft>
              <a:defRPr sz="1300" b="0">
                <a:solidFill>
                  <a:srgbClr val="F8FAFC"/>
                </a:solidFill>
                <a:latin typeface="Calibri"/>
              </a:defRPr>
            </a:pPr>
            <a:r>
              <a:t>[ ] Projector display has been physically slapped exactly once to fix the purple color tint.</a:t>
            </a:r>
          </a:p>
          <a:p>
            <a:pPr>
              <a:spcAft>
                <a:spcPts val="1000"/>
              </a:spcAft>
              <a:defRPr sz="1300" b="0">
                <a:solidFill>
                  <a:srgbClr val="F8FAFC"/>
                </a:solidFill>
                <a:latin typeface="Calibri"/>
              </a:defRPr>
            </a:pPr>
            <a:r>
              <a:t>[ ] Presenter has been briefed that walking in front of the lens makes them look like a shadow puppet.</a:t>
            </a:r>
          </a:p>
          <a:p>
            <a:pPr>
              <a:spcAft>
                <a:spcPts val="1000"/>
              </a:spcAft>
              <a:defRPr sz="1300" b="0">
                <a:solidFill>
                  <a:srgbClr val="F8FAFC"/>
                </a:solidFill>
                <a:latin typeface="Calibri"/>
              </a:defRPr>
            </a:pPr>
            <a:r>
              <a:t>[ ] The spare AA battery stash contains at least two functional batteries (highly statistically unlikely).</a:t>
            </a:r>
          </a:p>
          <a:p>
            <a:pPr>
              <a:spcAft>
                <a:spcPts val="1000"/>
              </a:spcAft>
              <a:defRPr sz="1300" b="0">
                <a:solidFill>
                  <a:srgbClr val="F8FAFC"/>
                </a:solidFill>
                <a:latin typeface="Calibri"/>
              </a:defRPr>
            </a:pPr>
            <a:r>
              <a:t>[ ] The building HVAC rumble matches the 60Hz hum frequency, establishing a beautiful resonant harmony.</a:t>
            </a:r>
          </a:p>
        </p:txBody>
      </p:sp>
      <p:sp>
        <p:nvSpPr>
          <p:cNvPr id="9" name="Rounded Rectangle 8"/>
          <p:cNvSpPr/>
          <p:nvPr/>
        </p:nvSpPr>
        <p:spPr>
          <a:xfrm>
            <a:off x="6583680" y="1645920"/>
            <a:ext cx="4846320" cy="457200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828800"/>
            <a:ext cx="4480560" cy="365760"/>
          </a:xfrm>
          <a:prstGeom prst="rect">
            <a:avLst/>
          </a:prstGeom>
          <a:noFill/>
        </p:spPr>
        <p:txBody>
          <a:bodyPr wrap="square" tIns="91440" bIns="91440">
            <a:spAutoFit/>
          </a:bodyPr>
          <a:lstStyle/>
          <a:p>
            <a:pPr algn="l">
              <a:defRPr sz="1400" b="1" i="0">
                <a:solidFill>
                  <a:srgbClr val="06B6D4"/>
                </a:solidFill>
                <a:latin typeface="Calibri"/>
              </a:defRPr>
            </a:pPr>
            <a:r>
              <a:t>OFFICIAL VERIFICATION</a:t>
            </a:r>
          </a:p>
        </p:txBody>
      </p:sp>
      <p:sp>
        <p:nvSpPr>
          <p:cNvPr id="11" name="TextBox 10"/>
          <p:cNvSpPr txBox="1"/>
          <p:nvPr/>
        </p:nvSpPr>
        <p:spPr>
          <a:xfrm>
            <a:off x="6766560" y="2286000"/>
            <a:ext cx="4480560" cy="3657600"/>
          </a:xfrm>
          <a:prstGeom prst="rect">
            <a:avLst/>
          </a:prstGeom>
          <a:noFill/>
        </p:spPr>
        <p:txBody>
          <a:bodyPr wrap="square" tIns="91440" bIns="91440">
            <a:spAutoFit/>
          </a:bodyPr>
          <a:lstStyle/>
          <a:p>
            <a:pPr algn="l">
              <a:defRPr sz="1200" b="0" i="0">
                <a:solidFill>
                  <a:srgbClr val="F8FAFC"/>
                </a:solidFill>
                <a:latin typeface="Calibri"/>
              </a:defRPr>
            </a:pPr>
            <a:r>
              <a:t>AV Technician Signature (who will be blamed anyway):</a:t>
            </a:r>
            <a:br/>
            <a:r>
              <a:t>X __________________________________________________</a:t>
            </a:r>
            <a:br/>
            <a:br/>
            <a:br/>
            <a:r>
              <a:t>Presenter Signature (who ignored all setup instructions):</a:t>
            </a:r>
            <a:br/>
            <a:r>
              <a:t>X __________________________________________________</a:t>
            </a:r>
            <a:br/>
            <a:br/>
            <a:br/>
            <a:r>
              <a:t>The Ground Loop Hum Signature (Permanent Resident):</a:t>
            </a:r>
            <a:br/>
            <a:r>
              <a:t>X __________________________________________________</a:t>
            </a:r>
            <a:br/>
            <a:br/>
            <a:br/>
            <a:r>
              <a:t>Hum Frequency Selected:</a:t>
            </a:r>
            <a:br/>
            <a:r>
              <a:t>[X] 60 Hz (Standard US)    [ ] 50 Hz (Standard EU)    [ ] Mystery Buzz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