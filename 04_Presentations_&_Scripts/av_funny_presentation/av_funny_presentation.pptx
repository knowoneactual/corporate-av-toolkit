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4936748-E046-4897-8772-7680263D854B}"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sldImg"/>
          </p:nvPr>
        </p:nvSpPr>
        <p:spPr>
          <a:xfrm>
            <a:off x="1143000" y="685800"/>
            <a:ext cx="4571640" cy="3428640"/>
          </a:xfrm>
          <a:prstGeom prst="rect">
            <a:avLst/>
          </a:prstGeom>
          <a:ln w="0">
            <a:noFill/>
          </a:ln>
        </p:spPr>
      </p:sp>
      <p:sp>
        <p:nvSpPr>
          <p:cNvPr id="18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WELCOME / SPEAKER PROMPT (0:00 - 0:50)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Hello, everyone, and welcome! Today I am going to answer the single most terrifying question any presenter can face: 'Why should you listen to me?' Now, you might think it is because of my credentials, my years of experience, or my winning smile. But the real answer is much simpler: because my microphone is actually turned on, the volume is adjusted correctly, and the high-frequency feedback has not yet induced a fight-or-flight response in the front row.</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If you can hear my voice clearly right now, that alone puts me in the top ten percent of speakers in the world. Also, let's take this moment to look down and make sure the floor confidence monitor is displaying these speaker notes correctly. If it isn't... well, I am currently reading a blank screen and will have to resort to making wild hand gestures. Let's move on.</a:t>
            </a:r>
            <a:endParaRPr lang="en-US" sz="2000" b="0" u="none" strike="noStrike">
              <a:solidFill>
                <a:srgbClr val="000000"/>
              </a:solidFill>
              <a:effectLst/>
              <a:uFillTx/>
              <a:latin typeface="Arial"/>
            </a:endParaRPr>
          </a:p>
        </p:txBody>
      </p:sp>
      <p:sp>
        <p:nvSpPr>
          <p:cNvPr id="185"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574E7E5-077B-43D2-9D3B-A6BCA660A5F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1143000" y="685800"/>
            <a:ext cx="4571640" cy="3428640"/>
          </a:xfrm>
          <a:prstGeom prst="rect">
            <a:avLst/>
          </a:prstGeom>
          <a:ln w="0">
            <a:noFill/>
          </a:ln>
        </p:spPr>
      </p:sp>
      <p:sp>
        <p:nvSpPr>
          <p:cNvPr id="18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AUDIO CHECKLIST / SPEAKER PROMPT (0:50 - 1:40)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Let's dive into Chapter One: Sound. Why should you listen to me? Well, because I am not committing the classic microphone offenses. </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First: the dreaded 'Mic Tap.' Presenters love walking up, slapping the mic, and asking, 'Is this thing on?' while the sound technician in the back curls into the fetal position. Then we have the Ventriloquists. These are speakers who hold a handheld microphone down at their belly button or clip a lapel mic to their belt, assuming their stomach speaks fluent English. Keep the microphone close to your chin, folks!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And finally: the Feedback Dance. If you walk directly in front of the main house speakers while wearing a live lapel mic, you will trigger a high-pitched shriek. If feedback begins, do not panic. Do not look at the soundboard. Just look accusingly at the ceiling vents. The audience will assume it's the air conditioning, and you will preserve your authority. Next slide, please.</a:t>
            </a:r>
            <a:endParaRPr lang="en-US" sz="2000" b="0" u="none" strike="noStrike">
              <a:solidFill>
                <a:srgbClr val="000000"/>
              </a:solidFill>
              <a:effectLst/>
              <a:uFillTx/>
              <a:latin typeface="Arial"/>
            </a:endParaRPr>
          </a:p>
        </p:txBody>
      </p:sp>
      <p:sp>
        <p:nvSpPr>
          <p:cNvPr id="188"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05D48AC-154F-4B07-AC68-5E6E10ADF29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sldImg"/>
          </p:nvPr>
        </p:nvSpPr>
        <p:spPr>
          <a:xfrm>
            <a:off x="1143000" y="685800"/>
            <a:ext cx="4571640" cy="3428640"/>
          </a:xfrm>
          <a:prstGeom prst="rect">
            <a:avLst/>
          </a:prstGeom>
          <a:ln w="0">
            <a:noFill/>
          </a:ln>
        </p:spPr>
      </p:sp>
      <p:sp>
        <p:nvSpPr>
          <p:cNvPr id="19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VIDEO / SPEAKER PROMPT (1:40 - 2:30)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Let's move to Chapter Two: Video and the Dongle Roulette. Why should you listen to me? Because I am actually displaying my slides without a catastrophic resolution meltdown.</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Every presenter brings a laptop, and every presenter assumes the stage has their exact plug. This triggers Dongle Roulette—stacking adapters together like a Lego set until the signal passes through HDMI, USB-C, and VGA. Then comes the aspect ratio stretch. If I look slightly wider on screen, it is not my weight—it's the projector stretching my 16:9 widescreen slides into 4:3. Also, let's remember the classic presenter quote: 'I swear it worked in my hotel room!' Yes, because in your room you were connected to your local hard drive, and now you're trying to play an embedded 4K video over the convention center's guest Wi-Fi. If my slides are showing, you should listen to me. If they freeze, just look at the confidence monitor and keep going.</a:t>
            </a:r>
            <a:endParaRPr lang="en-US" sz="2000" b="0" u="none" strike="noStrike">
              <a:solidFill>
                <a:srgbClr val="000000"/>
              </a:solidFill>
              <a:effectLst/>
              <a:uFillTx/>
              <a:latin typeface="Arial"/>
            </a:endParaRPr>
          </a:p>
        </p:txBody>
      </p:sp>
      <p:sp>
        <p:nvSpPr>
          <p:cNvPr id="191"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A849332-28CE-49F4-A8E2-15BC92F0925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sldImg"/>
          </p:nvPr>
        </p:nvSpPr>
        <p:spPr>
          <a:xfrm>
            <a:off x="1143000" y="685800"/>
            <a:ext cx="4571640" cy="3428640"/>
          </a:xfrm>
          <a:prstGeom prst="rect">
            <a:avLst/>
          </a:prstGeom>
          <a:ln w="0">
            <a:noFill/>
          </a:ln>
        </p:spPr>
      </p:sp>
      <p:sp>
        <p:nvSpPr>
          <p:cNvPr id="19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CONFIDENCE MONITOR / SPEAKER PROMPT (2:30 - 3:20)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Chapter Three: The Confidence Monitor. Why should you listen to me? Because I am looking at you, not at the giant screen behind my head. </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standard presenter trope is the 'Owl Turn.' This is when a speaker stands on stage, spins their back to the crowd, and stares blankly at their own slides like they are looking at a solar eclipse. It ruins all engagement. The cure is the confidence monitor—the floor screen. If the AV team has set it up right, I can see my slides, a giant timer counting down my remaining minutes of dignity, and the exact speaker notes I am reading right now. It lets me pretend I'm giving a spontaneous, brilliant lecture while in reality, I am reading off a teleprompter at my feet. If you see me staring intently at the floor, I'm not praying—I'm just reading Slide 4. Let's move to the Q&amp;A.</a:t>
            </a:r>
            <a:endParaRPr lang="en-US" sz="2000" b="0" u="none" strike="noStrike">
              <a:solidFill>
                <a:srgbClr val="000000"/>
              </a:solidFill>
              <a:effectLst/>
              <a:uFillTx/>
              <a:latin typeface="Arial"/>
            </a:endParaRPr>
          </a:p>
        </p:txBody>
      </p:sp>
      <p:sp>
        <p:nvSpPr>
          <p:cNvPr id="194"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76D696F-B475-4A71-BE03-00845F8473B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sldImg"/>
          </p:nvPr>
        </p:nvSpPr>
        <p:spPr>
          <a:xfrm>
            <a:off x="1143000" y="685800"/>
            <a:ext cx="4571640" cy="3428640"/>
          </a:xfrm>
          <a:prstGeom prst="rect">
            <a:avLst/>
          </a:prstGeom>
          <a:ln w="0">
            <a:noFill/>
          </a:ln>
        </p:spPr>
      </p:sp>
      <p:sp>
        <p:nvSpPr>
          <p:cNvPr id="19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Q&amp;A SESSION / SPEAKER PROMPT (3:20 - 4:10)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Chapter Four: Q&amp;A. The ultimate test of why you should listen to me. This is where the presentation enters the wilderness. </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absolute classic trope is the audience member who raises their hand, grabs the microphone, and declares: 'This is more of a comment than a question.' They then proceed to outline their personal PhD thesis. Another hazard is the 'shouter'—the person who refuses to wait for the mic runner, yells their question, and leaves the virtual live stream audience in complete silence. </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As the presenter, my job is to repeat the question so the recording catches it, pretend I understood it, and answer it before the giant digital clock at my feet turns bright red. If we survive the Q&amp;A without a laptop crash or a wireless signal cutout, we have successfully run the AV gauntlet. Let's wrap up.</a:t>
            </a:r>
            <a:endParaRPr lang="en-US" sz="2000" b="0" u="none" strike="noStrike">
              <a:solidFill>
                <a:srgbClr val="000000"/>
              </a:solidFill>
              <a:effectLst/>
              <a:uFillTx/>
              <a:latin typeface="Arial"/>
            </a:endParaRPr>
          </a:p>
        </p:txBody>
      </p:sp>
      <p:sp>
        <p:nvSpPr>
          <p:cNvPr id="197"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3956762-C9E3-41F3-AC67-AB2594B15EE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sldImg"/>
          </p:nvPr>
        </p:nvSpPr>
        <p:spPr>
          <a:xfrm>
            <a:off x="1143000" y="685800"/>
            <a:ext cx="4571640" cy="3428640"/>
          </a:xfrm>
          <a:prstGeom prst="rect">
            <a:avLst/>
          </a:prstGeom>
          <a:ln w="0">
            <a:noFill/>
          </a:ln>
        </p:spPr>
      </p:sp>
      <p:sp>
        <p:nvSpPr>
          <p:cNvPr id="19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CONCLUSION / SPEAKER PROMPT (4:10 - 5:00)</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In conclusion: why did you listen to me today? Not because of my slides, but because of the AV crew. The microphone didn't cut out, the video played at the correct aspect ratio, and the confidence monitor kept me from turning around and showing you the back of my head. </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AV crew holds the ultimate power. They can make any speaker look like a global visionary, or they can accidentally leave a fader open and let the room hear you complaining about the backstage coffee. The next time you see a technician taping down cables or tweaking faders, go buy them a coffee. They are the unsung heroes of corporate sanity. </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Thank you all, and please: remember to return your wireless clicker to the podium!</a:t>
            </a:r>
            <a:endParaRPr lang="en-US" sz="2000" b="0" u="none" strike="noStrike">
              <a:solidFill>
                <a:srgbClr val="000000"/>
              </a:solidFill>
              <a:effectLst/>
              <a:uFillTx/>
              <a:latin typeface="Arial"/>
            </a:endParaRPr>
          </a:p>
        </p:txBody>
      </p:sp>
      <p:sp>
        <p:nvSpPr>
          <p:cNvPr id="200"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B0815E8-9E1B-46F4-B10F-24E6EA027FC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CFEA7D5-4EE3-4737-BB5F-EDD0EE8B82F7}" type="slidenum">
              <a:rPr lang="en-US" sz="1200" b="0" u="none" strike="noStrike">
                <a:solidFill>
                  <a:schemeClr val="dk1">
                    <a:tint val="75000"/>
                  </a:schemeClr>
                </a:solidFill>
                <a:effectLst/>
                <a:uFillTx/>
                <a:latin typeface="Calibri"/>
              </a:rPr>
              <a:t>2</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F589863-0FEC-453F-83D1-93BEB41724E7}" type="slidenum">
              <a:rPr lang="en-US" sz="1200" b="0" u="none" strike="noStrike">
                <a:solidFill>
                  <a:schemeClr val="dk1">
                    <a:tint val="75000"/>
                  </a:schemeClr>
                </a:solidFill>
                <a:effectLst/>
                <a:uFillTx/>
                <a:latin typeface="Calibri"/>
              </a:rPr>
              <a:t>2</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690281E-BEDC-44F7-A0DA-C81618BDF275}" type="slidenum">
              <a:rPr lang="en-US" sz="1200" b="0" u="none" strike="noStrike">
                <a:solidFill>
                  <a:schemeClr val="dk1">
                    <a:tint val="75000"/>
                  </a:schemeClr>
                </a:solidFill>
                <a:effectLst/>
                <a:uFillTx/>
                <a:latin typeface="Calibri"/>
              </a:rPr>
              <a:t>2</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38DD7F7-26E9-41F1-9D07-9EFCBDCA3F5B}" type="slidenum">
              <a:rPr lang="en-US" sz="1200" b="0" u="none" strike="noStrike">
                <a:solidFill>
                  <a:schemeClr val="dk1">
                    <a:tint val="75000"/>
                  </a:schemeClr>
                </a:solidFill>
                <a:effectLst/>
                <a:uFillTx/>
                <a:latin typeface="Calibri"/>
              </a:rPr>
              <a:t>2</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2220849-D33D-47D2-8233-189B16F067E7}" type="slidenum">
              <a:rPr lang="en-US" sz="1200" b="0" u="none" strike="noStrike">
                <a:solidFill>
                  <a:schemeClr val="dk1">
                    <a:tint val="75000"/>
                  </a:schemeClr>
                </a:solidFill>
                <a:effectLst/>
                <a:uFillTx/>
                <a:latin typeface="Calibri"/>
              </a:rPr>
              <a:t>2</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15C567D-96E8-4D5C-84E1-342A3E1B24BD}" type="slidenum">
              <a:rPr lang="en-US" sz="1200" b="0" u="none" strike="noStrike">
                <a:solidFill>
                  <a:schemeClr val="dk1">
                    <a:tint val="75000"/>
                  </a:schemeClr>
                </a:solidFill>
                <a:effectLst/>
                <a:uFillTx/>
                <a:latin typeface="Calibri"/>
              </a:rPr>
              <a:t>2</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06E0054-EEE5-4196-8F07-6E02E3AF81A1}" type="slidenum">
              <a:rPr lang="en-US" sz="1200" b="0" u="none" strike="noStrike">
                <a:solidFill>
                  <a:schemeClr val="dk1">
                    <a:tint val="75000"/>
                  </a:schemeClr>
                </a:solidFill>
                <a:effectLst/>
                <a:uFillTx/>
                <a:latin typeface="Calibri"/>
              </a:rPr>
              <a:t>2</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B9CAAAC-079B-4ECD-92A2-0C5DBFD3393D}" type="slidenum">
              <a:rPr lang="en-US" sz="1200" b="0" u="none" strike="noStrike">
                <a:solidFill>
                  <a:schemeClr val="dk1">
                    <a:tint val="75000"/>
                  </a:schemeClr>
                </a:solidFill>
                <a:effectLst/>
                <a:uFillTx/>
                <a:latin typeface="Calibri"/>
              </a:rPr>
              <a:t>2</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CCFB5C4-E14B-42F9-97CD-AC95905BBC28}" type="slidenum">
              <a:rPr lang="en-US" sz="1200" b="0" u="none" strike="noStrike">
                <a:solidFill>
                  <a:schemeClr val="dk1">
                    <a:tint val="75000"/>
                  </a:schemeClr>
                </a:solidFill>
                <a:effectLst/>
                <a:uFillTx/>
                <a:latin typeface="Calibri"/>
              </a:rPr>
              <a:t>2</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321E5AB-1A56-483D-B22F-D175B97D7A39}"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77016A9-5F79-4AE2-82B9-16CC9232FFB9}"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Rectangle 1"/>
          <p:cNvSpPr/>
          <p:nvPr/>
        </p:nvSpPr>
        <p:spPr>
          <a:xfrm>
            <a:off x="0" y="0"/>
            <a:ext cx="12191400" cy="6857640"/>
          </a:xfrm>
          <a:prstGeom prst="rect">
            <a:avLst/>
          </a:prstGeom>
          <a:solidFill>
            <a:srgbClr val="0F172A"/>
          </a:solidFill>
          <a:ln>
            <a:solidFill>
              <a:srgbClr val="0F17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 name="TextBox 2"/>
          <p:cNvSpPr/>
          <p:nvPr/>
        </p:nvSpPr>
        <p:spPr>
          <a:xfrm>
            <a:off x="914400" y="1371600"/>
            <a:ext cx="5486040" cy="273960"/>
          </a:xfrm>
          <a:prstGeom prst="rect">
            <a:avLst/>
          </a:prstGeom>
          <a:noFill/>
          <a:ln w="0">
            <a:noFill/>
          </a:ln>
        </p:spPr>
        <p:style>
          <a:lnRef idx="0"/>
          <a:fillRef idx="0"/>
          <a:effectRef idx="0"/>
          <a:fontRef idx="minor"/>
        </p:style>
        <p:txBody>
          <a:bodyPr lIns="90000" tIns="84240" rIns="90000" bIns="84240" anchor="t">
            <a:spAutoFit/>
          </a:bodyPr>
          <a:p>
            <a:pPr defTabSz="457200">
              <a:lnSpc>
                <a:spcPct val="100000"/>
              </a:lnSpc>
            </a:pPr>
            <a:r>
              <a:rPr lang="en-US" sz="1100" b="1" u="none" strike="noStrike">
                <a:solidFill>
                  <a:srgbClr val="06B6D4"/>
                </a:solidFill>
                <a:effectLst/>
                <a:uFillTx/>
                <a:latin typeface="Arial"/>
              </a:rPr>
              <a:t>AV SYSTEM VALIDATION // 5-MINUTE MASTERCLASS</a:t>
            </a:r>
            <a:endParaRPr lang="en-US" sz="1100" b="0" u="none" strike="noStrike">
              <a:solidFill>
                <a:srgbClr val="000000"/>
              </a:solidFill>
              <a:effectLst/>
              <a:uFillTx/>
              <a:latin typeface="Arial"/>
            </a:endParaRPr>
          </a:p>
        </p:txBody>
      </p:sp>
      <p:sp>
        <p:nvSpPr>
          <p:cNvPr id="69" name="TextBox 3"/>
          <p:cNvSpPr/>
          <p:nvPr/>
        </p:nvSpPr>
        <p:spPr>
          <a:xfrm>
            <a:off x="914400" y="1645920"/>
            <a:ext cx="5028840" cy="2285640"/>
          </a:xfrm>
          <a:prstGeom prst="rect">
            <a:avLst/>
          </a:prstGeom>
          <a:noFill/>
          <a:ln w="0">
            <a:noFill/>
          </a:ln>
        </p:spPr>
        <p:style>
          <a:lnRef idx="0"/>
          <a:fillRef idx="0"/>
          <a:effectRef idx="0"/>
          <a:fontRef idx="minor"/>
        </p:style>
        <p:txBody>
          <a:bodyPr lIns="90000" tIns="91440" rIns="90000" bIns="91440" anchor="t">
            <a:spAutoFit/>
          </a:bodyPr>
          <a:p>
            <a:pPr defTabSz="457200">
              <a:lnSpc>
                <a:spcPct val="100000"/>
              </a:lnSpc>
            </a:pPr>
            <a:r>
              <a:rPr lang="en-US" sz="4200" b="1" u="none" strike="noStrike">
                <a:solidFill>
                  <a:srgbClr val="F8FAFC"/>
                </a:solidFill>
                <a:effectLst/>
                <a:uFillTx/>
                <a:latin typeface="Arial"/>
              </a:rPr>
              <a:t>WHY SHOULD YOU LISTEN TO ME?</a:t>
            </a:r>
            <a:endParaRPr lang="en-US" sz="4200" b="0" u="none" strike="noStrike">
              <a:solidFill>
                <a:srgbClr val="000000"/>
              </a:solidFill>
              <a:effectLst/>
              <a:uFillTx/>
              <a:latin typeface="Arial"/>
            </a:endParaRPr>
          </a:p>
        </p:txBody>
      </p:sp>
      <p:sp>
        <p:nvSpPr>
          <p:cNvPr id="70" name="TextBox 4"/>
          <p:cNvSpPr/>
          <p:nvPr/>
        </p:nvSpPr>
        <p:spPr>
          <a:xfrm>
            <a:off x="914400" y="4114800"/>
            <a:ext cx="4754520" cy="914040"/>
          </a:xfrm>
          <a:prstGeom prst="rect">
            <a:avLst/>
          </a:prstGeom>
          <a:noFill/>
          <a:ln w="0">
            <a:noFill/>
          </a:ln>
        </p:spPr>
        <p:style>
          <a:lnRef idx="0"/>
          <a:fillRef idx="0"/>
          <a:effectRef idx="0"/>
          <a:fontRef idx="minor"/>
        </p:style>
        <p:txBody>
          <a:bodyPr lIns="90000" tIns="91440" rIns="90000" bIns="91440" anchor="t">
            <a:spAutoFit/>
          </a:bodyPr>
          <a:p>
            <a:pPr defTabSz="457200">
              <a:lnSpc>
                <a:spcPct val="100000"/>
              </a:lnSpc>
            </a:pPr>
            <a:r>
              <a:rPr lang="en-US" sz="1500" b="0" i="1" u="none" strike="noStrike">
                <a:solidFill>
                  <a:srgbClr val="94A3B8"/>
                </a:solidFill>
                <a:effectLst/>
                <a:uFillTx/>
                <a:latin typeface="Arial"/>
              </a:rPr>
              <a:t>An interactive sound, video, and confidence monitor diagnostic disguised as a corporate presentation.</a:t>
            </a:r>
            <a:endParaRPr lang="en-US" sz="1500" b="0" u="none" strike="noStrike">
              <a:solidFill>
                <a:srgbClr val="000000"/>
              </a:solidFill>
              <a:effectLst/>
              <a:uFillTx/>
              <a:latin typeface="Arial"/>
            </a:endParaRPr>
          </a:p>
        </p:txBody>
      </p:sp>
      <p:sp>
        <p:nvSpPr>
          <p:cNvPr id="71" name="Rounded Rectangle 5"/>
          <p:cNvSpPr/>
          <p:nvPr/>
        </p:nvSpPr>
        <p:spPr>
          <a:xfrm>
            <a:off x="914400" y="5212080"/>
            <a:ext cx="4754520" cy="1005480"/>
          </a:xfrm>
          <a:prstGeom prst="roundRect">
            <a:avLst>
              <a:gd name="adj" fmla="val 16667"/>
            </a:avLst>
          </a:prstGeom>
          <a:solidFill>
            <a:srgbClr val="1E293B"/>
          </a:solidFill>
          <a:ln w="19050">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2" name="TextBox 6"/>
          <p:cNvSpPr/>
          <p:nvPr/>
        </p:nvSpPr>
        <p:spPr>
          <a:xfrm>
            <a:off x="1051560" y="5303520"/>
            <a:ext cx="4480200" cy="822600"/>
          </a:xfrm>
          <a:prstGeom prst="rect">
            <a:avLst/>
          </a:prstGeom>
          <a:noFill/>
          <a:ln w="0">
            <a:noFill/>
          </a:ln>
        </p:spPr>
        <p:style>
          <a:lnRef idx="0"/>
          <a:fillRef idx="0"/>
          <a:effectRef idx="0"/>
          <a:fontRef idx="minor"/>
        </p:style>
        <p:txBody>
          <a:bodyPr lIns="90000" tIns="91440" rIns="90000" bIns="91440" anchor="t">
            <a:spAutoFit/>
          </a:bodyPr>
          <a:p>
            <a:pPr defTabSz="457200">
              <a:lnSpc>
                <a:spcPct val="100000"/>
              </a:lnSpc>
            </a:pPr>
            <a:r>
              <a:rPr lang="en-US" sz="1100" b="0" u="none" strike="noStrike">
                <a:solidFill>
                  <a:srgbClr val="F8FAFC"/>
                </a:solidFill>
                <a:effectLst/>
                <a:uFillTx/>
                <a:latin typeface="Arial"/>
              </a:rPr>
              <a:t>STAGE STATUS: STANDBY</a:t>
            </a:r>
            <a:br>
              <a:rPr sz="1100"/>
            </a:br>
            <a:r>
              <a:rPr lang="en-US" sz="1100" b="0" u="none" strike="noStrike">
                <a:solidFill>
                  <a:srgbClr val="F8FAFC"/>
                </a:solidFill>
                <a:effectLst/>
                <a:uFillTx/>
                <a:latin typeface="Arial"/>
              </a:rPr>
              <a:t>MICROPHONE: LIVE</a:t>
            </a:r>
            <a:br>
              <a:rPr sz="1100"/>
            </a:br>
            <a:r>
              <a:rPr lang="en-US" sz="1100" b="0" u="none" strike="noStrike">
                <a:solidFill>
                  <a:srgbClr val="F8FAFC"/>
                </a:solidFill>
                <a:effectLst/>
                <a:uFillTx/>
                <a:latin typeface="Arial"/>
              </a:rPr>
              <a:t>CONFIDENCE MONITOR: TESTING NOTES INPUT</a:t>
            </a:r>
            <a:br>
              <a:rPr sz="1100"/>
            </a:br>
            <a:r>
              <a:rPr lang="en-US" sz="1100" b="0" u="none" strike="noStrike">
                <a:solidFill>
                  <a:srgbClr val="F8FAFC"/>
                </a:solidFill>
                <a:effectLst/>
                <a:uFillTx/>
                <a:latin typeface="Arial"/>
              </a:rPr>
              <a:t>Dongle Status: Stacked &amp; Unstable</a:t>
            </a:r>
            <a:endParaRPr lang="en-US" sz="1100" b="0" u="none" strike="noStrike">
              <a:solidFill>
                <a:srgbClr val="000000"/>
              </a:solidFill>
              <a:effectLst/>
              <a:uFillTx/>
              <a:latin typeface="Arial"/>
            </a:endParaRPr>
          </a:p>
        </p:txBody>
      </p:sp>
      <p:sp>
        <p:nvSpPr>
          <p:cNvPr id="73" name="TextBox 7"/>
          <p:cNvSpPr/>
          <p:nvPr/>
        </p:nvSpPr>
        <p:spPr>
          <a:xfrm>
            <a:off x="6583680" y="914400"/>
            <a:ext cx="4571640" cy="365400"/>
          </a:xfrm>
          <a:prstGeom prst="rect">
            <a:avLst/>
          </a:prstGeom>
          <a:noFill/>
          <a:ln w="0">
            <a:noFill/>
          </a:ln>
        </p:spPr>
        <p:style>
          <a:lnRef idx="0"/>
          <a:fillRef idx="0"/>
          <a:effectRef idx="0"/>
          <a:fontRef idx="minor"/>
        </p:style>
        <p:txBody>
          <a:bodyPr lIns="90000" tIns="91440" rIns="90000" bIns="91440" anchor="t">
            <a:spAutoFit/>
          </a:bodyPr>
          <a:p>
            <a:pPr algn="ctr" defTabSz="457200">
              <a:lnSpc>
                <a:spcPct val="100000"/>
              </a:lnSpc>
            </a:pPr>
            <a:r>
              <a:rPr lang="en-US" sz="1200" b="1" u="none" strike="noStrike">
                <a:solidFill>
                  <a:srgbClr val="06B6D4"/>
                </a:solidFill>
                <a:effectLst/>
                <a:uFillTx/>
                <a:latin typeface="Arial"/>
              </a:rPr>
              <a:t>AV COMMAND &amp; CONTROL SCHEMATIC</a:t>
            </a:r>
            <a:endParaRPr lang="en-US" sz="1200" b="0" u="none" strike="noStrike">
              <a:solidFill>
                <a:srgbClr val="000000"/>
              </a:solidFill>
              <a:effectLst/>
              <a:uFillTx/>
              <a:latin typeface="Arial"/>
            </a:endParaRPr>
          </a:p>
        </p:txBody>
      </p:sp>
      <p:sp>
        <p:nvSpPr>
          <p:cNvPr id="74" name="Rounded Rectangle 8"/>
          <p:cNvSpPr/>
          <p:nvPr/>
        </p:nvSpPr>
        <p:spPr>
          <a:xfrm>
            <a:off x="6583680" y="1463040"/>
            <a:ext cx="2011320" cy="1005480"/>
          </a:xfrm>
          <a:prstGeom prst="roundRect">
            <a:avLst>
              <a:gd name="adj" fmla="val 16667"/>
            </a:avLst>
          </a:prstGeom>
          <a:solidFill>
            <a:srgbClr val="1E293B"/>
          </a:solidFill>
          <a:ln w="19050">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5" name="TextBox 9"/>
          <p:cNvSpPr/>
          <p:nvPr/>
        </p:nvSpPr>
        <p:spPr>
          <a:xfrm>
            <a:off x="6583680" y="1645920"/>
            <a:ext cx="2011320" cy="731160"/>
          </a:xfrm>
          <a:prstGeom prst="rect">
            <a:avLst/>
          </a:prstGeom>
          <a:noFill/>
          <a:ln w="0">
            <a:noFill/>
          </a:ln>
        </p:spPr>
        <p:style>
          <a:lnRef idx="0"/>
          <a:fillRef idx="0"/>
          <a:effectRef idx="0"/>
          <a:fontRef idx="minor"/>
        </p:style>
        <p:txBody>
          <a:bodyPr lIns="90000" tIns="91440" rIns="90000" bIns="91440" anchor="t">
            <a:spAutoFit/>
          </a:bodyPr>
          <a:p>
            <a:pPr algn="ctr" defTabSz="457200">
              <a:lnSpc>
                <a:spcPct val="100000"/>
              </a:lnSpc>
            </a:pPr>
            <a:r>
              <a:rPr lang="en-US" sz="1200" b="1" u="none" strike="noStrike">
                <a:solidFill>
                  <a:srgbClr val="F8FAFC"/>
                </a:solidFill>
                <a:effectLst/>
                <a:uFillTx/>
                <a:latin typeface="Arial"/>
              </a:rPr>
              <a:t>PRESENTER</a:t>
            </a:r>
            <a:br>
              <a:rPr sz="1200"/>
            </a:br>
            <a:r>
              <a:rPr lang="en-US" sz="1200" b="1" u="none" strike="noStrike">
                <a:solidFill>
                  <a:srgbClr val="F8FAFC"/>
                </a:solidFill>
                <a:effectLst/>
                <a:uFillTx/>
                <a:latin typeface="Arial"/>
              </a:rPr>
              <a:t>(Source of Noise)</a:t>
            </a:r>
            <a:endParaRPr lang="en-US" sz="1200" b="0" u="none" strike="noStrike">
              <a:solidFill>
                <a:srgbClr val="000000"/>
              </a:solidFill>
              <a:effectLst/>
              <a:uFillTx/>
              <a:latin typeface="Arial"/>
            </a:endParaRPr>
          </a:p>
        </p:txBody>
      </p:sp>
      <p:sp>
        <p:nvSpPr>
          <p:cNvPr id="76" name="Rectangle 10"/>
          <p:cNvSpPr/>
          <p:nvPr/>
        </p:nvSpPr>
        <p:spPr>
          <a:xfrm>
            <a:off x="8595360" y="1920240"/>
            <a:ext cx="731160" cy="270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endParaRPr lang="en-US" sz="1800" b="0" u="none" strike="noStrike">
              <a:solidFill>
                <a:schemeClr val="lt1"/>
              </a:solidFill>
              <a:effectLst/>
              <a:uFillTx/>
              <a:latin typeface="Calibri"/>
            </a:endParaRPr>
          </a:p>
        </p:txBody>
      </p:sp>
      <p:sp>
        <p:nvSpPr>
          <p:cNvPr id="77" name="Rounded Rectangle 11"/>
          <p:cNvSpPr/>
          <p:nvPr/>
        </p:nvSpPr>
        <p:spPr>
          <a:xfrm>
            <a:off x="9326880" y="1463040"/>
            <a:ext cx="2011320" cy="1645560"/>
          </a:xfrm>
          <a:prstGeom prst="roundRect">
            <a:avLst>
              <a:gd name="adj" fmla="val 16667"/>
            </a:avLst>
          </a:prstGeom>
          <a:solidFill>
            <a:srgbClr val="1E293B"/>
          </a:solidFill>
          <a:ln w="19050">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8" name="TextBox 12"/>
          <p:cNvSpPr/>
          <p:nvPr/>
        </p:nvSpPr>
        <p:spPr>
          <a:xfrm>
            <a:off x="9326880" y="1645920"/>
            <a:ext cx="2011320" cy="1279800"/>
          </a:xfrm>
          <a:prstGeom prst="rect">
            <a:avLst/>
          </a:prstGeom>
          <a:noFill/>
          <a:ln w="0">
            <a:noFill/>
          </a:ln>
        </p:spPr>
        <p:style>
          <a:lnRef idx="0"/>
          <a:fillRef idx="0"/>
          <a:effectRef idx="0"/>
          <a:fontRef idx="minor"/>
        </p:style>
        <p:txBody>
          <a:bodyPr lIns="90000" tIns="91440" rIns="90000" bIns="91440" anchor="t">
            <a:spAutoFit/>
          </a:bodyPr>
          <a:p>
            <a:pPr algn="ctr" defTabSz="457200">
              <a:lnSpc>
                <a:spcPct val="100000"/>
              </a:lnSpc>
            </a:pPr>
            <a:r>
              <a:rPr lang="en-US" sz="1100" b="1" u="none" strike="noStrike">
                <a:solidFill>
                  <a:srgbClr val="F8FAFC"/>
                </a:solidFill>
                <a:effectLst/>
                <a:uFillTx/>
                <a:latin typeface="Arial"/>
              </a:rPr>
              <a:t>TECH BOOTH</a:t>
            </a:r>
            <a:br>
              <a:rPr sz="1100"/>
            </a:br>
            <a:r>
              <a:rPr lang="en-US" sz="1100" b="1" u="none" strike="noStrike">
                <a:solidFill>
                  <a:srgbClr val="F8FAFC"/>
                </a:solidFill>
                <a:effectLst/>
                <a:uFillTx/>
                <a:latin typeface="Arial"/>
              </a:rPr>
              <a:t>(Panic Center)</a:t>
            </a:r>
            <a:br>
              <a:rPr sz="1100"/>
            </a:br>
            <a:br>
              <a:rPr sz="1100"/>
            </a:br>
            <a:r>
              <a:rPr lang="en-US" sz="1100" b="1" u="none" strike="noStrike">
                <a:solidFill>
                  <a:srgbClr val="F8FAFC"/>
                </a:solidFill>
                <a:effectLst/>
                <a:uFillTx/>
                <a:latin typeface="Arial"/>
              </a:rPr>
              <a:t>*DO NOT SCUTTLE*</a:t>
            </a:r>
            <a:endParaRPr lang="en-US" sz="1100" b="0" u="none" strike="noStrike">
              <a:solidFill>
                <a:srgbClr val="000000"/>
              </a:solidFill>
              <a:effectLst/>
              <a:uFillTx/>
              <a:latin typeface="Arial"/>
            </a:endParaRPr>
          </a:p>
        </p:txBody>
      </p:sp>
      <p:sp>
        <p:nvSpPr>
          <p:cNvPr id="79" name="Rectangle 13"/>
          <p:cNvSpPr/>
          <p:nvPr/>
        </p:nvSpPr>
        <p:spPr>
          <a:xfrm>
            <a:off x="10314360" y="3108960"/>
            <a:ext cx="27000" cy="100548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0" name="Rectangle 14"/>
          <p:cNvSpPr/>
          <p:nvPr/>
        </p:nvSpPr>
        <p:spPr>
          <a:xfrm>
            <a:off x="9601200" y="3108960"/>
            <a:ext cx="27000" cy="164556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1" name="Rectangle 15"/>
          <p:cNvSpPr/>
          <p:nvPr/>
        </p:nvSpPr>
        <p:spPr>
          <a:xfrm>
            <a:off x="7589520" y="4754880"/>
            <a:ext cx="2038680" cy="270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endParaRPr lang="en-US" sz="1800" b="0" u="none" strike="noStrike">
              <a:solidFill>
                <a:schemeClr val="lt1"/>
              </a:solidFill>
              <a:effectLst/>
              <a:uFillTx/>
              <a:latin typeface="Calibri"/>
            </a:endParaRPr>
          </a:p>
        </p:txBody>
      </p:sp>
      <p:sp>
        <p:nvSpPr>
          <p:cNvPr id="82" name="Rounded Rectangle 16"/>
          <p:cNvSpPr/>
          <p:nvPr/>
        </p:nvSpPr>
        <p:spPr>
          <a:xfrm>
            <a:off x="6583680" y="4114800"/>
            <a:ext cx="2011320" cy="1005480"/>
          </a:xfrm>
          <a:prstGeom prst="roundRect">
            <a:avLst>
              <a:gd name="adj" fmla="val 16667"/>
            </a:avLst>
          </a:prstGeom>
          <a:solidFill>
            <a:srgbClr val="1E293B"/>
          </a:solidFill>
          <a:ln w="19050">
            <a:solidFill>
              <a:srgbClr val="F59E0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3" name="TextBox 17"/>
          <p:cNvSpPr/>
          <p:nvPr/>
        </p:nvSpPr>
        <p:spPr>
          <a:xfrm>
            <a:off x="6583680" y="4297680"/>
            <a:ext cx="2011320" cy="731160"/>
          </a:xfrm>
          <a:prstGeom prst="rect">
            <a:avLst/>
          </a:prstGeom>
          <a:noFill/>
          <a:ln w="0">
            <a:noFill/>
          </a:ln>
        </p:spPr>
        <p:style>
          <a:lnRef idx="0"/>
          <a:fillRef idx="0"/>
          <a:effectRef idx="0"/>
          <a:fontRef idx="minor"/>
        </p:style>
        <p:txBody>
          <a:bodyPr lIns="90000" tIns="91440" rIns="90000" bIns="91440" anchor="t">
            <a:spAutoFit/>
          </a:bodyPr>
          <a:p>
            <a:pPr algn="ctr" defTabSz="457200">
              <a:lnSpc>
                <a:spcPct val="100000"/>
              </a:lnSpc>
            </a:pPr>
            <a:r>
              <a:rPr lang="en-US" sz="1100" b="1" u="none" strike="noStrike">
                <a:solidFill>
                  <a:srgbClr val="F59E0B"/>
                </a:solidFill>
                <a:effectLst/>
                <a:uFillTx/>
                <a:latin typeface="Arial"/>
              </a:rPr>
              <a:t>CONFIDENCE MONITOR</a:t>
            </a:r>
            <a:br>
              <a:rPr sz="1100"/>
            </a:br>
            <a:r>
              <a:rPr lang="en-US" sz="1100" b="1" u="none" strike="noStrike">
                <a:solidFill>
                  <a:srgbClr val="F59E0B"/>
                </a:solidFill>
                <a:effectLst/>
                <a:uFillTx/>
                <a:latin typeface="Arial"/>
              </a:rPr>
              <a:t>(Notes Safe Haven)</a:t>
            </a:r>
            <a:endParaRPr lang="en-US" sz="1100" b="0" u="none" strike="noStrike">
              <a:solidFill>
                <a:srgbClr val="000000"/>
              </a:solidFill>
              <a:effectLst/>
              <a:uFillTx/>
              <a:latin typeface="Arial"/>
            </a:endParaRPr>
          </a:p>
        </p:txBody>
      </p:sp>
      <p:sp>
        <p:nvSpPr>
          <p:cNvPr id="84" name="Rounded Rectangle 18"/>
          <p:cNvSpPr/>
          <p:nvPr/>
        </p:nvSpPr>
        <p:spPr>
          <a:xfrm>
            <a:off x="9326880" y="4114800"/>
            <a:ext cx="2011320" cy="1005480"/>
          </a:xfrm>
          <a:prstGeom prst="roundRect">
            <a:avLst>
              <a:gd name="adj" fmla="val 16667"/>
            </a:avLst>
          </a:prstGeom>
          <a:solidFill>
            <a:srgbClr val="1E293B"/>
          </a:solidFill>
          <a:ln w="19050">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5" name="TextBox 19"/>
          <p:cNvSpPr/>
          <p:nvPr/>
        </p:nvSpPr>
        <p:spPr>
          <a:xfrm>
            <a:off x="9326880" y="4297680"/>
            <a:ext cx="2011320" cy="731160"/>
          </a:xfrm>
          <a:prstGeom prst="rect">
            <a:avLst/>
          </a:prstGeom>
          <a:noFill/>
          <a:ln w="0">
            <a:noFill/>
          </a:ln>
        </p:spPr>
        <p:style>
          <a:lnRef idx="0"/>
          <a:fillRef idx="0"/>
          <a:effectRef idx="0"/>
          <a:fontRef idx="minor"/>
        </p:style>
        <p:txBody>
          <a:bodyPr lIns="90000" tIns="91440" rIns="90000" bIns="91440" anchor="t">
            <a:spAutoFit/>
          </a:bodyPr>
          <a:p>
            <a:pPr algn="ctr" defTabSz="457200">
              <a:lnSpc>
                <a:spcPct val="100000"/>
              </a:lnSpc>
            </a:pPr>
            <a:r>
              <a:rPr lang="en-US" sz="1100" b="1" u="none" strike="noStrike">
                <a:solidFill>
                  <a:srgbClr val="F8FAFC"/>
                </a:solidFill>
                <a:effectLst/>
                <a:uFillTx/>
                <a:latin typeface="Arial"/>
              </a:rPr>
              <a:t>HOUSE SPEAKERS</a:t>
            </a:r>
            <a:br>
              <a:rPr sz="1100"/>
            </a:br>
            <a:r>
              <a:rPr lang="en-US" sz="1100" b="1" u="none" strike="noStrike">
                <a:solidFill>
                  <a:srgbClr val="F8FAFC"/>
                </a:solidFill>
                <a:effectLst/>
                <a:uFillTx/>
                <a:latin typeface="Arial"/>
              </a:rPr>
              <a:t>(60Hz Loop Generator)</a:t>
            </a:r>
            <a:endParaRPr lang="en-US" sz="1100" b="0" u="none" strike="noStrike">
              <a:solidFill>
                <a:srgbClr val="000000"/>
              </a:solidFill>
              <a:effectLst/>
              <a:uFillTx/>
              <a:latin typeface="Arial"/>
            </a:endParaRPr>
          </a:p>
        </p:txBody>
      </p:sp>
      <p:sp>
        <p:nvSpPr>
          <p:cNvPr id="86" name="Rectangle 20"/>
          <p:cNvSpPr/>
          <p:nvPr/>
        </p:nvSpPr>
        <p:spPr>
          <a:xfrm>
            <a:off x="0" y="0"/>
            <a:ext cx="91080" cy="6857640"/>
          </a:xfrm>
          <a:prstGeom prst="rect">
            <a:avLst/>
          </a:prstGeom>
          <a:solidFill>
            <a:srgbClr val="06B6D4"/>
          </a:solidFill>
          <a:ln>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Rectangle 1"/>
          <p:cNvSpPr/>
          <p:nvPr/>
        </p:nvSpPr>
        <p:spPr>
          <a:xfrm>
            <a:off x="0" y="0"/>
            <a:ext cx="12191400" cy="6857640"/>
          </a:xfrm>
          <a:prstGeom prst="rect">
            <a:avLst/>
          </a:prstGeom>
          <a:solidFill>
            <a:srgbClr val="0F172A"/>
          </a:solidFill>
          <a:ln>
            <a:solidFill>
              <a:srgbClr val="0F17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8" name="TextBox 2"/>
          <p:cNvSpPr/>
          <p:nvPr/>
        </p:nvSpPr>
        <p:spPr>
          <a:xfrm>
            <a:off x="731520" y="365760"/>
            <a:ext cx="9143640" cy="273960"/>
          </a:xfrm>
          <a:prstGeom prst="rect">
            <a:avLst/>
          </a:prstGeom>
          <a:noFill/>
          <a:ln w="0">
            <a:noFill/>
          </a:ln>
        </p:spPr>
        <p:style>
          <a:lnRef idx="0"/>
          <a:fillRef idx="0"/>
          <a:effectRef idx="0"/>
          <a:fontRef idx="minor"/>
        </p:style>
        <p:txBody>
          <a:bodyPr lIns="90000" tIns="76680" rIns="90000" bIns="76680" anchor="t">
            <a:spAutoFit/>
          </a:bodyPr>
          <a:p>
            <a:pPr defTabSz="457200">
              <a:lnSpc>
                <a:spcPct val="100000"/>
              </a:lnSpc>
            </a:pPr>
            <a:r>
              <a:rPr lang="en-US" sz="1000" b="1" u="none" strike="noStrike">
                <a:solidFill>
                  <a:srgbClr val="06B6D4"/>
                </a:solidFill>
                <a:effectLst/>
                <a:uFillTx/>
                <a:latin typeface="Arial"/>
              </a:rPr>
              <a:t>01 // AUDIO ALIGNMENT</a:t>
            </a:r>
            <a:endParaRPr lang="en-US" sz="1000" b="0" u="none" strike="noStrike">
              <a:solidFill>
                <a:srgbClr val="000000"/>
              </a:solidFill>
              <a:effectLst/>
              <a:uFillTx/>
              <a:latin typeface="Arial"/>
            </a:endParaRPr>
          </a:p>
        </p:txBody>
      </p:sp>
      <p:sp>
        <p:nvSpPr>
          <p:cNvPr id="89" name="TextBox 3"/>
          <p:cNvSpPr/>
          <p:nvPr/>
        </p:nvSpPr>
        <p:spPr>
          <a:xfrm>
            <a:off x="731520" y="548640"/>
            <a:ext cx="10058040" cy="731160"/>
          </a:xfrm>
          <a:prstGeom prst="rect">
            <a:avLst/>
          </a:prstGeom>
          <a:noFill/>
          <a:ln w="0">
            <a:noFill/>
          </a:ln>
        </p:spPr>
        <p:style>
          <a:lnRef idx="0"/>
          <a:fillRef idx="0"/>
          <a:effectRef idx="0"/>
          <a:fontRef idx="minor"/>
        </p:style>
        <p:txBody>
          <a:bodyPr lIns="90000" tIns="91440" rIns="90000" bIns="91440" anchor="t">
            <a:spAutoFit/>
          </a:bodyPr>
          <a:p>
            <a:pPr defTabSz="457200">
              <a:lnSpc>
                <a:spcPct val="100000"/>
              </a:lnSpc>
            </a:pPr>
            <a:r>
              <a:rPr lang="en-US" sz="2800" b="1" u="none" strike="noStrike">
                <a:solidFill>
                  <a:srgbClr val="F8FAFC"/>
                </a:solidFill>
                <a:effectLst/>
                <a:uFillTx/>
                <a:latin typeface="Arial"/>
              </a:rPr>
              <a:t>The Sound Check: Finding Your True Frequency</a:t>
            </a:r>
            <a:endParaRPr lang="en-US" sz="2800" b="0" u="none" strike="noStrike">
              <a:solidFill>
                <a:srgbClr val="000000"/>
              </a:solidFill>
              <a:effectLst/>
              <a:uFillTx/>
              <a:latin typeface="Arial"/>
            </a:endParaRPr>
          </a:p>
        </p:txBody>
      </p:sp>
      <p:sp>
        <p:nvSpPr>
          <p:cNvPr id="90" name="Rectangle 4"/>
          <p:cNvSpPr/>
          <p:nvPr/>
        </p:nvSpPr>
        <p:spPr>
          <a:xfrm>
            <a:off x="731520" y="1280160"/>
            <a:ext cx="10728360" cy="18000"/>
          </a:xfrm>
          <a:prstGeom prst="rect">
            <a:avLst/>
          </a:prstGeom>
          <a:solidFill>
            <a:srgbClr val="06B6D4"/>
          </a:solidFill>
          <a:ln>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91" name="Rounded Rectangle 5"/>
          <p:cNvSpPr/>
          <p:nvPr/>
        </p:nvSpPr>
        <p:spPr>
          <a:xfrm>
            <a:off x="731520" y="1645920"/>
            <a:ext cx="5486040" cy="4571640"/>
          </a:xfrm>
          <a:prstGeom prst="roundRect">
            <a:avLst>
              <a:gd name="adj" fmla="val 16667"/>
            </a:avLst>
          </a:prstGeom>
          <a:solidFill>
            <a:srgbClr val="1E293B"/>
          </a:solidFill>
          <a:ln w="19050">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2" name="TextBox 6"/>
          <p:cNvSpPr/>
          <p:nvPr/>
        </p:nvSpPr>
        <p:spPr>
          <a:xfrm>
            <a:off x="914400" y="1828800"/>
            <a:ext cx="5120280" cy="365400"/>
          </a:xfrm>
          <a:prstGeom prst="rect">
            <a:avLst/>
          </a:prstGeom>
          <a:noFill/>
          <a:ln w="0">
            <a:noFill/>
          </a:ln>
        </p:spPr>
        <p:style>
          <a:lnRef idx="0"/>
          <a:fillRef idx="0"/>
          <a:effectRef idx="0"/>
          <a:fontRef idx="minor"/>
        </p:style>
        <p:txBody>
          <a:bodyPr lIns="90000" tIns="91440" rIns="90000" bIns="91440" anchor="t">
            <a:spAutoFit/>
          </a:bodyPr>
          <a:p>
            <a:pPr defTabSz="457200">
              <a:lnSpc>
                <a:spcPct val="100000"/>
              </a:lnSpc>
            </a:pPr>
            <a:r>
              <a:rPr lang="en-US" sz="1600" b="1" u="none" strike="noStrike">
                <a:solidFill>
                  <a:srgbClr val="06B6D4"/>
                </a:solidFill>
                <a:effectLst/>
                <a:uFillTx/>
                <a:latin typeface="Arial"/>
              </a:rPr>
              <a:t>AUDIO CALIBRATION PITFALLS</a:t>
            </a:r>
            <a:endParaRPr lang="en-US" sz="1600" b="0" u="none" strike="noStrike">
              <a:solidFill>
                <a:srgbClr val="000000"/>
              </a:solidFill>
              <a:effectLst/>
              <a:uFillTx/>
              <a:latin typeface="Arial"/>
            </a:endParaRPr>
          </a:p>
        </p:txBody>
      </p:sp>
      <p:sp>
        <p:nvSpPr>
          <p:cNvPr id="93" name="TextBox 7"/>
          <p:cNvSpPr/>
          <p:nvPr/>
        </p:nvSpPr>
        <p:spPr>
          <a:xfrm>
            <a:off x="914400" y="2286000"/>
            <a:ext cx="5120280" cy="3657240"/>
          </a:xfrm>
          <a:prstGeom prst="rect">
            <a:avLst/>
          </a:prstGeom>
          <a:noFill/>
          <a:ln w="0">
            <a:noFill/>
          </a:ln>
        </p:spPr>
        <p:style>
          <a:lnRef idx="0"/>
          <a:fillRef idx="0"/>
          <a:effectRef idx="0"/>
          <a:fontRef idx="minor"/>
        </p:style>
        <p:txBody>
          <a:bodyPr lIns="137160" tIns="137160" rIns="137160" bIns="137160" anchor="t">
            <a:spAutoFit/>
          </a:bodyPr>
          <a:p>
            <a:pPr defTabSz="457200">
              <a:lnSpc>
                <a:spcPct val="100000"/>
              </a:lnSpc>
              <a:spcAft>
                <a:spcPts val="1199"/>
              </a:spcAft>
            </a:pPr>
            <a:r>
              <a:rPr lang="en-US" sz="1300" b="1" u="none" strike="noStrike">
                <a:solidFill>
                  <a:srgbClr val="F8FAFC"/>
                </a:solidFill>
                <a:effectLst/>
                <a:uFillTx/>
                <a:latin typeface="Arial"/>
              </a:rPr>
              <a:t>[ ] The Mic Tap Test:</a:t>
            </a:r>
            <a:r>
              <a:rPr lang="en-US" sz="1300" b="0" u="none" strike="noStrike">
                <a:solidFill>
                  <a:srgbClr val="94A3B8"/>
                </a:solidFill>
                <a:effectLst/>
                <a:uFillTx/>
                <a:latin typeface="Arial"/>
              </a:rPr>
              <a:t> Physically slapping the microphone dome to ask 'Is this thing on?' - guaranteed to blow out the tweeter and take 5 years off the sound tech's life.</a:t>
            </a:r>
            <a:endParaRPr lang="en-US" sz="1300" b="0" u="none" strike="noStrike">
              <a:solidFill>
                <a:srgbClr val="000000"/>
              </a:solidFill>
              <a:effectLst/>
              <a:uFillTx/>
              <a:latin typeface="Arial"/>
            </a:endParaRPr>
          </a:p>
          <a:p>
            <a:pPr defTabSz="457200">
              <a:lnSpc>
                <a:spcPct val="100000"/>
              </a:lnSpc>
              <a:spcAft>
                <a:spcPts val="1199"/>
              </a:spcAft>
            </a:pPr>
            <a:r>
              <a:rPr lang="en-US" sz="1300" b="1" u="none" strike="noStrike">
                <a:solidFill>
                  <a:srgbClr val="F8FAFC"/>
                </a:solidFill>
                <a:effectLst/>
                <a:uFillTx/>
                <a:latin typeface="Arial"/>
              </a:rPr>
              <a:t>[ ] The Belly-Button Mic:</a:t>
            </a:r>
            <a:r>
              <a:rPr lang="en-US" sz="1300" b="0" u="none" strike="noStrike">
                <a:solidFill>
                  <a:srgbClr val="94A3B8"/>
                </a:solidFill>
                <a:effectLst/>
                <a:uFillTx/>
                <a:latin typeface="Arial"/>
              </a:rPr>
              <a:t> Clutching a handheld microphone at belt level, expecting your vocal cords to broadcast to the room via stomach osmosis.</a:t>
            </a:r>
            <a:endParaRPr lang="en-US" sz="1300" b="0" u="none" strike="noStrike">
              <a:solidFill>
                <a:srgbClr val="000000"/>
              </a:solidFill>
              <a:effectLst/>
              <a:uFillTx/>
              <a:latin typeface="Arial"/>
            </a:endParaRPr>
          </a:p>
          <a:p>
            <a:pPr defTabSz="457200">
              <a:lnSpc>
                <a:spcPct val="100000"/>
              </a:lnSpc>
              <a:spcAft>
                <a:spcPts val="1199"/>
              </a:spcAft>
            </a:pPr>
            <a:r>
              <a:rPr lang="en-US" sz="1300" b="1" u="none" strike="noStrike">
                <a:solidFill>
                  <a:srgbClr val="F8FAFC"/>
                </a:solidFill>
                <a:effectLst/>
                <a:uFillTx/>
                <a:latin typeface="Arial"/>
              </a:rPr>
              <a:t>[ ] The Feedback Dance:</a:t>
            </a:r>
            <a:r>
              <a:rPr lang="en-US" sz="1300" b="0" u="none" strike="noStrike">
                <a:solidFill>
                  <a:srgbClr val="94A3B8"/>
                </a:solidFill>
                <a:effectLst/>
                <a:uFillTx/>
                <a:latin typeface="Arial"/>
              </a:rPr>
              <a:t> Presenters walking directly in front of the main speaker stack while wearing a lapel mic, creating a 3kHz localized laser beam of sound.</a:t>
            </a:r>
            <a:endParaRPr lang="en-US" sz="1300" b="0" u="none" strike="noStrike">
              <a:solidFill>
                <a:srgbClr val="000000"/>
              </a:solidFill>
              <a:effectLst/>
              <a:uFillTx/>
              <a:latin typeface="Arial"/>
            </a:endParaRPr>
          </a:p>
          <a:p>
            <a:pPr defTabSz="457200">
              <a:lnSpc>
                <a:spcPct val="100000"/>
              </a:lnSpc>
              <a:spcAft>
                <a:spcPts val="1199"/>
              </a:spcAft>
            </a:pPr>
            <a:r>
              <a:rPr lang="en-US" sz="1300" b="1" u="none" strike="noStrike">
                <a:solidFill>
                  <a:srgbClr val="F8FAFC"/>
                </a:solidFill>
                <a:effectLst/>
                <a:uFillTx/>
                <a:latin typeface="Arial"/>
              </a:rPr>
              <a:t>[ ] Throat-Clearing Hazard:</a:t>
            </a:r>
            <a:r>
              <a:rPr lang="en-US" sz="1300" b="0" u="none" strike="noStrike">
                <a:solidFill>
                  <a:srgbClr val="94A3B8"/>
                </a:solidFill>
                <a:effectLst/>
                <a:uFillTx/>
                <a:latin typeface="Arial"/>
              </a:rPr>
              <a:t> Setting mic gain so high that a soft whisper is clear, but a quick throat clear sounds like a localized artillery explosion.</a:t>
            </a:r>
            <a:endParaRPr lang="en-US" sz="1300" b="0" u="none" strike="noStrike">
              <a:solidFill>
                <a:srgbClr val="000000"/>
              </a:solidFill>
              <a:effectLst/>
              <a:uFillTx/>
              <a:latin typeface="Arial"/>
            </a:endParaRPr>
          </a:p>
        </p:txBody>
      </p:sp>
      <p:sp>
        <p:nvSpPr>
          <p:cNvPr id="94" name="Rounded Rectangle 8"/>
          <p:cNvSpPr/>
          <p:nvPr/>
        </p:nvSpPr>
        <p:spPr>
          <a:xfrm>
            <a:off x="6583680" y="1645920"/>
            <a:ext cx="4845960" cy="4571640"/>
          </a:xfrm>
          <a:prstGeom prst="roundRect">
            <a:avLst>
              <a:gd name="adj" fmla="val 16667"/>
            </a:avLst>
          </a:prstGeom>
          <a:solidFill>
            <a:srgbClr val="1E293B"/>
          </a:solidFill>
          <a:ln w="19050">
            <a:solidFill>
              <a:srgbClr val="F59E0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5" name="TextBox 9"/>
          <p:cNvSpPr/>
          <p:nvPr/>
        </p:nvSpPr>
        <p:spPr>
          <a:xfrm>
            <a:off x="6766560" y="1828800"/>
            <a:ext cx="4480200" cy="365400"/>
          </a:xfrm>
          <a:prstGeom prst="rect">
            <a:avLst/>
          </a:prstGeom>
          <a:noFill/>
          <a:ln w="0">
            <a:noFill/>
          </a:ln>
        </p:spPr>
        <p:style>
          <a:lnRef idx="0"/>
          <a:fillRef idx="0"/>
          <a:effectRef idx="0"/>
          <a:fontRef idx="minor"/>
        </p:style>
        <p:txBody>
          <a:bodyPr lIns="90000" tIns="91440" rIns="90000" bIns="91440" anchor="t">
            <a:spAutoFit/>
          </a:bodyPr>
          <a:p>
            <a:pPr defTabSz="457200">
              <a:lnSpc>
                <a:spcPct val="100000"/>
              </a:lnSpc>
            </a:pPr>
            <a:r>
              <a:rPr lang="en-US" sz="1400" b="1" u="none" strike="noStrike">
                <a:solidFill>
                  <a:srgbClr val="F59E0B"/>
                </a:solidFill>
                <a:effectLst/>
                <a:uFillTx/>
                <a:latin typeface="Arial"/>
              </a:rPr>
              <a:t>🚨 PHYSICAL SYSTEM DIAGNOSTIC</a:t>
            </a:r>
            <a:endParaRPr lang="en-US" sz="1400" b="0" u="none" strike="noStrike">
              <a:solidFill>
                <a:srgbClr val="000000"/>
              </a:solidFill>
              <a:effectLst/>
              <a:uFillTx/>
              <a:latin typeface="Arial"/>
            </a:endParaRPr>
          </a:p>
        </p:txBody>
      </p:sp>
      <p:sp>
        <p:nvSpPr>
          <p:cNvPr id="96" name="Rectangle 10"/>
          <p:cNvSpPr/>
          <p:nvPr/>
        </p:nvSpPr>
        <p:spPr>
          <a:xfrm>
            <a:off x="7315200" y="2468880"/>
            <a:ext cx="72720" cy="237708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7" name="Rectangle 11"/>
          <p:cNvSpPr/>
          <p:nvPr/>
        </p:nvSpPr>
        <p:spPr>
          <a:xfrm>
            <a:off x="7178040" y="2468880"/>
            <a:ext cx="347040" cy="180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98" name="Rectangle 12"/>
          <p:cNvSpPr/>
          <p:nvPr/>
        </p:nvSpPr>
        <p:spPr>
          <a:xfrm>
            <a:off x="7178040" y="3017520"/>
            <a:ext cx="347040" cy="180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99" name="Rectangle 13"/>
          <p:cNvSpPr/>
          <p:nvPr/>
        </p:nvSpPr>
        <p:spPr>
          <a:xfrm>
            <a:off x="7178040" y="3566160"/>
            <a:ext cx="347040" cy="180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00" name="Rectangle 14"/>
          <p:cNvSpPr/>
          <p:nvPr/>
        </p:nvSpPr>
        <p:spPr>
          <a:xfrm>
            <a:off x="7178040" y="4114800"/>
            <a:ext cx="347040" cy="180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01" name="Rectangle 15"/>
          <p:cNvSpPr/>
          <p:nvPr/>
        </p:nvSpPr>
        <p:spPr>
          <a:xfrm>
            <a:off x="7178040" y="4663440"/>
            <a:ext cx="347040" cy="180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02" name="Rectangle 16"/>
          <p:cNvSpPr/>
          <p:nvPr/>
        </p:nvSpPr>
        <p:spPr>
          <a:xfrm>
            <a:off x="7086600" y="3474720"/>
            <a:ext cx="529920" cy="228240"/>
          </a:xfrm>
          <a:prstGeom prst="rect">
            <a:avLst/>
          </a:prstGeom>
          <a:solidFill>
            <a:srgbClr val="06B6D4"/>
          </a:solidFill>
          <a:ln w="12700">
            <a:solidFill>
              <a:srgbClr val="F8FAF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3" name="TextBox 17"/>
          <p:cNvSpPr/>
          <p:nvPr/>
        </p:nvSpPr>
        <p:spPr>
          <a:xfrm>
            <a:off x="6675120" y="4937760"/>
            <a:ext cx="1371240" cy="273960"/>
          </a:xfrm>
          <a:prstGeom prst="rect">
            <a:avLst/>
          </a:prstGeom>
          <a:noFill/>
          <a:ln w="0">
            <a:noFill/>
          </a:ln>
        </p:spPr>
        <p:style>
          <a:lnRef idx="0"/>
          <a:fillRef idx="0"/>
          <a:effectRef idx="0"/>
          <a:fontRef idx="minor"/>
        </p:style>
        <p:txBody>
          <a:bodyPr lIns="90000" tIns="84240" rIns="90000" bIns="84240" anchor="t">
            <a:spAutoFit/>
          </a:bodyPr>
          <a:p>
            <a:pPr algn="ctr" defTabSz="457200">
              <a:lnSpc>
                <a:spcPct val="100000"/>
              </a:lnSpc>
            </a:pPr>
            <a:r>
              <a:rPr lang="en-US" sz="1100" b="1" u="none" strike="noStrike">
                <a:solidFill>
                  <a:srgbClr val="F8FAFC"/>
                </a:solidFill>
                <a:effectLst/>
                <a:uFillTx/>
                <a:latin typeface="Arial"/>
              </a:rPr>
              <a:t>Vocal Clar.</a:t>
            </a:r>
            <a:endParaRPr lang="en-US" sz="1100" b="0" u="none" strike="noStrike">
              <a:solidFill>
                <a:srgbClr val="000000"/>
              </a:solidFill>
              <a:effectLst/>
              <a:uFillTx/>
              <a:latin typeface="Arial"/>
            </a:endParaRPr>
          </a:p>
        </p:txBody>
      </p:sp>
      <p:sp>
        <p:nvSpPr>
          <p:cNvPr id="104" name="Rectangle 18"/>
          <p:cNvSpPr/>
          <p:nvPr/>
        </p:nvSpPr>
        <p:spPr>
          <a:xfrm>
            <a:off x="8686800" y="2468880"/>
            <a:ext cx="72720" cy="237708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5" name="Rectangle 19"/>
          <p:cNvSpPr/>
          <p:nvPr/>
        </p:nvSpPr>
        <p:spPr>
          <a:xfrm>
            <a:off x="8549640" y="2468880"/>
            <a:ext cx="347040" cy="180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06" name="Rectangle 20"/>
          <p:cNvSpPr/>
          <p:nvPr/>
        </p:nvSpPr>
        <p:spPr>
          <a:xfrm>
            <a:off x="8549640" y="3017520"/>
            <a:ext cx="347040" cy="180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07" name="Rectangle 21"/>
          <p:cNvSpPr/>
          <p:nvPr/>
        </p:nvSpPr>
        <p:spPr>
          <a:xfrm>
            <a:off x="8549640" y="3566160"/>
            <a:ext cx="347040" cy="180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08" name="Rectangle 22"/>
          <p:cNvSpPr/>
          <p:nvPr/>
        </p:nvSpPr>
        <p:spPr>
          <a:xfrm>
            <a:off x="8549640" y="4114800"/>
            <a:ext cx="347040" cy="180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09" name="Rectangle 23"/>
          <p:cNvSpPr/>
          <p:nvPr/>
        </p:nvSpPr>
        <p:spPr>
          <a:xfrm>
            <a:off x="8549640" y="4663440"/>
            <a:ext cx="347040" cy="180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10" name="Rectangle 24"/>
          <p:cNvSpPr/>
          <p:nvPr/>
        </p:nvSpPr>
        <p:spPr>
          <a:xfrm>
            <a:off x="8458200" y="2391120"/>
            <a:ext cx="529920" cy="228240"/>
          </a:xfrm>
          <a:prstGeom prst="rect">
            <a:avLst/>
          </a:prstGeom>
          <a:solidFill>
            <a:srgbClr val="F59E0B"/>
          </a:solidFill>
          <a:ln w="12700">
            <a:solidFill>
              <a:srgbClr val="F8FAF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1" name="TextBox 25"/>
          <p:cNvSpPr/>
          <p:nvPr/>
        </p:nvSpPr>
        <p:spPr>
          <a:xfrm>
            <a:off x="8046720" y="4937760"/>
            <a:ext cx="1371240" cy="273960"/>
          </a:xfrm>
          <a:prstGeom prst="rect">
            <a:avLst/>
          </a:prstGeom>
          <a:noFill/>
          <a:ln w="0">
            <a:noFill/>
          </a:ln>
        </p:spPr>
        <p:style>
          <a:lnRef idx="0"/>
          <a:fillRef idx="0"/>
          <a:effectRef idx="0"/>
          <a:fontRef idx="minor"/>
        </p:style>
        <p:txBody>
          <a:bodyPr lIns="90000" tIns="84240" rIns="90000" bIns="84240" anchor="t">
            <a:spAutoFit/>
          </a:bodyPr>
          <a:p>
            <a:pPr algn="ctr" defTabSz="457200">
              <a:lnSpc>
                <a:spcPct val="100000"/>
              </a:lnSpc>
            </a:pPr>
            <a:r>
              <a:rPr lang="en-US" sz="1100" b="1" u="none" strike="noStrike">
                <a:solidFill>
                  <a:srgbClr val="F8FAFC"/>
                </a:solidFill>
                <a:effectLst/>
                <a:uFillTx/>
                <a:latin typeface="Arial"/>
              </a:rPr>
              <a:t>60Hz Hum</a:t>
            </a:r>
            <a:endParaRPr lang="en-US" sz="1100" b="0" u="none" strike="noStrike">
              <a:solidFill>
                <a:srgbClr val="000000"/>
              </a:solidFill>
              <a:effectLst/>
              <a:uFillTx/>
              <a:latin typeface="Arial"/>
            </a:endParaRPr>
          </a:p>
        </p:txBody>
      </p:sp>
      <p:sp>
        <p:nvSpPr>
          <p:cNvPr id="112" name="Rectangle 26"/>
          <p:cNvSpPr/>
          <p:nvPr/>
        </p:nvSpPr>
        <p:spPr>
          <a:xfrm>
            <a:off x="10058400" y="2468880"/>
            <a:ext cx="72720" cy="237708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3" name="Rectangle 27"/>
          <p:cNvSpPr/>
          <p:nvPr/>
        </p:nvSpPr>
        <p:spPr>
          <a:xfrm>
            <a:off x="9921240" y="2468880"/>
            <a:ext cx="347040" cy="180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14" name="Rectangle 28"/>
          <p:cNvSpPr/>
          <p:nvPr/>
        </p:nvSpPr>
        <p:spPr>
          <a:xfrm>
            <a:off x="9921240" y="3017520"/>
            <a:ext cx="347040" cy="180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15" name="Rectangle 29"/>
          <p:cNvSpPr/>
          <p:nvPr/>
        </p:nvSpPr>
        <p:spPr>
          <a:xfrm>
            <a:off x="9921240" y="3566160"/>
            <a:ext cx="347040" cy="180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16" name="Rectangle 30"/>
          <p:cNvSpPr/>
          <p:nvPr/>
        </p:nvSpPr>
        <p:spPr>
          <a:xfrm>
            <a:off x="9921240" y="4114800"/>
            <a:ext cx="347040" cy="180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17" name="Rectangle 31"/>
          <p:cNvSpPr/>
          <p:nvPr/>
        </p:nvSpPr>
        <p:spPr>
          <a:xfrm>
            <a:off x="9921240" y="4663440"/>
            <a:ext cx="347040" cy="180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18" name="Rectangle 32"/>
          <p:cNvSpPr/>
          <p:nvPr/>
        </p:nvSpPr>
        <p:spPr>
          <a:xfrm>
            <a:off x="9829800" y="4389120"/>
            <a:ext cx="529920" cy="228240"/>
          </a:xfrm>
          <a:prstGeom prst="rect">
            <a:avLst/>
          </a:prstGeom>
          <a:solidFill>
            <a:srgbClr val="94A3B8"/>
          </a:solidFill>
          <a:ln w="12700">
            <a:solidFill>
              <a:srgbClr val="F8FAF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9" name="TextBox 33"/>
          <p:cNvSpPr/>
          <p:nvPr/>
        </p:nvSpPr>
        <p:spPr>
          <a:xfrm>
            <a:off x="9418320" y="4937760"/>
            <a:ext cx="1371240" cy="273960"/>
          </a:xfrm>
          <a:prstGeom prst="rect">
            <a:avLst/>
          </a:prstGeom>
          <a:noFill/>
          <a:ln w="0">
            <a:noFill/>
          </a:ln>
        </p:spPr>
        <p:style>
          <a:lnRef idx="0"/>
          <a:fillRef idx="0"/>
          <a:effectRef idx="0"/>
          <a:fontRef idx="minor"/>
        </p:style>
        <p:txBody>
          <a:bodyPr lIns="90000" tIns="84240" rIns="90000" bIns="84240" anchor="t">
            <a:spAutoFit/>
          </a:bodyPr>
          <a:p>
            <a:pPr algn="ctr" defTabSz="457200">
              <a:lnSpc>
                <a:spcPct val="100000"/>
              </a:lnSpc>
            </a:pPr>
            <a:r>
              <a:rPr lang="en-US" sz="1100" b="1" u="none" strike="noStrike">
                <a:solidFill>
                  <a:srgbClr val="F8FAFC"/>
                </a:solidFill>
                <a:effectLst/>
                <a:uFillTx/>
                <a:latin typeface="Arial"/>
              </a:rPr>
              <a:t>Hope</a:t>
            </a:r>
            <a:endParaRPr lang="en-US" sz="1100" b="0" u="none" strike="noStrike">
              <a:solidFill>
                <a:srgbClr val="000000"/>
              </a:solidFill>
              <a:effectLst/>
              <a:uFillTx/>
              <a:latin typeface="Arial"/>
            </a:endParaRPr>
          </a:p>
        </p:txBody>
      </p:sp>
      <p:sp>
        <p:nvSpPr>
          <p:cNvPr id="120" name="TextBox 34"/>
          <p:cNvSpPr/>
          <p:nvPr/>
        </p:nvSpPr>
        <p:spPr>
          <a:xfrm>
            <a:off x="6766560" y="5486400"/>
            <a:ext cx="4480200" cy="548280"/>
          </a:xfrm>
          <a:prstGeom prst="rect">
            <a:avLst/>
          </a:prstGeom>
          <a:noFill/>
          <a:ln w="0">
            <a:noFill/>
          </a:ln>
        </p:spPr>
        <p:style>
          <a:lnRef idx="0"/>
          <a:fillRef idx="0"/>
          <a:effectRef idx="0"/>
          <a:fontRef idx="minor"/>
        </p:style>
        <p:txBody>
          <a:bodyPr lIns="90000" tIns="91440" rIns="90000" bIns="91440" anchor="t">
            <a:spAutoFit/>
          </a:bodyPr>
          <a:p>
            <a:pPr algn="ctr" defTabSz="457200">
              <a:lnSpc>
                <a:spcPct val="100000"/>
              </a:lnSpc>
            </a:pPr>
            <a:r>
              <a:rPr lang="en-US" sz="1100" b="0" i="1" u="none" strike="noStrike">
                <a:solidFill>
                  <a:srgbClr val="94A3B8"/>
                </a:solidFill>
                <a:effectLst/>
                <a:uFillTx/>
                <a:latin typeface="Arial"/>
              </a:rPr>
              <a:t>Audio Diagnostic: 60Hz Ground Loop is locked at peak volume to maintain historical academic ambience.</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Rectangle 1"/>
          <p:cNvSpPr/>
          <p:nvPr/>
        </p:nvSpPr>
        <p:spPr>
          <a:xfrm>
            <a:off x="0" y="0"/>
            <a:ext cx="12191400" cy="6857640"/>
          </a:xfrm>
          <a:prstGeom prst="rect">
            <a:avLst/>
          </a:prstGeom>
          <a:solidFill>
            <a:srgbClr val="0F172A"/>
          </a:solidFill>
          <a:ln>
            <a:solidFill>
              <a:srgbClr val="0F17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2" name="TextBox 2"/>
          <p:cNvSpPr/>
          <p:nvPr/>
        </p:nvSpPr>
        <p:spPr>
          <a:xfrm>
            <a:off x="731520" y="365760"/>
            <a:ext cx="9143640" cy="273960"/>
          </a:xfrm>
          <a:prstGeom prst="rect">
            <a:avLst/>
          </a:prstGeom>
          <a:noFill/>
          <a:ln w="0">
            <a:noFill/>
          </a:ln>
        </p:spPr>
        <p:style>
          <a:lnRef idx="0"/>
          <a:fillRef idx="0"/>
          <a:effectRef idx="0"/>
          <a:fontRef idx="minor"/>
        </p:style>
        <p:txBody>
          <a:bodyPr lIns="90000" tIns="76680" rIns="90000" bIns="76680" anchor="t">
            <a:spAutoFit/>
          </a:bodyPr>
          <a:p>
            <a:pPr defTabSz="457200">
              <a:lnSpc>
                <a:spcPct val="100000"/>
              </a:lnSpc>
            </a:pPr>
            <a:r>
              <a:rPr lang="en-US" sz="1000" b="1" u="none" strike="noStrike">
                <a:solidFill>
                  <a:srgbClr val="06B6D4"/>
                </a:solidFill>
                <a:effectLst/>
                <a:uFillTx/>
                <a:latin typeface="Arial"/>
              </a:rPr>
              <a:t>02 // VIDEO CONFIGURATION</a:t>
            </a:r>
            <a:endParaRPr lang="en-US" sz="1000" b="0" u="none" strike="noStrike">
              <a:solidFill>
                <a:srgbClr val="000000"/>
              </a:solidFill>
              <a:effectLst/>
              <a:uFillTx/>
              <a:latin typeface="Arial"/>
            </a:endParaRPr>
          </a:p>
        </p:txBody>
      </p:sp>
      <p:sp>
        <p:nvSpPr>
          <p:cNvPr id="123" name="TextBox 3"/>
          <p:cNvSpPr/>
          <p:nvPr/>
        </p:nvSpPr>
        <p:spPr>
          <a:xfrm>
            <a:off x="731520" y="548640"/>
            <a:ext cx="10058040" cy="731160"/>
          </a:xfrm>
          <a:prstGeom prst="rect">
            <a:avLst/>
          </a:prstGeom>
          <a:noFill/>
          <a:ln w="0">
            <a:noFill/>
          </a:ln>
        </p:spPr>
        <p:style>
          <a:lnRef idx="0"/>
          <a:fillRef idx="0"/>
          <a:effectRef idx="0"/>
          <a:fontRef idx="minor"/>
        </p:style>
        <p:txBody>
          <a:bodyPr lIns="90000" tIns="91440" rIns="90000" bIns="91440" anchor="t">
            <a:spAutoFit/>
          </a:bodyPr>
          <a:p>
            <a:pPr defTabSz="457200">
              <a:lnSpc>
                <a:spcPct val="100000"/>
              </a:lnSpc>
            </a:pPr>
            <a:r>
              <a:rPr lang="en-US" sz="2800" b="1" u="none" strike="noStrike">
                <a:solidFill>
                  <a:srgbClr val="F8FAFC"/>
                </a:solidFill>
                <a:effectLst/>
                <a:uFillTx/>
                <a:latin typeface="Arial"/>
              </a:rPr>
              <a:t>Video Routing: The Dongle Roulette</a:t>
            </a:r>
            <a:endParaRPr lang="en-US" sz="2800" b="0" u="none" strike="noStrike">
              <a:solidFill>
                <a:srgbClr val="000000"/>
              </a:solidFill>
              <a:effectLst/>
              <a:uFillTx/>
              <a:latin typeface="Arial"/>
            </a:endParaRPr>
          </a:p>
        </p:txBody>
      </p:sp>
      <p:sp>
        <p:nvSpPr>
          <p:cNvPr id="124" name="Rectangle 4"/>
          <p:cNvSpPr/>
          <p:nvPr/>
        </p:nvSpPr>
        <p:spPr>
          <a:xfrm>
            <a:off x="731520" y="1280160"/>
            <a:ext cx="10728360" cy="18000"/>
          </a:xfrm>
          <a:prstGeom prst="rect">
            <a:avLst/>
          </a:prstGeom>
          <a:solidFill>
            <a:srgbClr val="06B6D4"/>
          </a:solidFill>
          <a:ln>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25" name="Rounded Rectangle 5"/>
          <p:cNvSpPr/>
          <p:nvPr/>
        </p:nvSpPr>
        <p:spPr>
          <a:xfrm>
            <a:off x="731520" y="1645920"/>
            <a:ext cx="5486040" cy="4571640"/>
          </a:xfrm>
          <a:prstGeom prst="roundRect">
            <a:avLst>
              <a:gd name="adj" fmla="val 16667"/>
            </a:avLst>
          </a:prstGeom>
          <a:solidFill>
            <a:srgbClr val="1E293B"/>
          </a:solidFill>
          <a:ln w="19050">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6" name="TextBox 6"/>
          <p:cNvSpPr/>
          <p:nvPr/>
        </p:nvSpPr>
        <p:spPr>
          <a:xfrm>
            <a:off x="914400" y="1828800"/>
            <a:ext cx="5120280" cy="365400"/>
          </a:xfrm>
          <a:prstGeom prst="rect">
            <a:avLst/>
          </a:prstGeom>
          <a:noFill/>
          <a:ln w="0">
            <a:noFill/>
          </a:ln>
        </p:spPr>
        <p:style>
          <a:lnRef idx="0"/>
          <a:fillRef idx="0"/>
          <a:effectRef idx="0"/>
          <a:fontRef idx="minor"/>
        </p:style>
        <p:txBody>
          <a:bodyPr lIns="90000" tIns="91440" rIns="90000" bIns="91440" anchor="t">
            <a:spAutoFit/>
          </a:bodyPr>
          <a:p>
            <a:pPr defTabSz="457200">
              <a:lnSpc>
                <a:spcPct val="100000"/>
              </a:lnSpc>
            </a:pPr>
            <a:r>
              <a:rPr lang="en-US" sz="1600" b="1" u="none" strike="noStrike">
                <a:solidFill>
                  <a:srgbClr val="06B6D4"/>
                </a:solidFill>
                <a:effectLst/>
                <a:uFillTx/>
                <a:latin typeface="Arial"/>
              </a:rPr>
              <a:t>VIDEO SIGNAL NEGOTIATION</a:t>
            </a:r>
            <a:endParaRPr lang="en-US" sz="1600" b="0" u="none" strike="noStrike">
              <a:solidFill>
                <a:srgbClr val="000000"/>
              </a:solidFill>
              <a:effectLst/>
              <a:uFillTx/>
              <a:latin typeface="Arial"/>
            </a:endParaRPr>
          </a:p>
        </p:txBody>
      </p:sp>
      <p:sp>
        <p:nvSpPr>
          <p:cNvPr id="127" name="TextBox 7"/>
          <p:cNvSpPr/>
          <p:nvPr/>
        </p:nvSpPr>
        <p:spPr>
          <a:xfrm>
            <a:off x="914400" y="2286000"/>
            <a:ext cx="5120280" cy="3657240"/>
          </a:xfrm>
          <a:prstGeom prst="rect">
            <a:avLst/>
          </a:prstGeom>
          <a:noFill/>
          <a:ln w="0">
            <a:noFill/>
          </a:ln>
        </p:spPr>
        <p:style>
          <a:lnRef idx="0"/>
          <a:fillRef idx="0"/>
          <a:effectRef idx="0"/>
          <a:fontRef idx="minor"/>
        </p:style>
        <p:txBody>
          <a:bodyPr lIns="137160" tIns="137160" rIns="137160" bIns="137160" anchor="t">
            <a:spAutoFit/>
          </a:bodyPr>
          <a:p>
            <a:pPr defTabSz="457200">
              <a:lnSpc>
                <a:spcPct val="100000"/>
              </a:lnSpc>
              <a:spcAft>
                <a:spcPts val="1199"/>
              </a:spcAft>
            </a:pPr>
            <a:r>
              <a:rPr lang="en-US" sz="1300" b="1" u="none" strike="noStrike">
                <a:solidFill>
                  <a:srgbClr val="F8FAFC"/>
                </a:solidFill>
                <a:effectLst/>
                <a:uFillTx/>
                <a:latin typeface="Arial"/>
              </a:rPr>
              <a:t>[ ] Dongle Roulette:</a:t>
            </a:r>
            <a:r>
              <a:rPr lang="en-US" sz="1300" b="0" u="none" strike="noStrike">
                <a:solidFill>
                  <a:srgbClr val="94A3B8"/>
                </a:solidFill>
                <a:effectLst/>
                <a:uFillTx/>
                <a:latin typeface="Arial"/>
              </a:rPr>
              <a:t> Presenters arriving with a minimum of three adapters, none of which match the stage cable. The scramble to borrow a USB-C hub begins.</a:t>
            </a:r>
            <a:endParaRPr lang="en-US" sz="1300" b="0" u="none" strike="noStrike">
              <a:solidFill>
                <a:srgbClr val="000000"/>
              </a:solidFill>
              <a:effectLst/>
              <a:uFillTx/>
              <a:latin typeface="Arial"/>
            </a:endParaRPr>
          </a:p>
          <a:p>
            <a:pPr defTabSz="457200">
              <a:lnSpc>
                <a:spcPct val="100000"/>
              </a:lnSpc>
              <a:spcAft>
                <a:spcPts val="1199"/>
              </a:spcAft>
            </a:pPr>
            <a:r>
              <a:rPr lang="en-US" sz="1300" b="1" u="none" strike="noStrike">
                <a:solidFill>
                  <a:srgbClr val="F8FAFC"/>
                </a:solidFill>
                <a:effectLst/>
                <a:uFillTx/>
                <a:latin typeface="Arial"/>
              </a:rPr>
              <a:t>[ ] Resolution Squish:</a:t>
            </a:r>
            <a:r>
              <a:rPr lang="en-US" sz="1300" b="0" u="none" strike="noStrike">
                <a:solidFill>
                  <a:srgbClr val="94A3B8"/>
                </a:solidFill>
                <a:effectLst/>
                <a:uFillTx/>
                <a:latin typeface="Arial"/>
              </a:rPr>
              <a:t> The projector and the laptop negotiate a resolution. The projector wins, squishing beautiful 16:9 slides into standard-def 4:3 squint-vision.</a:t>
            </a:r>
            <a:endParaRPr lang="en-US" sz="1300" b="0" u="none" strike="noStrike">
              <a:solidFill>
                <a:srgbClr val="000000"/>
              </a:solidFill>
              <a:effectLst/>
              <a:uFillTx/>
              <a:latin typeface="Arial"/>
            </a:endParaRPr>
          </a:p>
          <a:p>
            <a:pPr defTabSz="457200">
              <a:lnSpc>
                <a:spcPct val="100000"/>
              </a:lnSpc>
              <a:spcAft>
                <a:spcPts val="1199"/>
              </a:spcAft>
            </a:pPr>
            <a:r>
              <a:rPr lang="en-US" sz="1300" b="1" u="none" strike="noStrike">
                <a:solidFill>
                  <a:srgbClr val="F8FAFC"/>
                </a:solidFill>
                <a:effectLst/>
                <a:uFillTx/>
                <a:latin typeface="Arial"/>
              </a:rPr>
              <a:t>[ ] Embedded Video Mirage:</a:t>
            </a:r>
            <a:r>
              <a:rPr lang="en-US" sz="1300" b="0" u="none" strike="noStrike">
                <a:solidFill>
                  <a:srgbClr val="94A3B8"/>
                </a:solidFill>
                <a:effectLst/>
                <a:uFillTx/>
                <a:latin typeface="Arial"/>
              </a:rPr>
              <a:t> Embedding a video in a slide, only for it to resolve as a static grey box because the actual file is still sitting on your hotel desktop.</a:t>
            </a:r>
            <a:endParaRPr lang="en-US" sz="1300" b="0" u="none" strike="noStrike">
              <a:solidFill>
                <a:srgbClr val="000000"/>
              </a:solidFill>
              <a:effectLst/>
              <a:uFillTx/>
              <a:latin typeface="Arial"/>
            </a:endParaRPr>
          </a:p>
          <a:p>
            <a:pPr defTabSz="457200">
              <a:lnSpc>
                <a:spcPct val="100000"/>
              </a:lnSpc>
              <a:spcAft>
                <a:spcPts val="1199"/>
              </a:spcAft>
            </a:pPr>
            <a:r>
              <a:rPr lang="en-US" sz="1300" b="1" u="none" strike="noStrike">
                <a:solidFill>
                  <a:srgbClr val="F8FAFC"/>
                </a:solidFill>
                <a:effectLst/>
                <a:uFillTx/>
                <a:latin typeface="Arial"/>
              </a:rPr>
              <a:t>[ ] The EDID Handshake:</a:t>
            </a:r>
            <a:r>
              <a:rPr lang="en-US" sz="1300" b="0" u="none" strike="noStrike">
                <a:solidFill>
                  <a:srgbClr val="94A3B8"/>
                </a:solidFill>
                <a:effectLst/>
                <a:uFillTx/>
                <a:latin typeface="Arial"/>
              </a:rPr>
              <a:t> Staring at a completely black screen for 10 seconds while the hardware decides if it feels like cooperating today.</a:t>
            </a:r>
            <a:endParaRPr lang="en-US" sz="1300" b="0" u="none" strike="noStrike">
              <a:solidFill>
                <a:srgbClr val="000000"/>
              </a:solidFill>
              <a:effectLst/>
              <a:uFillTx/>
              <a:latin typeface="Arial"/>
            </a:endParaRPr>
          </a:p>
        </p:txBody>
      </p:sp>
      <p:sp>
        <p:nvSpPr>
          <p:cNvPr id="128" name="Rounded Rectangle 8"/>
          <p:cNvSpPr/>
          <p:nvPr/>
        </p:nvSpPr>
        <p:spPr>
          <a:xfrm>
            <a:off x="6583680" y="1645920"/>
            <a:ext cx="4845960" cy="4571640"/>
          </a:xfrm>
          <a:prstGeom prst="roundRect">
            <a:avLst>
              <a:gd name="adj" fmla="val 16667"/>
            </a:avLst>
          </a:prstGeom>
          <a:solidFill>
            <a:srgbClr val="1E293B"/>
          </a:solidFill>
          <a:ln w="19050">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9" name="TextBox 9"/>
          <p:cNvSpPr/>
          <p:nvPr/>
        </p:nvSpPr>
        <p:spPr>
          <a:xfrm>
            <a:off x="6766560" y="1828800"/>
            <a:ext cx="4480200" cy="365400"/>
          </a:xfrm>
          <a:prstGeom prst="rect">
            <a:avLst/>
          </a:prstGeom>
          <a:noFill/>
          <a:ln w="0">
            <a:noFill/>
          </a:ln>
        </p:spPr>
        <p:style>
          <a:lnRef idx="0"/>
          <a:fillRef idx="0"/>
          <a:effectRef idx="0"/>
          <a:fontRef idx="minor"/>
        </p:style>
        <p:txBody>
          <a:bodyPr lIns="90000" tIns="91440" rIns="90000" bIns="91440" anchor="t">
            <a:spAutoFit/>
          </a:bodyPr>
          <a:p>
            <a:pPr defTabSz="457200">
              <a:lnSpc>
                <a:spcPct val="100000"/>
              </a:lnSpc>
            </a:pPr>
            <a:r>
              <a:rPr lang="en-US" sz="1400" b="1" u="none" strike="noStrike">
                <a:solidFill>
                  <a:srgbClr val="06B6D4"/>
                </a:solidFill>
                <a:effectLst/>
                <a:uFillTx/>
                <a:latin typeface="Arial"/>
              </a:rPr>
              <a:t>THE RESOLUTION HANDSHAKE PIPELINE</a:t>
            </a:r>
            <a:endParaRPr lang="en-US" sz="1400" b="0" u="none" strike="noStrike">
              <a:solidFill>
                <a:srgbClr val="000000"/>
              </a:solidFill>
              <a:effectLst/>
              <a:uFillTx/>
              <a:latin typeface="Arial"/>
            </a:endParaRPr>
          </a:p>
        </p:txBody>
      </p:sp>
      <p:sp>
        <p:nvSpPr>
          <p:cNvPr id="130" name="Rounded Rectangle 10"/>
          <p:cNvSpPr/>
          <p:nvPr/>
        </p:nvSpPr>
        <p:spPr>
          <a:xfrm>
            <a:off x="7772400" y="2286000"/>
            <a:ext cx="2468520" cy="731160"/>
          </a:xfrm>
          <a:prstGeom prst="roundRect">
            <a:avLst>
              <a:gd name="adj" fmla="val 16667"/>
            </a:avLst>
          </a:prstGeom>
          <a:solidFill>
            <a:srgbClr val="1E293B"/>
          </a:solidFill>
          <a:ln w="19050">
            <a:solidFill>
              <a:srgbClr val="94A3B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1" name="TextBox 11"/>
          <p:cNvSpPr/>
          <p:nvPr/>
        </p:nvSpPr>
        <p:spPr>
          <a:xfrm>
            <a:off x="7772400" y="2377440"/>
            <a:ext cx="2468520" cy="548280"/>
          </a:xfrm>
          <a:prstGeom prst="rect">
            <a:avLst/>
          </a:prstGeom>
          <a:noFill/>
          <a:ln w="0">
            <a:noFill/>
          </a:ln>
        </p:spPr>
        <p:style>
          <a:lnRef idx="0"/>
          <a:fillRef idx="0"/>
          <a:effectRef idx="0"/>
          <a:fontRef idx="minor"/>
        </p:style>
        <p:txBody>
          <a:bodyPr lIns="90000" tIns="91440" rIns="90000" bIns="91440" anchor="t">
            <a:spAutoFit/>
          </a:bodyPr>
          <a:p>
            <a:pPr algn="ctr" defTabSz="457200">
              <a:lnSpc>
                <a:spcPct val="100000"/>
              </a:lnSpc>
            </a:pPr>
            <a:r>
              <a:rPr lang="en-US" sz="1100" b="1" u="none" strike="noStrike">
                <a:solidFill>
                  <a:srgbClr val="F8FAFC"/>
                </a:solidFill>
                <a:effectLst/>
                <a:uFillTx/>
                <a:latin typeface="Arial"/>
              </a:rPr>
              <a:t>LAPTOP SOURCE</a:t>
            </a:r>
            <a:br>
              <a:rPr sz="1100"/>
            </a:br>
            <a:r>
              <a:rPr lang="en-US" sz="1100" b="1" u="none" strike="noStrike">
                <a:solidFill>
                  <a:srgbClr val="F8FAFC"/>
                </a:solidFill>
                <a:effectLst/>
                <a:uFillTx/>
                <a:latin typeface="Arial"/>
              </a:rPr>
              <a:t>"Send 4K Ultra HD!"</a:t>
            </a:r>
            <a:endParaRPr lang="en-US" sz="1100" b="0" u="none" strike="noStrike">
              <a:solidFill>
                <a:srgbClr val="000000"/>
              </a:solidFill>
              <a:effectLst/>
              <a:uFillTx/>
              <a:latin typeface="Arial"/>
            </a:endParaRPr>
          </a:p>
        </p:txBody>
      </p:sp>
      <p:sp>
        <p:nvSpPr>
          <p:cNvPr id="132" name="Rectangle 12"/>
          <p:cNvSpPr/>
          <p:nvPr/>
        </p:nvSpPr>
        <p:spPr>
          <a:xfrm>
            <a:off x="8988480" y="3017520"/>
            <a:ext cx="36360" cy="3654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3" name="Rounded Rectangle 13"/>
          <p:cNvSpPr/>
          <p:nvPr/>
        </p:nvSpPr>
        <p:spPr>
          <a:xfrm>
            <a:off x="7772400" y="3383280"/>
            <a:ext cx="2468520" cy="731160"/>
          </a:xfrm>
          <a:prstGeom prst="roundRect">
            <a:avLst>
              <a:gd name="adj" fmla="val 16667"/>
            </a:avLst>
          </a:prstGeom>
          <a:solidFill>
            <a:srgbClr val="1E293B"/>
          </a:solidFill>
          <a:ln w="19050">
            <a:solidFill>
              <a:srgbClr val="F59E0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4" name="TextBox 14"/>
          <p:cNvSpPr/>
          <p:nvPr/>
        </p:nvSpPr>
        <p:spPr>
          <a:xfrm>
            <a:off x="7772400" y="3474720"/>
            <a:ext cx="2468520" cy="548280"/>
          </a:xfrm>
          <a:prstGeom prst="rect">
            <a:avLst/>
          </a:prstGeom>
          <a:noFill/>
          <a:ln w="0">
            <a:noFill/>
          </a:ln>
        </p:spPr>
        <p:style>
          <a:lnRef idx="0"/>
          <a:fillRef idx="0"/>
          <a:effectRef idx="0"/>
          <a:fontRef idx="minor"/>
        </p:style>
        <p:txBody>
          <a:bodyPr lIns="90000" tIns="91440" rIns="90000" bIns="91440" anchor="t">
            <a:spAutoFit/>
          </a:bodyPr>
          <a:p>
            <a:pPr algn="ctr" defTabSz="457200">
              <a:lnSpc>
                <a:spcPct val="100000"/>
              </a:lnSpc>
            </a:pPr>
            <a:r>
              <a:rPr lang="en-US" sz="1000" b="1" u="none" strike="noStrike">
                <a:solidFill>
                  <a:srgbClr val="F59E0B"/>
                </a:solidFill>
                <a:effectLst/>
                <a:uFillTx/>
                <a:latin typeface="Arial"/>
              </a:rPr>
              <a:t>DONGLE CHAIN</a:t>
            </a:r>
            <a:br>
              <a:rPr sz="1000"/>
            </a:br>
            <a:r>
              <a:rPr lang="en-US" sz="1000" b="1" u="none" strike="noStrike">
                <a:solidFill>
                  <a:srgbClr val="F59E0B"/>
                </a:solidFill>
                <a:effectLst/>
                <a:uFillTx/>
                <a:latin typeface="Arial"/>
              </a:rPr>
              <a:t>*Converts HDMI -&gt; USB-C -&gt; VGA*</a:t>
            </a:r>
            <a:endParaRPr lang="en-US" sz="1000" b="0" u="none" strike="noStrike">
              <a:solidFill>
                <a:srgbClr val="000000"/>
              </a:solidFill>
              <a:effectLst/>
              <a:uFillTx/>
              <a:latin typeface="Arial"/>
            </a:endParaRPr>
          </a:p>
        </p:txBody>
      </p:sp>
      <p:sp>
        <p:nvSpPr>
          <p:cNvPr id="135" name="Rectangle 15"/>
          <p:cNvSpPr/>
          <p:nvPr/>
        </p:nvSpPr>
        <p:spPr>
          <a:xfrm>
            <a:off x="8988480" y="4114800"/>
            <a:ext cx="36360" cy="3654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6" name="Rounded Rectangle 16"/>
          <p:cNvSpPr/>
          <p:nvPr/>
        </p:nvSpPr>
        <p:spPr>
          <a:xfrm>
            <a:off x="7772400" y="4480560"/>
            <a:ext cx="2468520" cy="731160"/>
          </a:xfrm>
          <a:prstGeom prst="roundRect">
            <a:avLst>
              <a:gd name="adj" fmla="val 16667"/>
            </a:avLst>
          </a:prstGeom>
          <a:solidFill>
            <a:srgbClr val="1E293B"/>
          </a:solidFill>
          <a:ln w="19050">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7" name="TextBox 17"/>
          <p:cNvSpPr/>
          <p:nvPr/>
        </p:nvSpPr>
        <p:spPr>
          <a:xfrm>
            <a:off x="7772400" y="4572000"/>
            <a:ext cx="2468520" cy="548280"/>
          </a:xfrm>
          <a:prstGeom prst="rect">
            <a:avLst/>
          </a:prstGeom>
          <a:noFill/>
          <a:ln w="0">
            <a:noFill/>
          </a:ln>
        </p:spPr>
        <p:style>
          <a:lnRef idx="0"/>
          <a:fillRef idx="0"/>
          <a:effectRef idx="0"/>
          <a:fontRef idx="minor"/>
        </p:style>
        <p:txBody>
          <a:bodyPr lIns="90000" tIns="91440" rIns="90000" bIns="91440" anchor="t">
            <a:spAutoFit/>
          </a:bodyPr>
          <a:p>
            <a:pPr algn="ctr" defTabSz="457200">
              <a:lnSpc>
                <a:spcPct val="100000"/>
              </a:lnSpc>
            </a:pPr>
            <a:r>
              <a:rPr lang="en-US" sz="1000" b="1" u="none" strike="noStrike">
                <a:solidFill>
                  <a:srgbClr val="06B6D4"/>
                </a:solidFill>
                <a:effectLst/>
                <a:uFillTx/>
                <a:latin typeface="Arial"/>
              </a:rPr>
              <a:t>PROJECTOR OUTPUT</a:t>
            </a:r>
            <a:br>
              <a:rPr sz="1000"/>
            </a:br>
            <a:r>
              <a:rPr lang="en-US" sz="1000" b="1" u="none" strike="noStrike">
                <a:solidFill>
                  <a:srgbClr val="06B6D4"/>
                </a:solidFill>
                <a:effectLst/>
                <a:uFillTx/>
                <a:latin typeface="Arial"/>
              </a:rPr>
              <a:t>"Best I can do is 800x600 (tinted purple)"</a:t>
            </a:r>
            <a:endParaRPr lang="en-US" sz="1000" b="0" u="none" strike="noStrike">
              <a:solidFill>
                <a:srgbClr val="000000"/>
              </a:solidFill>
              <a:effectLst/>
              <a:uFillTx/>
              <a:latin typeface="Arial"/>
            </a:endParaRPr>
          </a:p>
        </p:txBody>
      </p:sp>
      <p:sp>
        <p:nvSpPr>
          <p:cNvPr id="138" name="TextBox 18"/>
          <p:cNvSpPr/>
          <p:nvPr/>
        </p:nvSpPr>
        <p:spPr>
          <a:xfrm>
            <a:off x="6766560" y="5394960"/>
            <a:ext cx="4480200" cy="639720"/>
          </a:xfrm>
          <a:prstGeom prst="rect">
            <a:avLst/>
          </a:prstGeom>
          <a:noFill/>
          <a:ln w="0">
            <a:noFill/>
          </a:ln>
        </p:spPr>
        <p:style>
          <a:lnRef idx="0"/>
          <a:fillRef idx="0"/>
          <a:effectRef idx="0"/>
          <a:fontRef idx="minor"/>
        </p:style>
        <p:txBody>
          <a:bodyPr lIns="90000" tIns="91440" rIns="90000" bIns="91440" anchor="t">
            <a:spAutoFit/>
          </a:bodyPr>
          <a:p>
            <a:pPr algn="ctr" defTabSz="457200">
              <a:lnSpc>
                <a:spcPct val="100000"/>
              </a:lnSpc>
            </a:pPr>
            <a:r>
              <a:rPr lang="en-US" sz="1100" b="0" i="1" u="none" strike="noStrike">
                <a:solidFill>
                  <a:srgbClr val="94A3B8"/>
                </a:solidFill>
                <a:effectLst/>
                <a:uFillTx/>
                <a:latin typeface="Arial"/>
              </a:rPr>
              <a:t>Result: The CEO's head is stretched horizontally, but the corporate logo is visible.</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Rectangle 1"/>
          <p:cNvSpPr/>
          <p:nvPr/>
        </p:nvSpPr>
        <p:spPr>
          <a:xfrm>
            <a:off x="0" y="0"/>
            <a:ext cx="12191400" cy="6857640"/>
          </a:xfrm>
          <a:prstGeom prst="rect">
            <a:avLst/>
          </a:prstGeom>
          <a:solidFill>
            <a:srgbClr val="0F172A"/>
          </a:solidFill>
          <a:ln>
            <a:solidFill>
              <a:srgbClr val="0F17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0" name="TextBox 2"/>
          <p:cNvSpPr/>
          <p:nvPr/>
        </p:nvSpPr>
        <p:spPr>
          <a:xfrm>
            <a:off x="731520" y="365760"/>
            <a:ext cx="9143640" cy="273960"/>
          </a:xfrm>
          <a:prstGeom prst="rect">
            <a:avLst/>
          </a:prstGeom>
          <a:noFill/>
          <a:ln w="0">
            <a:noFill/>
          </a:ln>
        </p:spPr>
        <p:style>
          <a:lnRef idx="0"/>
          <a:fillRef idx="0"/>
          <a:effectRef idx="0"/>
          <a:fontRef idx="minor"/>
        </p:style>
        <p:txBody>
          <a:bodyPr lIns="90000" tIns="76680" rIns="90000" bIns="76680" anchor="t">
            <a:spAutoFit/>
          </a:bodyPr>
          <a:p>
            <a:pPr defTabSz="457200">
              <a:lnSpc>
                <a:spcPct val="100000"/>
              </a:lnSpc>
            </a:pPr>
            <a:r>
              <a:rPr lang="en-US" sz="1000" b="1" u="none" strike="noStrike">
                <a:solidFill>
                  <a:srgbClr val="06B6D4"/>
                </a:solidFill>
                <a:effectLst/>
                <a:uFillTx/>
                <a:latin typeface="Arial"/>
              </a:rPr>
              <a:t>03 // MONITOR CALIBRATION</a:t>
            </a:r>
            <a:endParaRPr lang="en-US" sz="1000" b="0" u="none" strike="noStrike">
              <a:solidFill>
                <a:srgbClr val="000000"/>
              </a:solidFill>
              <a:effectLst/>
              <a:uFillTx/>
              <a:latin typeface="Arial"/>
            </a:endParaRPr>
          </a:p>
        </p:txBody>
      </p:sp>
      <p:sp>
        <p:nvSpPr>
          <p:cNvPr id="141" name="TextBox 3"/>
          <p:cNvSpPr/>
          <p:nvPr/>
        </p:nvSpPr>
        <p:spPr>
          <a:xfrm>
            <a:off x="731520" y="548640"/>
            <a:ext cx="10058040" cy="731160"/>
          </a:xfrm>
          <a:prstGeom prst="rect">
            <a:avLst/>
          </a:prstGeom>
          <a:noFill/>
          <a:ln w="0">
            <a:noFill/>
          </a:ln>
        </p:spPr>
        <p:style>
          <a:lnRef idx="0"/>
          <a:fillRef idx="0"/>
          <a:effectRef idx="0"/>
          <a:fontRef idx="minor"/>
        </p:style>
        <p:txBody>
          <a:bodyPr lIns="90000" tIns="91440" rIns="90000" bIns="91440" anchor="t">
            <a:spAutoFit/>
          </a:bodyPr>
          <a:p>
            <a:pPr defTabSz="457200">
              <a:lnSpc>
                <a:spcPct val="100000"/>
              </a:lnSpc>
            </a:pPr>
            <a:r>
              <a:rPr lang="en-US" sz="2800" b="1" u="none" strike="noStrike">
                <a:solidFill>
                  <a:srgbClr val="F8FAFC"/>
                </a:solidFill>
                <a:effectLst/>
                <a:uFillTx/>
                <a:latin typeface="Arial"/>
              </a:rPr>
              <a:t>The Confidence Monitor: The Presenter's Cheat Code</a:t>
            </a:r>
            <a:endParaRPr lang="en-US" sz="2800" b="0" u="none" strike="noStrike">
              <a:solidFill>
                <a:srgbClr val="000000"/>
              </a:solidFill>
              <a:effectLst/>
              <a:uFillTx/>
              <a:latin typeface="Arial"/>
            </a:endParaRPr>
          </a:p>
        </p:txBody>
      </p:sp>
      <p:sp>
        <p:nvSpPr>
          <p:cNvPr id="142" name="Rectangle 4"/>
          <p:cNvSpPr/>
          <p:nvPr/>
        </p:nvSpPr>
        <p:spPr>
          <a:xfrm>
            <a:off x="731520" y="1280160"/>
            <a:ext cx="10728360" cy="18000"/>
          </a:xfrm>
          <a:prstGeom prst="rect">
            <a:avLst/>
          </a:prstGeom>
          <a:solidFill>
            <a:srgbClr val="06B6D4"/>
          </a:solidFill>
          <a:ln>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43" name="Rounded Rectangle 5"/>
          <p:cNvSpPr/>
          <p:nvPr/>
        </p:nvSpPr>
        <p:spPr>
          <a:xfrm>
            <a:off x="731520" y="1645920"/>
            <a:ext cx="5486040" cy="4571640"/>
          </a:xfrm>
          <a:prstGeom prst="roundRect">
            <a:avLst>
              <a:gd name="adj" fmla="val 16667"/>
            </a:avLst>
          </a:prstGeom>
          <a:solidFill>
            <a:srgbClr val="1E293B"/>
          </a:solidFill>
          <a:ln w="19050">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4" name="TextBox 6"/>
          <p:cNvSpPr/>
          <p:nvPr/>
        </p:nvSpPr>
        <p:spPr>
          <a:xfrm>
            <a:off x="914400" y="1828800"/>
            <a:ext cx="5120280" cy="365400"/>
          </a:xfrm>
          <a:prstGeom prst="rect">
            <a:avLst/>
          </a:prstGeom>
          <a:noFill/>
          <a:ln w="0">
            <a:noFill/>
          </a:ln>
        </p:spPr>
        <p:style>
          <a:lnRef idx="0"/>
          <a:fillRef idx="0"/>
          <a:effectRef idx="0"/>
          <a:fontRef idx="minor"/>
        </p:style>
        <p:txBody>
          <a:bodyPr lIns="90000" tIns="91440" rIns="90000" bIns="91440" anchor="t">
            <a:spAutoFit/>
          </a:bodyPr>
          <a:p>
            <a:pPr defTabSz="457200">
              <a:lnSpc>
                <a:spcPct val="100000"/>
              </a:lnSpc>
            </a:pPr>
            <a:r>
              <a:rPr lang="en-US" sz="1600" b="1" u="none" strike="noStrike">
                <a:solidFill>
                  <a:srgbClr val="06B6D4"/>
                </a:solidFill>
                <a:effectLst/>
                <a:uFillTx/>
                <a:latin typeface="Arial"/>
              </a:rPr>
              <a:t>STAGE MONITOR PROTOCOLS</a:t>
            </a:r>
            <a:endParaRPr lang="en-US" sz="1600" b="0" u="none" strike="noStrike">
              <a:solidFill>
                <a:srgbClr val="000000"/>
              </a:solidFill>
              <a:effectLst/>
              <a:uFillTx/>
              <a:latin typeface="Arial"/>
            </a:endParaRPr>
          </a:p>
        </p:txBody>
      </p:sp>
      <p:sp>
        <p:nvSpPr>
          <p:cNvPr id="145" name="TextBox 7"/>
          <p:cNvSpPr/>
          <p:nvPr/>
        </p:nvSpPr>
        <p:spPr>
          <a:xfrm>
            <a:off x="914400" y="2286000"/>
            <a:ext cx="5120280" cy="3657240"/>
          </a:xfrm>
          <a:prstGeom prst="rect">
            <a:avLst/>
          </a:prstGeom>
          <a:noFill/>
          <a:ln w="0">
            <a:noFill/>
          </a:ln>
        </p:spPr>
        <p:style>
          <a:lnRef idx="0"/>
          <a:fillRef idx="0"/>
          <a:effectRef idx="0"/>
          <a:fontRef idx="minor"/>
        </p:style>
        <p:txBody>
          <a:bodyPr lIns="137160" tIns="137160" rIns="137160" bIns="137160" anchor="t">
            <a:spAutoFit/>
          </a:bodyPr>
          <a:p>
            <a:pPr defTabSz="457200">
              <a:lnSpc>
                <a:spcPct val="100000"/>
              </a:lnSpc>
              <a:spcAft>
                <a:spcPts val="1199"/>
              </a:spcAft>
            </a:pPr>
            <a:r>
              <a:rPr lang="en-US" sz="1300" b="1" u="none" strike="noStrike">
                <a:solidFill>
                  <a:srgbClr val="F8FAFC"/>
                </a:solidFill>
                <a:effectLst/>
                <a:uFillTx/>
                <a:latin typeface="Arial"/>
              </a:rPr>
              <a:t>[ ] The Owl Turn:</a:t>
            </a:r>
            <a:r>
              <a:rPr lang="en-US" sz="1300" b="0" u="none" strike="noStrike">
                <a:solidFill>
                  <a:srgbClr val="94A3B8"/>
                </a:solidFill>
                <a:effectLst/>
                <a:uFillTx/>
                <a:latin typeface="Arial"/>
              </a:rPr>
              <a:t> The habit of presenters spinning 180 degrees to read their own slides off the massive screen behind them, showing the audience only their back.</a:t>
            </a:r>
            <a:endParaRPr lang="en-US" sz="1300" b="0" u="none" strike="noStrike">
              <a:solidFill>
                <a:srgbClr val="000000"/>
              </a:solidFill>
              <a:effectLst/>
              <a:uFillTx/>
              <a:latin typeface="Arial"/>
            </a:endParaRPr>
          </a:p>
          <a:p>
            <a:pPr defTabSz="457200">
              <a:lnSpc>
                <a:spcPct val="100000"/>
              </a:lnSpc>
              <a:spcAft>
                <a:spcPts val="1199"/>
              </a:spcAft>
            </a:pPr>
            <a:r>
              <a:rPr lang="en-US" sz="1300" b="1" u="none" strike="noStrike">
                <a:solidFill>
                  <a:srgbClr val="F8FAFC"/>
                </a:solidFill>
                <a:effectLst/>
                <a:uFillTx/>
                <a:latin typeface="Arial"/>
              </a:rPr>
              <a:t>[ ] The Teleprompter Stare:</a:t>
            </a:r>
            <a:r>
              <a:rPr lang="en-US" sz="1300" b="0" u="none" strike="noStrike">
                <a:solidFill>
                  <a:srgbClr val="94A3B8"/>
                </a:solidFill>
                <a:effectLst/>
                <a:uFillTx/>
                <a:latin typeface="Arial"/>
              </a:rPr>
              <a:t> Glancing down at the confidence monitor at the foot of the stage, pretending you are speaking spontaneously while reading word-for-word.</a:t>
            </a:r>
            <a:endParaRPr lang="en-US" sz="1300" b="0" u="none" strike="noStrike">
              <a:solidFill>
                <a:srgbClr val="000000"/>
              </a:solidFill>
              <a:effectLst/>
              <a:uFillTx/>
              <a:latin typeface="Arial"/>
            </a:endParaRPr>
          </a:p>
          <a:p>
            <a:pPr defTabSz="457200">
              <a:lnSpc>
                <a:spcPct val="100000"/>
              </a:lnSpc>
              <a:spcAft>
                <a:spcPts val="1199"/>
              </a:spcAft>
            </a:pPr>
            <a:r>
              <a:rPr lang="en-US" sz="1300" b="1" u="none" strike="noStrike">
                <a:solidFill>
                  <a:srgbClr val="F8FAFC"/>
                </a:solidFill>
                <a:effectLst/>
                <a:uFillTx/>
                <a:latin typeface="Arial"/>
              </a:rPr>
              <a:t>[ ] The Red Timer Alert:</a:t>
            </a:r>
            <a:r>
              <a:rPr lang="en-US" sz="1300" b="0" u="none" strike="noStrike">
                <a:solidFill>
                  <a:srgbClr val="94A3B8"/>
                </a:solidFill>
                <a:effectLst/>
                <a:uFillTx/>
                <a:latin typeface="Arial"/>
              </a:rPr>
              <a:t> A giant digital clock on the floor that counts down your remaining minutes, flashing red to warn you that lunch is being delayed.</a:t>
            </a:r>
            <a:endParaRPr lang="en-US" sz="1300" b="0" u="none" strike="noStrike">
              <a:solidFill>
                <a:srgbClr val="000000"/>
              </a:solidFill>
              <a:effectLst/>
              <a:uFillTx/>
              <a:latin typeface="Arial"/>
            </a:endParaRPr>
          </a:p>
          <a:p>
            <a:pPr defTabSz="457200">
              <a:lnSpc>
                <a:spcPct val="100000"/>
              </a:lnSpc>
              <a:spcAft>
                <a:spcPts val="1199"/>
              </a:spcAft>
            </a:pPr>
            <a:r>
              <a:rPr lang="en-US" sz="1300" b="1" u="none" strike="noStrike">
                <a:solidFill>
                  <a:srgbClr val="F8FAFC"/>
                </a:solidFill>
                <a:effectLst/>
                <a:uFillTx/>
                <a:latin typeface="Arial"/>
              </a:rPr>
              <a:t>[ ] Text Size Check:</a:t>
            </a:r>
            <a:r>
              <a:rPr lang="en-US" sz="1300" b="0" u="none" strike="noStrike">
                <a:solidFill>
                  <a:srgbClr val="94A3B8"/>
                </a:solidFill>
                <a:effectLst/>
                <a:uFillTx/>
                <a:latin typeface="Arial"/>
              </a:rPr>
              <a:t> Formatting notes in 10-point font, requiring the presenter to squint at the floor like they are looking for a lost contact lens.</a:t>
            </a:r>
            <a:endParaRPr lang="en-US" sz="1300" b="0" u="none" strike="noStrike">
              <a:solidFill>
                <a:srgbClr val="000000"/>
              </a:solidFill>
              <a:effectLst/>
              <a:uFillTx/>
              <a:latin typeface="Arial"/>
            </a:endParaRPr>
          </a:p>
        </p:txBody>
      </p:sp>
      <p:sp>
        <p:nvSpPr>
          <p:cNvPr id="146" name="Rounded Rectangle 8"/>
          <p:cNvSpPr/>
          <p:nvPr/>
        </p:nvSpPr>
        <p:spPr>
          <a:xfrm>
            <a:off x="6583680" y="1645920"/>
            <a:ext cx="4845960" cy="4571640"/>
          </a:xfrm>
          <a:prstGeom prst="roundRect">
            <a:avLst>
              <a:gd name="adj" fmla="val 16667"/>
            </a:avLst>
          </a:prstGeom>
          <a:solidFill>
            <a:srgbClr val="0F172A"/>
          </a:solidFill>
          <a:ln w="19050">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7" name="Rounded Rectangle 9"/>
          <p:cNvSpPr/>
          <p:nvPr/>
        </p:nvSpPr>
        <p:spPr>
          <a:xfrm>
            <a:off x="6858000" y="1920240"/>
            <a:ext cx="4297320" cy="4023000"/>
          </a:xfrm>
          <a:prstGeom prst="roundRect">
            <a:avLst>
              <a:gd name="adj" fmla="val 16667"/>
            </a:avLst>
          </a:prstGeom>
          <a:solidFill>
            <a:srgbClr val="1E293B"/>
          </a:solidFill>
          <a:ln w="19050">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8" name="Rounded Rectangle 10"/>
          <p:cNvSpPr/>
          <p:nvPr/>
        </p:nvSpPr>
        <p:spPr>
          <a:xfrm>
            <a:off x="7040880" y="2103120"/>
            <a:ext cx="2102760" cy="1371240"/>
          </a:xfrm>
          <a:prstGeom prst="roundRect">
            <a:avLst>
              <a:gd name="adj" fmla="val 16667"/>
            </a:avLst>
          </a:prstGeom>
          <a:solidFill>
            <a:srgbClr val="0F172A"/>
          </a:solidFill>
          <a:ln w="19050">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9" name="TextBox 11"/>
          <p:cNvSpPr/>
          <p:nvPr/>
        </p:nvSpPr>
        <p:spPr>
          <a:xfrm>
            <a:off x="7040880" y="2560320"/>
            <a:ext cx="2102760" cy="456840"/>
          </a:xfrm>
          <a:prstGeom prst="rect">
            <a:avLst/>
          </a:prstGeom>
          <a:noFill/>
          <a:ln w="0">
            <a:noFill/>
          </a:ln>
        </p:spPr>
        <p:style>
          <a:lnRef idx="0"/>
          <a:fillRef idx="0"/>
          <a:effectRef idx="0"/>
          <a:fontRef idx="minor"/>
        </p:style>
        <p:txBody>
          <a:bodyPr lIns="90000" tIns="84240" rIns="90000" bIns="84240" anchor="t">
            <a:spAutoFit/>
          </a:bodyPr>
          <a:p>
            <a:pPr algn="ctr" defTabSz="457200">
              <a:lnSpc>
                <a:spcPct val="100000"/>
              </a:lnSpc>
            </a:pPr>
            <a:r>
              <a:rPr lang="en-US" sz="1100" b="1" u="none" strike="noStrike">
                <a:solidFill>
                  <a:srgbClr val="94A3B8"/>
                </a:solidFill>
                <a:effectLst/>
                <a:uFillTx/>
                <a:latin typeface="Arial"/>
              </a:rPr>
              <a:t>[SLIDE PREVIEW]</a:t>
            </a:r>
            <a:endParaRPr lang="en-US" sz="1100" b="0" u="none" strike="noStrike">
              <a:solidFill>
                <a:srgbClr val="000000"/>
              </a:solidFill>
              <a:effectLst/>
              <a:uFillTx/>
              <a:latin typeface="Arial"/>
            </a:endParaRPr>
          </a:p>
        </p:txBody>
      </p:sp>
      <p:sp>
        <p:nvSpPr>
          <p:cNvPr id="150" name="Rounded Rectangle 12"/>
          <p:cNvSpPr/>
          <p:nvPr/>
        </p:nvSpPr>
        <p:spPr>
          <a:xfrm>
            <a:off x="9281160" y="2103120"/>
            <a:ext cx="1645560" cy="1371240"/>
          </a:xfrm>
          <a:prstGeom prst="roundRect">
            <a:avLst>
              <a:gd name="adj" fmla="val 16667"/>
            </a:avLst>
          </a:prstGeom>
          <a:solidFill>
            <a:srgbClr val="0F172A"/>
          </a:solidFill>
          <a:ln w="19050">
            <a:solidFill>
              <a:srgbClr val="F59E0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1" name="TextBox 13"/>
          <p:cNvSpPr/>
          <p:nvPr/>
        </p:nvSpPr>
        <p:spPr>
          <a:xfrm>
            <a:off x="9281160" y="2286000"/>
            <a:ext cx="1645560" cy="456840"/>
          </a:xfrm>
          <a:prstGeom prst="rect">
            <a:avLst/>
          </a:prstGeom>
          <a:noFill/>
          <a:ln w="0">
            <a:noFill/>
          </a:ln>
        </p:spPr>
        <p:style>
          <a:lnRef idx="0"/>
          <a:fillRef idx="0"/>
          <a:effectRef idx="0"/>
          <a:fontRef idx="minor"/>
        </p:style>
        <p:txBody>
          <a:bodyPr lIns="90000" tIns="76680" rIns="90000" bIns="76680" anchor="t">
            <a:spAutoFit/>
          </a:bodyPr>
          <a:p>
            <a:pPr algn="ctr" defTabSz="457200">
              <a:lnSpc>
                <a:spcPct val="100000"/>
              </a:lnSpc>
            </a:pPr>
            <a:r>
              <a:rPr lang="en-US" sz="1000" b="1" u="none" strike="noStrike">
                <a:solidFill>
                  <a:srgbClr val="94A3B8"/>
                </a:solidFill>
                <a:effectLst/>
                <a:uFillTx/>
                <a:latin typeface="Arial"/>
              </a:rPr>
              <a:t>TIMER</a:t>
            </a:r>
            <a:endParaRPr lang="en-US" sz="1000" b="0" u="none" strike="noStrike">
              <a:solidFill>
                <a:srgbClr val="000000"/>
              </a:solidFill>
              <a:effectLst/>
              <a:uFillTx/>
              <a:latin typeface="Arial"/>
            </a:endParaRPr>
          </a:p>
        </p:txBody>
      </p:sp>
      <p:sp>
        <p:nvSpPr>
          <p:cNvPr id="152" name="TextBox 14"/>
          <p:cNvSpPr/>
          <p:nvPr/>
        </p:nvSpPr>
        <p:spPr>
          <a:xfrm>
            <a:off x="9281160" y="2651760"/>
            <a:ext cx="1645560" cy="731160"/>
          </a:xfrm>
          <a:prstGeom prst="rect">
            <a:avLst/>
          </a:prstGeom>
          <a:noFill/>
          <a:ln w="0">
            <a:noFill/>
          </a:ln>
        </p:spPr>
        <p:style>
          <a:lnRef idx="0"/>
          <a:fillRef idx="0"/>
          <a:effectRef idx="0"/>
          <a:fontRef idx="minor"/>
        </p:style>
        <p:txBody>
          <a:bodyPr lIns="90000" tIns="91440" rIns="90000" bIns="91440" anchor="t">
            <a:spAutoFit/>
          </a:bodyPr>
          <a:p>
            <a:pPr algn="ctr" defTabSz="457200">
              <a:lnSpc>
                <a:spcPct val="100000"/>
              </a:lnSpc>
            </a:pPr>
            <a:r>
              <a:rPr lang="en-US" sz="2800" b="1" u="none" strike="noStrike">
                <a:solidFill>
                  <a:srgbClr val="F59E0B"/>
                </a:solidFill>
                <a:effectLst/>
                <a:uFillTx/>
                <a:latin typeface="Arial"/>
              </a:rPr>
              <a:t>02:30</a:t>
            </a:r>
            <a:endParaRPr lang="en-US" sz="2800" b="0" u="none" strike="noStrike">
              <a:solidFill>
                <a:srgbClr val="000000"/>
              </a:solidFill>
              <a:effectLst/>
              <a:uFillTx/>
              <a:latin typeface="Arial"/>
            </a:endParaRPr>
          </a:p>
        </p:txBody>
      </p:sp>
      <p:sp>
        <p:nvSpPr>
          <p:cNvPr id="153" name="Rounded Rectangle 15"/>
          <p:cNvSpPr/>
          <p:nvPr/>
        </p:nvSpPr>
        <p:spPr>
          <a:xfrm>
            <a:off x="7040880" y="3566160"/>
            <a:ext cx="3885840" cy="2194200"/>
          </a:xfrm>
          <a:prstGeom prst="roundRect">
            <a:avLst>
              <a:gd name="adj" fmla="val 16667"/>
            </a:avLst>
          </a:prstGeom>
          <a:solidFill>
            <a:srgbClr val="0F172A"/>
          </a:solidFill>
          <a:ln w="19050">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4" name="TextBox 16"/>
          <p:cNvSpPr/>
          <p:nvPr/>
        </p:nvSpPr>
        <p:spPr>
          <a:xfrm>
            <a:off x="7132320" y="3657600"/>
            <a:ext cx="3702960" cy="2011320"/>
          </a:xfrm>
          <a:prstGeom prst="rect">
            <a:avLst/>
          </a:prstGeom>
          <a:noFill/>
          <a:ln w="0">
            <a:noFill/>
          </a:ln>
        </p:spPr>
        <p:style>
          <a:lnRef idx="0"/>
          <a:fillRef idx="0"/>
          <a:effectRef idx="0"/>
          <a:fontRef idx="minor"/>
        </p:style>
        <p:txBody>
          <a:bodyPr lIns="90000" tIns="91440" rIns="90000" bIns="91440" anchor="t">
            <a:spAutoFit/>
          </a:bodyPr>
          <a:p>
            <a:pPr defTabSz="457200">
              <a:lnSpc>
                <a:spcPct val="100000"/>
              </a:lnSpc>
            </a:pPr>
            <a:r>
              <a:rPr lang="en-US" sz="1000" b="0" u="none" strike="noStrike">
                <a:solidFill>
                  <a:srgbClr val="F8FAFC"/>
                </a:solidFill>
                <a:effectLst/>
                <a:uFillTx/>
                <a:latin typeface="Arial"/>
              </a:rPr>
              <a:t>PRESENTER NOTES:</a:t>
            </a:r>
            <a:br>
              <a:rPr sz="1000"/>
            </a:br>
            <a:r>
              <a:rPr lang="en-US" sz="1000" b="0" u="none" strike="noStrike">
                <a:solidFill>
                  <a:srgbClr val="F8FAFC"/>
                </a:solidFill>
                <a:effectLst/>
                <a:uFillTx/>
                <a:latin typeface="Arial"/>
              </a:rPr>
              <a:t>- Keep eye contact with audience.</a:t>
            </a:r>
            <a:br>
              <a:rPr sz="1000"/>
            </a:br>
            <a:r>
              <a:rPr lang="en-US" sz="1000" b="0" u="none" strike="noStrike">
                <a:solidFill>
                  <a:srgbClr val="F8FAFC"/>
                </a:solidFill>
                <a:effectLst/>
                <a:uFillTx/>
                <a:latin typeface="Arial"/>
              </a:rPr>
              <a:t>- Yes, you are reading this screen.</a:t>
            </a:r>
            <a:br>
              <a:rPr sz="1000"/>
            </a:br>
            <a:r>
              <a:rPr lang="en-US" sz="1000" b="0" u="none" strike="noStrike">
                <a:solidFill>
                  <a:srgbClr val="F8FAFC"/>
                </a:solidFill>
                <a:effectLst/>
                <a:uFillTx/>
                <a:latin typeface="Arial"/>
              </a:rPr>
              <a:t>- DO NOT turn around to look at the projector.</a:t>
            </a:r>
            <a:br>
              <a:rPr sz="1000"/>
            </a:br>
            <a:r>
              <a:rPr lang="en-US" sz="1000" b="0" u="none" strike="noStrike">
                <a:solidFill>
                  <a:srgbClr val="F8FAFC"/>
                </a:solidFill>
                <a:effectLst/>
                <a:uFillTx/>
                <a:latin typeface="Arial"/>
              </a:rPr>
              <a:t>- Breathe. The sound crew is watching.</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Rectangle 1"/>
          <p:cNvSpPr/>
          <p:nvPr/>
        </p:nvSpPr>
        <p:spPr>
          <a:xfrm>
            <a:off x="0" y="0"/>
            <a:ext cx="12191400" cy="6857640"/>
          </a:xfrm>
          <a:prstGeom prst="rect">
            <a:avLst/>
          </a:prstGeom>
          <a:solidFill>
            <a:srgbClr val="0F172A"/>
          </a:solidFill>
          <a:ln>
            <a:solidFill>
              <a:srgbClr val="0F17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56" name="TextBox 2"/>
          <p:cNvSpPr/>
          <p:nvPr/>
        </p:nvSpPr>
        <p:spPr>
          <a:xfrm>
            <a:off x="731520" y="365760"/>
            <a:ext cx="9143640" cy="273960"/>
          </a:xfrm>
          <a:prstGeom prst="rect">
            <a:avLst/>
          </a:prstGeom>
          <a:noFill/>
          <a:ln w="0">
            <a:noFill/>
          </a:ln>
        </p:spPr>
        <p:style>
          <a:lnRef idx="0"/>
          <a:fillRef idx="0"/>
          <a:effectRef idx="0"/>
          <a:fontRef idx="minor"/>
        </p:style>
        <p:txBody>
          <a:bodyPr lIns="90000" tIns="76680" rIns="90000" bIns="76680" anchor="t">
            <a:spAutoFit/>
          </a:bodyPr>
          <a:p>
            <a:pPr defTabSz="457200">
              <a:lnSpc>
                <a:spcPct val="100000"/>
              </a:lnSpc>
            </a:pPr>
            <a:r>
              <a:rPr lang="en-US" sz="1000" b="1" u="none" strike="noStrike">
                <a:solidFill>
                  <a:srgbClr val="06B6D4"/>
                </a:solidFill>
                <a:effectLst/>
                <a:uFillTx/>
                <a:latin typeface="Arial"/>
              </a:rPr>
              <a:t>04 // AUDIENCE Q&amp;A</a:t>
            </a:r>
            <a:endParaRPr lang="en-US" sz="1000" b="0" u="none" strike="noStrike">
              <a:solidFill>
                <a:srgbClr val="000000"/>
              </a:solidFill>
              <a:effectLst/>
              <a:uFillTx/>
              <a:latin typeface="Arial"/>
            </a:endParaRPr>
          </a:p>
        </p:txBody>
      </p:sp>
      <p:sp>
        <p:nvSpPr>
          <p:cNvPr id="157" name="TextBox 3"/>
          <p:cNvSpPr/>
          <p:nvPr/>
        </p:nvSpPr>
        <p:spPr>
          <a:xfrm>
            <a:off x="731520" y="548640"/>
            <a:ext cx="10058040" cy="731160"/>
          </a:xfrm>
          <a:prstGeom prst="rect">
            <a:avLst/>
          </a:prstGeom>
          <a:noFill/>
          <a:ln w="0">
            <a:noFill/>
          </a:ln>
        </p:spPr>
        <p:style>
          <a:lnRef idx="0"/>
          <a:fillRef idx="0"/>
          <a:effectRef idx="0"/>
          <a:fontRef idx="minor"/>
        </p:style>
        <p:txBody>
          <a:bodyPr lIns="90000" tIns="91440" rIns="90000" bIns="91440" anchor="t">
            <a:spAutoFit/>
          </a:bodyPr>
          <a:p>
            <a:pPr defTabSz="457200">
              <a:lnSpc>
                <a:spcPct val="100000"/>
              </a:lnSpc>
            </a:pPr>
            <a:r>
              <a:rPr lang="en-US" sz="2800" b="1" u="none" strike="noStrike">
                <a:solidFill>
                  <a:srgbClr val="F8FAFC"/>
                </a:solidFill>
                <a:effectLst/>
                <a:uFillTx/>
                <a:latin typeface="Arial"/>
              </a:rPr>
              <a:t>The Q&amp;A Fumble: Surviving the Audience</a:t>
            </a:r>
            <a:endParaRPr lang="en-US" sz="2800" b="0" u="none" strike="noStrike">
              <a:solidFill>
                <a:srgbClr val="000000"/>
              </a:solidFill>
              <a:effectLst/>
              <a:uFillTx/>
              <a:latin typeface="Arial"/>
            </a:endParaRPr>
          </a:p>
        </p:txBody>
      </p:sp>
      <p:sp>
        <p:nvSpPr>
          <p:cNvPr id="158" name="Rectangle 4"/>
          <p:cNvSpPr/>
          <p:nvPr/>
        </p:nvSpPr>
        <p:spPr>
          <a:xfrm>
            <a:off x="731520" y="1280160"/>
            <a:ext cx="10728360" cy="18000"/>
          </a:xfrm>
          <a:prstGeom prst="rect">
            <a:avLst/>
          </a:prstGeom>
          <a:solidFill>
            <a:srgbClr val="06B6D4"/>
          </a:solidFill>
          <a:ln>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59" name="Rounded Rectangle 5"/>
          <p:cNvSpPr/>
          <p:nvPr/>
        </p:nvSpPr>
        <p:spPr>
          <a:xfrm>
            <a:off x="731520" y="1645920"/>
            <a:ext cx="5486040" cy="4571640"/>
          </a:xfrm>
          <a:prstGeom prst="roundRect">
            <a:avLst>
              <a:gd name="adj" fmla="val 16667"/>
            </a:avLst>
          </a:prstGeom>
          <a:solidFill>
            <a:srgbClr val="1E293B"/>
          </a:solidFill>
          <a:ln w="19050">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0" name="TextBox 6"/>
          <p:cNvSpPr/>
          <p:nvPr/>
        </p:nvSpPr>
        <p:spPr>
          <a:xfrm>
            <a:off x="914400" y="1828800"/>
            <a:ext cx="5120280" cy="365400"/>
          </a:xfrm>
          <a:prstGeom prst="rect">
            <a:avLst/>
          </a:prstGeom>
          <a:noFill/>
          <a:ln w="0">
            <a:noFill/>
          </a:ln>
        </p:spPr>
        <p:style>
          <a:lnRef idx="0"/>
          <a:fillRef idx="0"/>
          <a:effectRef idx="0"/>
          <a:fontRef idx="minor"/>
        </p:style>
        <p:txBody>
          <a:bodyPr lIns="90000" tIns="91440" rIns="90000" bIns="91440" anchor="t">
            <a:spAutoFit/>
          </a:bodyPr>
          <a:p>
            <a:pPr defTabSz="457200">
              <a:lnSpc>
                <a:spcPct val="100000"/>
              </a:lnSpc>
            </a:pPr>
            <a:r>
              <a:rPr lang="en-US" sz="1600" b="1" u="none" strike="noStrike">
                <a:solidFill>
                  <a:srgbClr val="06B6D4"/>
                </a:solidFill>
                <a:effectLst/>
                <a:uFillTx/>
                <a:latin typeface="Arial"/>
              </a:rPr>
              <a:t>Q&amp;A FAILURE CRITERIA</a:t>
            </a:r>
            <a:endParaRPr lang="en-US" sz="1600" b="0" u="none" strike="noStrike">
              <a:solidFill>
                <a:srgbClr val="000000"/>
              </a:solidFill>
              <a:effectLst/>
              <a:uFillTx/>
              <a:latin typeface="Arial"/>
            </a:endParaRPr>
          </a:p>
        </p:txBody>
      </p:sp>
      <p:sp>
        <p:nvSpPr>
          <p:cNvPr id="161" name="TextBox 7"/>
          <p:cNvSpPr/>
          <p:nvPr/>
        </p:nvSpPr>
        <p:spPr>
          <a:xfrm>
            <a:off x="914400" y="2286000"/>
            <a:ext cx="5120280" cy="3657240"/>
          </a:xfrm>
          <a:prstGeom prst="rect">
            <a:avLst/>
          </a:prstGeom>
          <a:noFill/>
          <a:ln w="0">
            <a:noFill/>
          </a:ln>
        </p:spPr>
        <p:style>
          <a:lnRef idx="0"/>
          <a:fillRef idx="0"/>
          <a:effectRef idx="0"/>
          <a:fontRef idx="minor"/>
        </p:style>
        <p:txBody>
          <a:bodyPr lIns="137160" tIns="137160" rIns="137160" bIns="137160" anchor="t">
            <a:spAutoFit/>
          </a:bodyPr>
          <a:p>
            <a:pPr defTabSz="457200">
              <a:lnSpc>
                <a:spcPct val="100000"/>
              </a:lnSpc>
              <a:spcAft>
                <a:spcPts val="1199"/>
              </a:spcAft>
            </a:pPr>
            <a:r>
              <a:rPr lang="en-US" sz="1300" b="1" u="none" strike="noStrike">
                <a:solidFill>
                  <a:srgbClr val="F8FAFC"/>
                </a:solidFill>
                <a:effectLst/>
                <a:uFillTx/>
                <a:latin typeface="Arial"/>
              </a:rPr>
              <a:t>[ ] The 'More of a Comment' Guy:</a:t>
            </a:r>
            <a:r>
              <a:rPr lang="en-US" sz="1300" b="0" u="none" strike="noStrike">
                <a:solidFill>
                  <a:srgbClr val="94A3B8"/>
                </a:solidFill>
                <a:effectLst/>
                <a:uFillTx/>
                <a:latin typeface="Arial"/>
              </a:rPr>
              <a:t> An audience member who takes the microphone only to deliver a three-minute lecture summarizing their own career history.</a:t>
            </a:r>
            <a:endParaRPr lang="en-US" sz="1300" b="0" u="none" strike="noStrike">
              <a:solidFill>
                <a:srgbClr val="000000"/>
              </a:solidFill>
              <a:effectLst/>
              <a:uFillTx/>
              <a:latin typeface="Arial"/>
            </a:endParaRPr>
          </a:p>
          <a:p>
            <a:pPr defTabSz="457200">
              <a:lnSpc>
                <a:spcPct val="100000"/>
              </a:lnSpc>
              <a:spcAft>
                <a:spcPts val="1199"/>
              </a:spcAft>
            </a:pPr>
            <a:r>
              <a:rPr lang="en-US" sz="1300" b="1" u="none" strike="noStrike">
                <a:solidFill>
                  <a:srgbClr val="F8FAFC"/>
                </a:solidFill>
                <a:effectLst/>
                <a:uFillTx/>
                <a:latin typeface="Arial"/>
              </a:rPr>
              <a:t>[ ] Shouting Without the Mic:</a:t>
            </a:r>
            <a:r>
              <a:rPr lang="en-US" sz="1300" b="0" u="none" strike="noStrike">
                <a:solidFill>
                  <a:srgbClr val="94A3B8"/>
                </a:solidFill>
                <a:effectLst/>
                <a:uFillTx/>
                <a:latin typeface="Arial"/>
              </a:rPr>
              <a:t> People shouting questions from the back. The presenter answers, but the virtual audience online just hears dead silence.</a:t>
            </a:r>
            <a:endParaRPr lang="en-US" sz="1300" b="0" u="none" strike="noStrike">
              <a:solidFill>
                <a:srgbClr val="000000"/>
              </a:solidFill>
              <a:effectLst/>
              <a:uFillTx/>
              <a:latin typeface="Arial"/>
            </a:endParaRPr>
          </a:p>
          <a:p>
            <a:pPr defTabSz="457200">
              <a:lnSpc>
                <a:spcPct val="100000"/>
              </a:lnSpc>
              <a:spcAft>
                <a:spcPts val="1199"/>
              </a:spcAft>
            </a:pPr>
            <a:r>
              <a:rPr lang="en-US" sz="1300" b="1" u="none" strike="noStrike">
                <a:solidFill>
                  <a:srgbClr val="F8FAFC"/>
                </a:solidFill>
                <a:effectLst/>
                <a:uFillTx/>
                <a:latin typeface="Arial"/>
              </a:rPr>
              <a:t>[ ] The Hostage Mic:</a:t>
            </a:r>
            <a:r>
              <a:rPr lang="en-US" sz="1300" b="0" u="none" strike="noStrike">
                <a:solidFill>
                  <a:srgbClr val="94A3B8"/>
                </a:solidFill>
                <a:effectLst/>
                <a:uFillTx/>
                <a:latin typeface="Arial"/>
              </a:rPr>
              <a:t> Presenters refusing to repeat the question, leaving everyone to guess what the hell we are talking about.</a:t>
            </a:r>
            <a:endParaRPr lang="en-US" sz="1300" b="0" u="none" strike="noStrike">
              <a:solidFill>
                <a:srgbClr val="000000"/>
              </a:solidFill>
              <a:effectLst/>
              <a:uFillTx/>
              <a:latin typeface="Arial"/>
            </a:endParaRPr>
          </a:p>
          <a:p>
            <a:pPr defTabSz="457200">
              <a:lnSpc>
                <a:spcPct val="100000"/>
              </a:lnSpc>
              <a:spcAft>
                <a:spcPts val="1199"/>
              </a:spcAft>
            </a:pPr>
            <a:r>
              <a:rPr lang="en-US" sz="1300" b="1" u="none" strike="noStrike">
                <a:solidFill>
                  <a:srgbClr val="F8FAFC"/>
                </a:solidFill>
                <a:effectLst/>
                <a:uFillTx/>
                <a:latin typeface="Arial"/>
              </a:rPr>
              <a:t>[ ] Silent Panic Button:</a:t>
            </a:r>
            <a:r>
              <a:rPr lang="en-US" sz="1300" b="0" u="none" strike="noStrike">
                <a:solidFill>
                  <a:srgbClr val="94A3B8"/>
                </a:solidFill>
                <a:effectLst/>
                <a:uFillTx/>
                <a:latin typeface="Arial"/>
              </a:rPr>
              <a:t> Accidentally turning off the microphone's physical switch while changing hands, causing a search for batteries.</a:t>
            </a:r>
            <a:endParaRPr lang="en-US" sz="1300" b="0" u="none" strike="noStrike">
              <a:solidFill>
                <a:srgbClr val="000000"/>
              </a:solidFill>
              <a:effectLst/>
              <a:uFillTx/>
              <a:latin typeface="Arial"/>
            </a:endParaRPr>
          </a:p>
        </p:txBody>
      </p:sp>
      <p:sp>
        <p:nvSpPr>
          <p:cNvPr id="162" name="Rounded Rectangle 8"/>
          <p:cNvSpPr/>
          <p:nvPr/>
        </p:nvSpPr>
        <p:spPr>
          <a:xfrm>
            <a:off x="6583680" y="1645920"/>
            <a:ext cx="4845960" cy="4571640"/>
          </a:xfrm>
          <a:prstGeom prst="roundRect">
            <a:avLst>
              <a:gd name="adj" fmla="val 16667"/>
            </a:avLst>
          </a:prstGeom>
          <a:solidFill>
            <a:srgbClr val="1E293B"/>
          </a:solidFill>
          <a:ln w="19050">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3" name="TextBox 9"/>
          <p:cNvSpPr/>
          <p:nvPr/>
        </p:nvSpPr>
        <p:spPr>
          <a:xfrm>
            <a:off x="6766560" y="1828800"/>
            <a:ext cx="4480200" cy="365400"/>
          </a:xfrm>
          <a:prstGeom prst="rect">
            <a:avLst/>
          </a:prstGeom>
          <a:noFill/>
          <a:ln w="0">
            <a:noFill/>
          </a:ln>
        </p:spPr>
        <p:style>
          <a:lnRef idx="0"/>
          <a:fillRef idx="0"/>
          <a:effectRef idx="0"/>
          <a:fontRef idx="minor"/>
        </p:style>
        <p:txBody>
          <a:bodyPr lIns="90000" tIns="91440" rIns="90000" bIns="91440" anchor="t">
            <a:spAutoFit/>
          </a:bodyPr>
          <a:p>
            <a:pPr defTabSz="457200">
              <a:lnSpc>
                <a:spcPct val="100000"/>
              </a:lnSpc>
            </a:pPr>
            <a:r>
              <a:rPr lang="en-US" sz="1400" b="1" u="none" strike="noStrike">
                <a:solidFill>
                  <a:srgbClr val="06B6D4"/>
                </a:solidFill>
                <a:effectLst/>
                <a:uFillTx/>
                <a:latin typeface="Arial"/>
              </a:rPr>
              <a:t>THE Q&amp;A COMMUNICATIONS LOOP</a:t>
            </a:r>
            <a:endParaRPr lang="en-US" sz="1400" b="0" u="none" strike="noStrike">
              <a:solidFill>
                <a:srgbClr val="000000"/>
              </a:solidFill>
              <a:effectLst/>
              <a:uFillTx/>
              <a:latin typeface="Arial"/>
            </a:endParaRPr>
          </a:p>
        </p:txBody>
      </p:sp>
      <p:sp>
        <p:nvSpPr>
          <p:cNvPr id="164" name="Rounded Rectangle 10"/>
          <p:cNvSpPr/>
          <p:nvPr/>
        </p:nvSpPr>
        <p:spPr>
          <a:xfrm>
            <a:off x="7772400" y="2377440"/>
            <a:ext cx="2468520" cy="731160"/>
          </a:xfrm>
          <a:prstGeom prst="roundRect">
            <a:avLst>
              <a:gd name="adj" fmla="val 16667"/>
            </a:avLst>
          </a:prstGeom>
          <a:solidFill>
            <a:srgbClr val="1E293B"/>
          </a:solidFill>
          <a:ln w="19050">
            <a:solidFill>
              <a:srgbClr val="B91C1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5" name="TextBox 11"/>
          <p:cNvSpPr/>
          <p:nvPr/>
        </p:nvSpPr>
        <p:spPr>
          <a:xfrm>
            <a:off x="7772400" y="2468880"/>
            <a:ext cx="2468520" cy="548280"/>
          </a:xfrm>
          <a:prstGeom prst="rect">
            <a:avLst/>
          </a:prstGeom>
          <a:noFill/>
          <a:ln w="0">
            <a:noFill/>
          </a:ln>
        </p:spPr>
        <p:style>
          <a:lnRef idx="0"/>
          <a:fillRef idx="0"/>
          <a:effectRef idx="0"/>
          <a:fontRef idx="minor"/>
        </p:style>
        <p:txBody>
          <a:bodyPr lIns="90000" tIns="91440" rIns="90000" bIns="91440" anchor="t">
            <a:spAutoFit/>
          </a:bodyPr>
          <a:p>
            <a:pPr algn="ctr" defTabSz="457200">
              <a:lnSpc>
                <a:spcPct val="100000"/>
              </a:lnSpc>
            </a:pPr>
            <a:r>
              <a:rPr lang="en-US" sz="1100" b="1" u="none" strike="noStrike">
                <a:solidFill>
                  <a:srgbClr val="F8FAFC"/>
                </a:solidFill>
                <a:effectLst/>
                <a:uFillTx/>
                <a:latin typeface="Arial"/>
              </a:rPr>
              <a:t>AUDIENCE MEMBER</a:t>
            </a:r>
            <a:br>
              <a:rPr sz="1100"/>
            </a:br>
            <a:r>
              <a:rPr lang="en-US" sz="1100" b="1" u="none" strike="noStrike">
                <a:solidFill>
                  <a:srgbClr val="F8FAFC"/>
                </a:solidFill>
                <a:effectLst/>
                <a:uFillTx/>
                <a:latin typeface="Arial"/>
              </a:rPr>
              <a:t>"This is more of a comment..."</a:t>
            </a:r>
            <a:endParaRPr lang="en-US" sz="1100" b="0" u="none" strike="noStrike">
              <a:solidFill>
                <a:srgbClr val="000000"/>
              </a:solidFill>
              <a:effectLst/>
              <a:uFillTx/>
              <a:latin typeface="Arial"/>
            </a:endParaRPr>
          </a:p>
        </p:txBody>
      </p:sp>
      <p:sp>
        <p:nvSpPr>
          <p:cNvPr id="166" name="Rectangle 12"/>
          <p:cNvSpPr/>
          <p:nvPr/>
        </p:nvSpPr>
        <p:spPr>
          <a:xfrm>
            <a:off x="8988480" y="3108960"/>
            <a:ext cx="36360" cy="3654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7" name="Rounded Rectangle 13"/>
          <p:cNvSpPr/>
          <p:nvPr/>
        </p:nvSpPr>
        <p:spPr>
          <a:xfrm>
            <a:off x="7772400" y="3474720"/>
            <a:ext cx="2468520" cy="731160"/>
          </a:xfrm>
          <a:prstGeom prst="roundRect">
            <a:avLst>
              <a:gd name="adj" fmla="val 16667"/>
            </a:avLst>
          </a:prstGeom>
          <a:solidFill>
            <a:srgbClr val="1E293B"/>
          </a:solidFill>
          <a:ln w="19050">
            <a:solidFill>
              <a:srgbClr val="F59E0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8" name="TextBox 14"/>
          <p:cNvSpPr/>
          <p:nvPr/>
        </p:nvSpPr>
        <p:spPr>
          <a:xfrm>
            <a:off x="7772400" y="3566160"/>
            <a:ext cx="2468520" cy="548280"/>
          </a:xfrm>
          <a:prstGeom prst="rect">
            <a:avLst/>
          </a:prstGeom>
          <a:noFill/>
          <a:ln w="0">
            <a:noFill/>
          </a:ln>
        </p:spPr>
        <p:style>
          <a:lnRef idx="0"/>
          <a:fillRef idx="0"/>
          <a:effectRef idx="0"/>
          <a:fontRef idx="minor"/>
        </p:style>
        <p:txBody>
          <a:bodyPr lIns="90000" tIns="91440" rIns="90000" bIns="91440" anchor="t">
            <a:spAutoFit/>
          </a:bodyPr>
          <a:p>
            <a:pPr algn="ctr" defTabSz="457200">
              <a:lnSpc>
                <a:spcPct val="100000"/>
              </a:lnSpc>
            </a:pPr>
            <a:r>
              <a:rPr lang="en-US" sz="1100" b="1" u="none" strike="noStrike">
                <a:solidFill>
                  <a:srgbClr val="F59E0B"/>
                </a:solidFill>
                <a:effectLst/>
                <a:uFillTx/>
                <a:latin typeface="Arial"/>
              </a:rPr>
              <a:t>MIC RUNNER</a:t>
            </a:r>
            <a:br>
              <a:rPr sz="1100"/>
            </a:br>
            <a:r>
              <a:rPr lang="en-US" sz="1100" b="1" u="none" strike="noStrike">
                <a:solidFill>
                  <a:srgbClr val="F59E0B"/>
                </a:solidFill>
                <a:effectLst/>
                <a:uFillTx/>
                <a:latin typeface="Arial"/>
              </a:rPr>
              <a:t>*Sprinting down the aisle*</a:t>
            </a:r>
            <a:endParaRPr lang="en-US" sz="1100" b="0" u="none" strike="noStrike">
              <a:solidFill>
                <a:srgbClr val="000000"/>
              </a:solidFill>
              <a:effectLst/>
              <a:uFillTx/>
              <a:latin typeface="Arial"/>
            </a:endParaRPr>
          </a:p>
        </p:txBody>
      </p:sp>
      <p:sp>
        <p:nvSpPr>
          <p:cNvPr id="169" name="Rectangle 15"/>
          <p:cNvSpPr/>
          <p:nvPr/>
        </p:nvSpPr>
        <p:spPr>
          <a:xfrm>
            <a:off x="8988480" y="4206240"/>
            <a:ext cx="36360" cy="365400"/>
          </a:xfrm>
          <a:prstGeom prst="rect">
            <a:avLst/>
          </a:prstGeom>
          <a:solidFill>
            <a:srgbClr val="475569"/>
          </a:solidFill>
          <a:ln>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0" name="Rounded Rectangle 16"/>
          <p:cNvSpPr/>
          <p:nvPr/>
        </p:nvSpPr>
        <p:spPr>
          <a:xfrm>
            <a:off x="7772400" y="4572000"/>
            <a:ext cx="2468520" cy="731160"/>
          </a:xfrm>
          <a:prstGeom prst="roundRect">
            <a:avLst>
              <a:gd name="adj" fmla="val 16667"/>
            </a:avLst>
          </a:prstGeom>
          <a:solidFill>
            <a:srgbClr val="1E293B"/>
          </a:solidFill>
          <a:ln w="19050">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1" name="TextBox 17"/>
          <p:cNvSpPr/>
          <p:nvPr/>
        </p:nvSpPr>
        <p:spPr>
          <a:xfrm>
            <a:off x="7772400" y="4663440"/>
            <a:ext cx="2468520" cy="548280"/>
          </a:xfrm>
          <a:prstGeom prst="rect">
            <a:avLst/>
          </a:prstGeom>
          <a:noFill/>
          <a:ln w="0">
            <a:noFill/>
          </a:ln>
        </p:spPr>
        <p:style>
          <a:lnRef idx="0"/>
          <a:fillRef idx="0"/>
          <a:effectRef idx="0"/>
          <a:fontRef idx="minor"/>
        </p:style>
        <p:txBody>
          <a:bodyPr lIns="90000" tIns="91440" rIns="90000" bIns="91440" anchor="t">
            <a:spAutoFit/>
          </a:bodyPr>
          <a:p>
            <a:pPr algn="ctr" defTabSz="457200">
              <a:lnSpc>
                <a:spcPct val="100000"/>
              </a:lnSpc>
            </a:pPr>
            <a:r>
              <a:rPr lang="en-US" sz="1100" b="1" u="none" strike="noStrike">
                <a:solidFill>
                  <a:srgbClr val="06B6D4"/>
                </a:solidFill>
                <a:effectLst/>
                <a:uFillTx/>
                <a:latin typeface="Arial"/>
              </a:rPr>
              <a:t>PRESENTER RESPONSE</a:t>
            </a:r>
            <a:br>
              <a:rPr sz="1100"/>
            </a:br>
            <a:r>
              <a:rPr lang="en-US" sz="1100" b="1" u="none" strike="noStrike">
                <a:solidFill>
                  <a:srgbClr val="06B6D4"/>
                </a:solidFill>
                <a:effectLst/>
                <a:uFillTx/>
                <a:latin typeface="Arial"/>
              </a:rPr>
              <a:t>"Great point, next question!"</a:t>
            </a:r>
            <a:endParaRPr lang="en-US" sz="1100" b="0" u="none" strike="noStrike">
              <a:solidFill>
                <a:srgbClr val="000000"/>
              </a:solidFill>
              <a:effectLst/>
              <a:uFillTx/>
              <a:latin typeface="Arial"/>
            </a:endParaRPr>
          </a:p>
        </p:txBody>
      </p:sp>
      <p:sp>
        <p:nvSpPr>
          <p:cNvPr id="172" name="TextBox 18"/>
          <p:cNvSpPr/>
          <p:nvPr/>
        </p:nvSpPr>
        <p:spPr>
          <a:xfrm>
            <a:off x="6766560" y="5394960"/>
            <a:ext cx="4480200" cy="548280"/>
          </a:xfrm>
          <a:prstGeom prst="rect">
            <a:avLst/>
          </a:prstGeom>
          <a:noFill/>
          <a:ln w="0">
            <a:noFill/>
          </a:ln>
        </p:spPr>
        <p:style>
          <a:lnRef idx="0"/>
          <a:fillRef idx="0"/>
          <a:effectRef idx="0"/>
          <a:fontRef idx="minor"/>
        </p:style>
        <p:txBody>
          <a:bodyPr lIns="90000" tIns="84240" rIns="90000" bIns="84240" anchor="t">
            <a:spAutoFit/>
          </a:bodyPr>
          <a:p>
            <a:pPr algn="ctr" defTabSz="457200">
              <a:lnSpc>
                <a:spcPct val="100000"/>
              </a:lnSpc>
            </a:pPr>
            <a:r>
              <a:rPr lang="en-US" sz="1100" b="0" i="1" u="none" strike="noStrike">
                <a:solidFill>
                  <a:srgbClr val="94A3B8"/>
                </a:solidFill>
                <a:effectLst/>
                <a:uFillTx/>
                <a:latin typeface="Arial"/>
              </a:rPr>
              <a:t>Loop Latency: 45 seconds of running silence per question.</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Rectangle 1"/>
          <p:cNvSpPr/>
          <p:nvPr/>
        </p:nvSpPr>
        <p:spPr>
          <a:xfrm>
            <a:off x="0" y="0"/>
            <a:ext cx="12191400" cy="6857640"/>
          </a:xfrm>
          <a:prstGeom prst="rect">
            <a:avLst/>
          </a:prstGeom>
          <a:solidFill>
            <a:srgbClr val="0F172A"/>
          </a:solidFill>
          <a:ln>
            <a:solidFill>
              <a:srgbClr val="0F172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4" name="TextBox 2"/>
          <p:cNvSpPr/>
          <p:nvPr/>
        </p:nvSpPr>
        <p:spPr>
          <a:xfrm>
            <a:off x="731520" y="365760"/>
            <a:ext cx="9143640" cy="273960"/>
          </a:xfrm>
          <a:prstGeom prst="rect">
            <a:avLst/>
          </a:prstGeom>
          <a:noFill/>
          <a:ln w="0">
            <a:noFill/>
          </a:ln>
        </p:spPr>
        <p:style>
          <a:lnRef idx="0"/>
          <a:fillRef idx="0"/>
          <a:effectRef idx="0"/>
          <a:fontRef idx="minor"/>
        </p:style>
        <p:txBody>
          <a:bodyPr lIns="90000" tIns="76680" rIns="90000" bIns="76680" anchor="t">
            <a:spAutoFit/>
          </a:bodyPr>
          <a:p>
            <a:pPr defTabSz="457200">
              <a:lnSpc>
                <a:spcPct val="100000"/>
              </a:lnSpc>
            </a:pPr>
            <a:r>
              <a:rPr lang="en-US" sz="1000" b="1" u="none" strike="noStrike">
                <a:solidFill>
                  <a:srgbClr val="06B6D4"/>
                </a:solidFill>
                <a:effectLst/>
                <a:uFillTx/>
                <a:latin typeface="Arial"/>
              </a:rPr>
              <a:t>05 // CALIBRATION COMPLETED</a:t>
            </a:r>
            <a:endParaRPr lang="en-US" sz="1000" b="0" u="none" strike="noStrike">
              <a:solidFill>
                <a:srgbClr val="000000"/>
              </a:solidFill>
              <a:effectLst/>
              <a:uFillTx/>
              <a:latin typeface="Arial"/>
            </a:endParaRPr>
          </a:p>
        </p:txBody>
      </p:sp>
      <p:sp>
        <p:nvSpPr>
          <p:cNvPr id="175" name="TextBox 3"/>
          <p:cNvSpPr/>
          <p:nvPr/>
        </p:nvSpPr>
        <p:spPr>
          <a:xfrm>
            <a:off x="731520" y="548640"/>
            <a:ext cx="10058040" cy="731160"/>
          </a:xfrm>
          <a:prstGeom prst="rect">
            <a:avLst/>
          </a:prstGeom>
          <a:noFill/>
          <a:ln w="0">
            <a:noFill/>
          </a:ln>
        </p:spPr>
        <p:style>
          <a:lnRef idx="0"/>
          <a:fillRef idx="0"/>
          <a:effectRef idx="0"/>
          <a:fontRef idx="minor"/>
        </p:style>
        <p:txBody>
          <a:bodyPr lIns="90000" tIns="91440" rIns="90000" bIns="91440" anchor="t">
            <a:spAutoFit/>
          </a:bodyPr>
          <a:p>
            <a:pPr defTabSz="457200">
              <a:lnSpc>
                <a:spcPct val="100000"/>
              </a:lnSpc>
            </a:pPr>
            <a:r>
              <a:rPr lang="en-US" sz="2800" b="1" u="none" strike="noStrike">
                <a:solidFill>
                  <a:srgbClr val="F8FAFC"/>
                </a:solidFill>
                <a:effectLst/>
                <a:uFillTx/>
                <a:latin typeface="Arial"/>
              </a:rPr>
              <a:t>Conclusion: The AV Victory Lap</a:t>
            </a:r>
            <a:endParaRPr lang="en-US" sz="2800" b="0" u="none" strike="noStrike">
              <a:solidFill>
                <a:srgbClr val="000000"/>
              </a:solidFill>
              <a:effectLst/>
              <a:uFillTx/>
              <a:latin typeface="Arial"/>
            </a:endParaRPr>
          </a:p>
        </p:txBody>
      </p:sp>
      <p:sp>
        <p:nvSpPr>
          <p:cNvPr id="176" name="Rectangle 4"/>
          <p:cNvSpPr/>
          <p:nvPr/>
        </p:nvSpPr>
        <p:spPr>
          <a:xfrm>
            <a:off x="731520" y="1280160"/>
            <a:ext cx="10728360" cy="18000"/>
          </a:xfrm>
          <a:prstGeom prst="rect">
            <a:avLst/>
          </a:prstGeom>
          <a:solidFill>
            <a:srgbClr val="06B6D4"/>
          </a:solidFill>
          <a:ln>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640" rIns="90000" bIns="-26640" anchor="ctr">
            <a:noAutofit/>
          </a:bodyPr>
          <a:p>
            <a:endParaRPr lang="en-US" sz="1800" b="0" u="none" strike="noStrike">
              <a:solidFill>
                <a:schemeClr val="lt1"/>
              </a:solidFill>
              <a:effectLst/>
              <a:uFillTx/>
              <a:latin typeface="Calibri"/>
            </a:endParaRPr>
          </a:p>
        </p:txBody>
      </p:sp>
      <p:sp>
        <p:nvSpPr>
          <p:cNvPr id="177" name="Rounded Rectangle 5"/>
          <p:cNvSpPr/>
          <p:nvPr/>
        </p:nvSpPr>
        <p:spPr>
          <a:xfrm>
            <a:off x="731520" y="1645920"/>
            <a:ext cx="5486040" cy="4571640"/>
          </a:xfrm>
          <a:prstGeom prst="roundRect">
            <a:avLst>
              <a:gd name="adj" fmla="val 16667"/>
            </a:avLst>
          </a:prstGeom>
          <a:solidFill>
            <a:srgbClr val="1E293B"/>
          </a:solidFill>
          <a:ln w="19050">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8" name="TextBox 6"/>
          <p:cNvSpPr/>
          <p:nvPr/>
        </p:nvSpPr>
        <p:spPr>
          <a:xfrm>
            <a:off x="914400" y="1828800"/>
            <a:ext cx="5120280" cy="365400"/>
          </a:xfrm>
          <a:prstGeom prst="rect">
            <a:avLst/>
          </a:prstGeom>
          <a:noFill/>
          <a:ln w="0">
            <a:noFill/>
          </a:ln>
        </p:spPr>
        <p:style>
          <a:lnRef idx="0"/>
          <a:fillRef idx="0"/>
          <a:effectRef idx="0"/>
          <a:fontRef idx="minor"/>
        </p:style>
        <p:txBody>
          <a:bodyPr lIns="90000" tIns="91440" rIns="90000" bIns="91440" anchor="t">
            <a:spAutoFit/>
          </a:bodyPr>
          <a:p>
            <a:pPr defTabSz="457200">
              <a:lnSpc>
                <a:spcPct val="100000"/>
              </a:lnSpc>
            </a:pPr>
            <a:r>
              <a:rPr lang="en-US" sz="1600" b="1" u="none" strike="noStrike">
                <a:solidFill>
                  <a:srgbClr val="06B6D4"/>
                </a:solidFill>
                <a:effectLst/>
                <a:uFillTx/>
                <a:latin typeface="Arial"/>
              </a:rPr>
              <a:t>WHY THE SYSTEM WORKED</a:t>
            </a:r>
            <a:endParaRPr lang="en-US" sz="1600" b="0" u="none" strike="noStrike">
              <a:solidFill>
                <a:srgbClr val="000000"/>
              </a:solidFill>
              <a:effectLst/>
              <a:uFillTx/>
              <a:latin typeface="Arial"/>
            </a:endParaRPr>
          </a:p>
        </p:txBody>
      </p:sp>
      <p:sp>
        <p:nvSpPr>
          <p:cNvPr id="179" name="TextBox 7"/>
          <p:cNvSpPr/>
          <p:nvPr/>
        </p:nvSpPr>
        <p:spPr>
          <a:xfrm>
            <a:off x="914400" y="2286000"/>
            <a:ext cx="5120280" cy="3657240"/>
          </a:xfrm>
          <a:prstGeom prst="rect">
            <a:avLst/>
          </a:prstGeom>
          <a:noFill/>
          <a:ln w="0">
            <a:noFill/>
          </a:ln>
        </p:spPr>
        <p:style>
          <a:lnRef idx="0"/>
          <a:fillRef idx="0"/>
          <a:effectRef idx="0"/>
          <a:fontRef idx="minor"/>
        </p:style>
        <p:txBody>
          <a:bodyPr lIns="137160" tIns="137160" rIns="137160" bIns="137160" anchor="t">
            <a:spAutoFit/>
          </a:bodyPr>
          <a:p>
            <a:pPr defTabSz="457200">
              <a:lnSpc>
                <a:spcPct val="100000"/>
              </a:lnSpc>
              <a:spcAft>
                <a:spcPts val="1199"/>
              </a:spcAft>
            </a:pPr>
            <a:r>
              <a:rPr lang="en-US" sz="1300" b="1" u="none" strike="noStrike">
                <a:solidFill>
                  <a:srgbClr val="F8FAFC"/>
                </a:solidFill>
                <a:effectLst/>
                <a:uFillTx/>
                <a:latin typeface="Arial"/>
              </a:rPr>
              <a:t>[ ] Audio Intact:</a:t>
            </a:r>
            <a:r>
              <a:rPr lang="en-US" sz="1300" b="0" u="none" strike="noStrike">
                <a:solidFill>
                  <a:srgbClr val="94A3B8"/>
                </a:solidFill>
                <a:effectLst/>
                <a:uFillTx/>
                <a:latin typeface="Arial"/>
              </a:rPr>
              <a:t> The microphone stayed powered, the 60Hz hum was masked, and the faders did not slip.</a:t>
            </a:r>
            <a:endParaRPr lang="en-US" sz="1300" b="0" u="none" strike="noStrike">
              <a:solidFill>
                <a:srgbClr val="000000"/>
              </a:solidFill>
              <a:effectLst/>
              <a:uFillTx/>
              <a:latin typeface="Arial"/>
            </a:endParaRPr>
          </a:p>
          <a:p>
            <a:pPr defTabSz="457200">
              <a:lnSpc>
                <a:spcPct val="100000"/>
              </a:lnSpc>
              <a:spcAft>
                <a:spcPts val="1199"/>
              </a:spcAft>
            </a:pPr>
            <a:r>
              <a:rPr lang="en-US" sz="1300" b="1" u="none" strike="noStrike">
                <a:solidFill>
                  <a:srgbClr val="F8FAFC"/>
                </a:solidFill>
                <a:effectLst/>
                <a:uFillTx/>
                <a:latin typeface="Arial"/>
              </a:rPr>
              <a:t>[ ] Video Displayed:</a:t>
            </a:r>
            <a:r>
              <a:rPr lang="en-US" sz="1300" b="0" u="none" strike="noStrike">
                <a:solidFill>
                  <a:srgbClr val="94A3B8"/>
                </a:solidFill>
                <a:effectLst/>
                <a:uFillTx/>
                <a:latin typeface="Arial"/>
              </a:rPr>
              <a:t> The USB-C dongles did not melt, the aspect ratio did not stretch my face, and the slide colors remained normal.</a:t>
            </a:r>
            <a:endParaRPr lang="en-US" sz="1300" b="0" u="none" strike="noStrike">
              <a:solidFill>
                <a:srgbClr val="000000"/>
              </a:solidFill>
              <a:effectLst/>
              <a:uFillTx/>
              <a:latin typeface="Arial"/>
            </a:endParaRPr>
          </a:p>
          <a:p>
            <a:pPr defTabSz="457200">
              <a:lnSpc>
                <a:spcPct val="100000"/>
              </a:lnSpc>
              <a:spcAft>
                <a:spcPts val="1199"/>
              </a:spcAft>
            </a:pPr>
            <a:r>
              <a:rPr lang="en-US" sz="1300" b="1" u="none" strike="noStrike">
                <a:solidFill>
                  <a:srgbClr val="F8FAFC"/>
                </a:solidFill>
                <a:effectLst/>
                <a:uFillTx/>
                <a:latin typeface="Arial"/>
              </a:rPr>
              <a:t>[ ] Monitor Saved the Day:</a:t>
            </a:r>
            <a:r>
              <a:rPr lang="en-US" sz="1300" b="0" u="none" strike="noStrike">
                <a:solidFill>
                  <a:srgbClr val="94A3B8"/>
                </a:solidFill>
                <a:effectLst/>
                <a:uFillTx/>
                <a:latin typeface="Arial"/>
              </a:rPr>
              <a:t> The confidence monitor displayed these speaker notes, preventing a complete brain freeze on stage.</a:t>
            </a:r>
            <a:endParaRPr lang="en-US" sz="1300" b="0" u="none" strike="noStrike">
              <a:solidFill>
                <a:srgbClr val="000000"/>
              </a:solidFill>
              <a:effectLst/>
              <a:uFillTx/>
              <a:latin typeface="Arial"/>
            </a:endParaRPr>
          </a:p>
          <a:p>
            <a:pPr defTabSz="457200">
              <a:lnSpc>
                <a:spcPct val="100000"/>
              </a:lnSpc>
              <a:spcAft>
                <a:spcPts val="1199"/>
              </a:spcAft>
            </a:pPr>
            <a:r>
              <a:rPr lang="en-US" sz="1300" b="1" u="none" strike="noStrike">
                <a:solidFill>
                  <a:srgbClr val="F8FAFC"/>
                </a:solidFill>
                <a:effectLst/>
                <a:uFillTx/>
                <a:latin typeface="Arial"/>
              </a:rPr>
              <a:t>[ ] AV Crew Respect:</a:t>
            </a:r>
            <a:r>
              <a:rPr lang="en-US" sz="1300" b="0" u="none" strike="noStrike">
                <a:solidFill>
                  <a:srgbClr val="94A3B8"/>
                </a:solidFill>
                <a:effectLst/>
                <a:uFillTx/>
                <a:latin typeface="Arial"/>
              </a:rPr>
              <a:t> The absolute realization that the tech team holds the power to make any presenter look like a genius or an idiot.</a:t>
            </a:r>
            <a:endParaRPr lang="en-US" sz="1300" b="0" u="none" strike="noStrike">
              <a:solidFill>
                <a:srgbClr val="000000"/>
              </a:solidFill>
              <a:effectLst/>
              <a:uFillTx/>
              <a:latin typeface="Arial"/>
            </a:endParaRPr>
          </a:p>
        </p:txBody>
      </p:sp>
      <p:sp>
        <p:nvSpPr>
          <p:cNvPr id="180" name="Rounded Rectangle 8"/>
          <p:cNvSpPr/>
          <p:nvPr/>
        </p:nvSpPr>
        <p:spPr>
          <a:xfrm>
            <a:off x="6583680" y="1645920"/>
            <a:ext cx="4845960" cy="4571640"/>
          </a:xfrm>
          <a:prstGeom prst="roundRect">
            <a:avLst>
              <a:gd name="adj" fmla="val 16667"/>
            </a:avLst>
          </a:prstGeom>
          <a:solidFill>
            <a:srgbClr val="1E293B"/>
          </a:solidFill>
          <a:ln w="19050">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1" name="TextBox 9"/>
          <p:cNvSpPr/>
          <p:nvPr/>
        </p:nvSpPr>
        <p:spPr>
          <a:xfrm>
            <a:off x="6766560" y="1828800"/>
            <a:ext cx="4480200" cy="365400"/>
          </a:xfrm>
          <a:prstGeom prst="rect">
            <a:avLst/>
          </a:prstGeom>
          <a:noFill/>
          <a:ln w="0">
            <a:noFill/>
          </a:ln>
        </p:spPr>
        <p:style>
          <a:lnRef idx="0"/>
          <a:fillRef idx="0"/>
          <a:effectRef idx="0"/>
          <a:fontRef idx="minor"/>
        </p:style>
        <p:txBody>
          <a:bodyPr lIns="90000" tIns="91440" rIns="90000" bIns="91440" anchor="t">
            <a:spAutoFit/>
          </a:bodyPr>
          <a:p>
            <a:pPr defTabSz="457200">
              <a:lnSpc>
                <a:spcPct val="100000"/>
              </a:lnSpc>
            </a:pPr>
            <a:r>
              <a:rPr lang="en-US" sz="1400" b="1" u="none" strike="noStrike">
                <a:solidFill>
                  <a:srgbClr val="06B6D4"/>
                </a:solidFill>
                <a:effectLst/>
                <a:uFillTx/>
                <a:latin typeface="Arial"/>
              </a:rPr>
              <a:t>OFFICIAL STAGE COMPLIANCE SIGN-OFF</a:t>
            </a:r>
            <a:endParaRPr lang="en-US" sz="1400" b="0" u="none" strike="noStrike">
              <a:solidFill>
                <a:srgbClr val="000000"/>
              </a:solidFill>
              <a:effectLst/>
              <a:uFillTx/>
              <a:latin typeface="Arial"/>
            </a:endParaRPr>
          </a:p>
        </p:txBody>
      </p:sp>
      <p:sp>
        <p:nvSpPr>
          <p:cNvPr id="182" name="TextBox 10"/>
          <p:cNvSpPr/>
          <p:nvPr/>
        </p:nvSpPr>
        <p:spPr>
          <a:xfrm>
            <a:off x="6766560" y="2286000"/>
            <a:ext cx="4480200" cy="3657240"/>
          </a:xfrm>
          <a:prstGeom prst="rect">
            <a:avLst/>
          </a:prstGeom>
          <a:noFill/>
          <a:ln w="0">
            <a:noFill/>
          </a:ln>
        </p:spPr>
        <p:style>
          <a:lnRef idx="0"/>
          <a:fillRef idx="0"/>
          <a:effectRef idx="0"/>
          <a:fontRef idx="minor"/>
        </p:style>
        <p:txBody>
          <a:bodyPr lIns="90000" tIns="91440" rIns="90000" bIns="91440" anchor="t">
            <a:spAutoFit/>
          </a:bodyPr>
          <a:p>
            <a:pPr defTabSz="457200">
              <a:lnSpc>
                <a:spcPct val="100000"/>
              </a:lnSpc>
            </a:pPr>
            <a:r>
              <a:rPr lang="en-US" sz="1200" b="0" u="none" strike="noStrike">
                <a:solidFill>
                  <a:srgbClr val="F8FAFC"/>
                </a:solidFill>
                <a:effectLst/>
                <a:uFillTx/>
                <a:latin typeface="Arial"/>
              </a:rPr>
              <a:t>AV Lead Technician Signature (Who did all the work):</a:t>
            </a:r>
            <a:br>
              <a:rPr sz="1200"/>
            </a:br>
            <a:r>
              <a:rPr lang="en-US" sz="1200" b="0" u="none" strike="noStrike">
                <a:solidFill>
                  <a:srgbClr val="F8FAFC"/>
                </a:solidFill>
                <a:effectLst/>
                <a:uFillTx/>
                <a:latin typeface="Arial"/>
              </a:rPr>
              <a:t>X __________________________________________________</a:t>
            </a:r>
            <a:br>
              <a:rPr sz="1200"/>
            </a:br>
            <a:br>
              <a:rPr sz="1200"/>
            </a:br>
            <a:r>
              <a:rPr lang="en-US" sz="1200" b="0" u="none" strike="noStrike">
                <a:solidFill>
                  <a:srgbClr val="F8FAFC"/>
                </a:solidFill>
                <a:effectLst/>
                <a:uFillTx/>
                <a:latin typeface="Arial"/>
              </a:rPr>
              <a:t>Presenter Signature (Who took all the credit):</a:t>
            </a:r>
            <a:br>
              <a:rPr sz="1200"/>
            </a:br>
            <a:r>
              <a:rPr lang="en-US" sz="1200" b="0" u="none" strike="noStrike">
                <a:solidFill>
                  <a:srgbClr val="F8FAFC"/>
                </a:solidFill>
                <a:effectLst/>
                <a:uFillTx/>
                <a:latin typeface="Arial"/>
              </a:rPr>
              <a:t>X __________________________________________________</a:t>
            </a:r>
            <a:br>
              <a:rPr sz="1200"/>
            </a:br>
            <a:br>
              <a:rPr sz="1200"/>
            </a:br>
            <a:r>
              <a:rPr lang="en-US" sz="1200" b="0" u="none" strike="noStrike">
                <a:solidFill>
                  <a:srgbClr val="F8FAFC"/>
                </a:solidFill>
                <a:effectLst/>
                <a:uFillTx/>
                <a:latin typeface="Arial"/>
              </a:rPr>
              <a:t>60Hz Ground Loop Signature (Always present):</a:t>
            </a:r>
            <a:br>
              <a:rPr sz="1200"/>
            </a:br>
            <a:r>
              <a:rPr lang="en-US" sz="1200" b="0" u="none" strike="noStrike">
                <a:solidFill>
                  <a:srgbClr val="F8FAFC"/>
                </a:solidFill>
                <a:effectLst/>
                <a:uFillTx/>
                <a:latin typeface="Arial"/>
              </a:rPr>
              <a:t>X __________________________________________________</a:t>
            </a:r>
            <a:br>
              <a:rPr sz="1200"/>
            </a:br>
            <a:br>
              <a:rPr sz="1200"/>
            </a:br>
            <a:r>
              <a:rPr lang="en-US" sz="1200" b="0" u="none" strike="noStrike">
                <a:solidFill>
                  <a:srgbClr val="F8FAFC"/>
                </a:solidFill>
                <a:effectLst/>
                <a:uFillTx/>
                <a:latin typeface="Arial"/>
              </a:rPr>
              <a:t>Compliance Status:</a:t>
            </a:r>
            <a:br>
              <a:rPr sz="1200"/>
            </a:br>
            <a:r>
              <a:rPr lang="en-US" sz="1200" b="0" u="none" strike="noStrike">
                <a:solidFill>
                  <a:srgbClr val="F8FAFC"/>
                </a:solidFill>
                <a:effectLst/>
                <a:uFillTx/>
                <a:latin typeface="Arial"/>
              </a:rPr>
              <a:t>[X] System Functioned  [ ] Dongles Survived  [ ] Presenter Behaved</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LibreOffice/26.2.4.2$Linux_X86_64 LibreOffice_project/620$Build-2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2026-06-13T11:47:16Z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