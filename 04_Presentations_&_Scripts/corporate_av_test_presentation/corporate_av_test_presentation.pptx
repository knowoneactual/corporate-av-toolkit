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colleagues. Thank you for taking your seats. Today, we are going to review the Strategic Alignment and Digital Transformation Framework, focusing on our FY26 Operational Excellence Initiative and long-term Growth Outlook. This framework outlines our approach to optimizing cross-functional processes and accelerating digital capability adoption across all business units. Let's begin the review.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Before moving into the core analytical data, let us establish our baseline connection and ensure synchronization. We are commencing with Phase 1: Operational Efficiency and Tech Stack Consolidation. As you can see, our presentation system interface is currently calibrating. Please verify that the connectivity indicator is active and the input controls are responsive. Once connection is confirmed, we will proceed to the next module.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First, let us review our key operational milestones. Our service delivery teams have surpassed ten thousand cumulative support hours, reflecting our sustained operational engagement. Additionally, our strategic initiatives remain tightly aligned with core focus areas, backed by fully certified regulatory compliance across all checked jurisdictions. These milestones form the foundation of our operational scalability.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Turning to our quantitative growth metrics, this chart illustrates our projected scalability path over the next fiscal period. The teal trajectory line represents our forecasted performance indicators for FY25 and FY26. As indicated by the upward trend, we anticipate a consistent expansion of operational capacity, driven by optimization protocols and resource leverage. We will continue monitoring these KPIs to ensure alignment with our high-growth targets.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visualize the convergence of our key operational segments, we have mapped them using this three-circle intersection model. Here we observe the distinct alignment of our Core Competency, our targeted Market Opportunity, and our internal Execution Capacity. Each segment operates as a critical pillar, and their balanced integration is essential to maintaining systemic harmony and operational effectiveness.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ensure ongoing alignment, we have implemented a brief feedback loop. Based on the options presented, please evaluate which operational path best aligns with your department's current trajectory. We have noted a general consensus towards Option C, indicating that the baseline objectives are acknowledged and integrated into the current execution plan. Thank you for your feedback.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 line with our corporate governance guidelines, let us reflect on our core executive vision. As noted by the Board of Directors: 'Agility and compliance represent the dual pillars of modern enterprise scalability, steering the trajectory of long-term sustainable growth.' This statement underscores our commitment to maintaining a robust, adaptable operational framework that supports compliant expansion.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At this stage of the briefing, we are validating our manual override capability. This slide serves as a pacing synchronization point, requiring a direct manual advance to confirm control authority and ensure the presentation booth queueing is fully aligned with the presenter's delivery. Moving to the next slide in three, two, 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 us examine the comparative capability analysis comparing our internal performance against industry benchmarks. The analysis indicates that in terms of speed, agility, compliance, and resilience, our internal operations consistently rank at advanced levels. These capabilities provide us with a measurable advantage in execution stability compared to standard market benchmarks.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section covers our regulatory compliance framework and standard disclaimers. The detailed clauses on screen outline our operational parameters, liability limitations, and compliance guidelines. I will pause briefly to allow for visual inspection of the layout density and text legibility, ensuring all compliance documentation standards are met.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 will now initiate our media playback checks. This segment tests local hardware acceleration and audio routing. The video player interface on the left is loaded with our test media file, checking local rendering of H.264 video and stereo audio. Let's play the clip. The audio channel output appears stable. Technical crew, please confirm the stereo channels are properly balanced and free of anomalies.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Continuing with our AV verification, we will test network streaming capabilities. This mockup represents an embedded YouTube player streaming our network calibration video. Embedding online video verifies browser compatibility and network pathing. Let us click to test connection stability. The buffer latency appears to be well within our standard operational thresholds.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Next, we will test our system's fail-safe behavior to ensure resilience under exceptional conditions. Clicking this card simulates a missing resource, triggering a 404 LINK_NOT_FOUND error. As observed, the interface handles the missing link gracefully, displaying the appropriate error state without freezing or impacting the slide progression. We can now proceed smoothly.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summarize our session's core program takeaways and next steps, we have outlined four key operational action items. These items represent upcoming milestones that will guide our implementation roadmap. Although the list is kept blank on screen to encourage active speaker elaboration, the underlying action items are detailed in our distributed documentation.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concludes our strategic briefing and brings us to the questions and discussion phase. Our Q&amp;A session is now closed, and we request that all participants proceed to the next item on the corporate agenda. Thank you to the technical crew for ensuring a seamless calibration, and thank you all for your time and cooperation.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da715cfa5bfee17.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86509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AV_CALIBRATION_SYSTEM // v1.0</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10" name="Group 10"/>
          <p:cNvGrpSpPr/>
          <p:nvPr/>
        </p:nvGrpSpPr>
        <p:grpSpPr>
          <a:xfrm>
            <a:off x="1006109" y="2000250"/>
            <a:ext cx="10179782" cy="1428750"/>
            <a:chOff x="1006109" y="2000250"/>
            <a:chExt cx="10179782" cy="1428750"/>
          </a:xfrm>
        </p:grpSpPr>
        <p:sp>
          <p:nvSpPr>
            <p:cNvPr id="6" name="TextBox 6"/>
            <p:cNvSpPr txBox="1"/>
            <p:nvPr/>
          </p:nvSpPr>
          <p:spPr>
            <a:xfrm>
              <a:off x="1006109" y="2072640"/>
              <a:ext cx="10179782" cy="670560"/>
            </a:xfrm>
            <a:prstGeom prst="rect">
              <a:avLst/>
            </a:prstGeom>
            <a:noFill/>
            <a:ln>
              <a:noFill/>
            </a:ln>
          </p:spPr>
          <p:txBody>
            <a:bodyPr wrap="none" lIns="0" tIns="0" rIns="0" bIns="0" anchor="t" anchorCtr="0">
              <a:spAutoFit/>
            </a:bodyPr>
            <a:lstStyle/>
            <a:p>
              <a:pPr algn="ctr"/>
              <a:r>
                <a:rPr lang="zh-CN" sz="3300" b="1" dirty="0">
                  <a:solidFill>
                    <a:srgbClr val="0F2C59"/>
                  </a:solidFill>
                  <a:effectLst>
                    <a:glow rad="57150">
                      <a:srgbClr val="0F2C59">
                        <a:alpha val="15000"/>
                      </a:srgbClr>
                    </a:glow>
                  </a:effectLst>
                  <a:latin typeface="Arial"/>
                  <a:ea typeface="Microsoft YaHei"/>
                  <a:cs typeface="Arial"/>
                </a:rPr>
                <a:t>Strategic Alignment &amp; Digital Transformation</a:t>
              </a:r>
            </a:p>
          </p:txBody>
        </p:sp>
        <p:sp>
          <p:nvSpPr>
            <p:cNvPr id="7" name="TextBox 7"/>
            <p:cNvSpPr txBox="1"/>
            <p:nvPr/>
          </p:nvSpPr>
          <p:spPr>
            <a:xfrm>
              <a:off x="2820734" y="2901315"/>
              <a:ext cx="6550533" cy="365760"/>
            </a:xfrm>
            <a:prstGeom prst="rect">
              <a:avLst/>
            </a:prstGeom>
            <a:noFill/>
            <a:ln>
              <a:noFill/>
            </a:ln>
          </p:spPr>
          <p:txBody>
            <a:bodyPr wrap="none" lIns="0" tIns="0" rIns="0" bIns="0" anchor="t" anchorCtr="0">
              <a:spAutoFit/>
            </a:bodyPr>
            <a:lstStyle/>
            <a:p>
              <a:pPr algn="ctr"/>
              <a:r>
                <a:rPr lang="zh-CN" sz="1800" dirty="0">
                  <a:solidFill>
                    <a:srgbClr val="6C757D"/>
                  </a:solidFill>
                  <a:latin typeface="Arial"/>
                  <a:ea typeface="Microsoft YaHei"/>
                  <a:cs typeface="Arial"/>
                </a:rPr>
                <a:t>FY26 Operational Excellence Initiative &amp; Growth Outlook</a:t>
              </a:r>
            </a:p>
          </p:txBody>
        </p:sp>
        <p:sp>
          <p:nvSpPr>
            <p:cNvPr id="8" name="Freeform 8"/>
            <p:cNvSpPr/>
            <p:nvPr/>
          </p:nvSpPr>
          <p:spPr>
            <a:xfrm>
              <a:off x="1143000" y="2000250"/>
              <a:ext cx="381000" cy="1428750"/>
            </a:xfrm>
            <a:custGeom>
              <a:avLst/>
              <a:gdLst/>
              <a:ahLst/>
              <a:cxnLst/>
              <a:rect l="l" t="t" r="r" b="b"/>
              <a:pathLst>
                <a:path w="381000" h="1428750">
                  <a:moveTo>
                    <a:pt x="381000" y="0"/>
                  </a:moveTo>
                  <a:lnTo>
                    <a:pt x="0" y="0"/>
                  </a:lnTo>
                  <a:lnTo>
                    <a:pt x="0" y="1428750"/>
                  </a:lnTo>
                  <a:lnTo>
                    <a:pt x="381000" y="1428750"/>
                  </a:lnTo>
                </a:path>
              </a:pathLst>
            </a:custGeom>
            <a:noFill/>
            <a:ln w="19050">
              <a:solidFill>
                <a:srgbClr val="DEE2E6"/>
              </a:solidFill>
            </a:ln>
          </p:spPr>
        </p:sp>
        <p:sp>
          <p:nvSpPr>
            <p:cNvPr id="9" name="Freeform 9"/>
            <p:cNvSpPr/>
            <p:nvPr/>
          </p:nvSpPr>
          <p:spPr>
            <a:xfrm>
              <a:off x="10668000" y="2000250"/>
              <a:ext cx="381000" cy="1428750"/>
            </a:xfrm>
            <a:custGeom>
              <a:avLst/>
              <a:gdLst/>
              <a:ahLst/>
              <a:cxnLst/>
              <a:rect l="l" t="t" r="r" b="b"/>
              <a:pathLst>
                <a:path w="381000" h="1428750">
                  <a:moveTo>
                    <a:pt x="0" y="0"/>
                  </a:moveTo>
                  <a:lnTo>
                    <a:pt x="381000" y="0"/>
                  </a:lnTo>
                  <a:lnTo>
                    <a:pt x="381000" y="1428750"/>
                  </a:lnTo>
                  <a:lnTo>
                    <a:pt x="0" y="1428750"/>
                  </a:lnTo>
                </a:path>
              </a:pathLst>
            </a:custGeom>
            <a:noFill/>
            <a:ln w="19050">
              <a:solidFill>
                <a:srgbClr val="DEE2E6"/>
              </a:solidFill>
            </a:ln>
          </p:spPr>
        </p:sp>
      </p:grpSp>
      <p:grpSp>
        <p:nvGrpSpPr>
          <p:cNvPr id="16" name="Group 16"/>
          <p:cNvGrpSpPr/>
          <p:nvPr/>
        </p:nvGrpSpPr>
        <p:grpSpPr>
          <a:xfrm>
            <a:off x="3686651" y="4791075"/>
            <a:ext cx="4818698" cy="942975"/>
            <a:chOff x="3686651" y="4791075"/>
            <a:chExt cx="4818698" cy="942975"/>
          </a:xfrm>
        </p:grpSpPr>
        <p:grpSp>
          <p:nvGrpSpPr>
            <p:cNvPr id="13" name="Group 13"/>
            <p:cNvGrpSpPr/>
            <p:nvPr/>
          </p:nvGrpSpPr>
          <p:grpSpPr>
            <a:xfrm>
              <a:off x="6038850" y="4791075"/>
              <a:ext cx="114300" cy="171450"/>
              <a:chOff x="6038850" y="4791075"/>
              <a:chExt cx="114300" cy="171450"/>
            </a:xfrm>
          </p:grpSpPr>
          <p:sp>
            <p:nvSpPr>
              <p:cNvPr id="11" name="Freeform 11"/>
              <p:cNvSpPr/>
              <p:nvPr/>
            </p:nvSpPr>
            <p:spPr>
              <a:xfrm>
                <a:off x="6057900" y="47910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0F2C59"/>
                </a:solidFill>
              </a:ln>
            </p:spPr>
          </p:sp>
          <p:sp>
            <p:nvSpPr>
              <p:cNvPr id="12" name="Freeform 12"/>
              <p:cNvSpPr/>
              <p:nvPr/>
            </p:nvSpPr>
            <p:spPr>
              <a:xfrm>
                <a:off x="6038850" y="49053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rgbClr val="0F2C59"/>
                </a:solidFill>
              </a:ln>
            </p:spPr>
          </p:sp>
        </p:grpSp>
        <p:sp>
          <p:nvSpPr>
            <p:cNvPr id="14" name="TextBox 14"/>
            <p:cNvSpPr txBox="1"/>
            <p:nvPr/>
          </p:nvSpPr>
          <p:spPr>
            <a:xfrm>
              <a:off x="3686651" y="5124450"/>
              <a:ext cx="4818698" cy="304800"/>
            </a:xfrm>
            <a:prstGeom prst="rect">
              <a:avLst/>
            </a:prstGeom>
            <a:noFill/>
            <a:ln>
              <a:noFill/>
            </a:ln>
          </p:spPr>
          <p:txBody>
            <a:bodyPr wrap="none" lIns="0" tIns="0" rIns="0" bIns="0" anchor="t" anchorCtr="0">
              <a:spAutoFit/>
            </a:bodyPr>
            <a:lstStyle/>
            <a:p>
              <a:pPr algn="ctr"/>
              <a:r>
                <a:rPr lang="zh-CN" sz="1500" dirty="0">
                  <a:solidFill>
                    <a:srgbClr val="212529"/>
                  </a:solidFill>
                  <a:latin typeface="Arial"/>
                  <a:ea typeface="Microsoft YaHei"/>
                  <a:cs typeface="Arial"/>
                </a:rPr>
                <a:t>Presenter: Office of Strategy &amp; Communications</a:t>
              </a:r>
            </a:p>
          </p:txBody>
        </p:sp>
        <p:sp>
          <p:nvSpPr>
            <p:cNvPr id="15" name="TextBox 15"/>
            <p:cNvSpPr txBox="1"/>
            <p:nvPr/>
          </p:nvSpPr>
          <p:spPr>
            <a:xfrm>
              <a:off x="4360545" y="5490210"/>
              <a:ext cx="3470910" cy="243840"/>
            </a:xfrm>
            <a:prstGeom prst="rect">
              <a:avLst/>
            </a:prstGeom>
            <a:noFill/>
            <a:ln>
              <a:noFill/>
            </a:ln>
          </p:spPr>
          <p:txBody>
            <a:bodyPr wrap="none" lIns="0" tIns="0" rIns="0" bIns="0" anchor="t" anchorCtr="0">
              <a:spAutoFit/>
            </a:bodyPr>
            <a:lstStyle/>
            <a:p>
              <a:pPr algn="ctr"/>
              <a:r>
                <a:rPr lang="zh-CN" sz="1200" dirty="0">
                  <a:solidFill>
                    <a:srgbClr val="6C757D"/>
                  </a:solidFill>
                  <a:latin typeface="Consolas"/>
                  <a:ea typeface="Microsoft YaHei"/>
                  <a:cs typeface="Consolas"/>
                </a:rPr>
                <a:t>Operational Alignment &amp; Board Briefing Team</a:t>
              </a:r>
            </a:p>
          </p:txBody>
        </p:sp>
      </p:grpSp>
      <p:grpSp>
        <p:nvGrpSpPr>
          <p:cNvPr id="20" name="Group 20"/>
          <p:cNvGrpSpPr/>
          <p:nvPr/>
        </p:nvGrpSpPr>
        <p:grpSpPr>
          <a:xfrm>
            <a:off x="560070" y="6238875"/>
            <a:ext cx="11071860" cy="323850"/>
            <a:chOff x="560070" y="6238875"/>
            <a:chExt cx="11071860" cy="323850"/>
          </a:xfrm>
        </p:grpSpPr>
        <p:sp>
          <p:nvSpPr>
            <p:cNvPr id="17" name="Line 17"/>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18" name="TextBox 18"/>
            <p:cNvSpPr txBox="1"/>
            <p:nvPr/>
          </p:nvSpPr>
          <p:spPr>
            <a:xfrm>
              <a:off x="560070" y="6379845"/>
              <a:ext cx="138503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DISPLAY_CHECK: RUNNING</a:t>
              </a:r>
            </a:p>
          </p:txBody>
        </p:sp>
        <p:sp>
          <p:nvSpPr>
            <p:cNvPr id="19" name="TextBox 19"/>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739074"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SYS.SECTION_HEADER // CH_01</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655634" y="1137285"/>
            <a:ext cx="10880731" cy="548640"/>
            <a:chOff x="655634" y="1137285"/>
            <a:chExt cx="10880731" cy="548640"/>
          </a:xfrm>
        </p:grpSpPr>
        <p:sp>
          <p:nvSpPr>
            <p:cNvPr id="6" name="TextBox 6"/>
            <p:cNvSpPr txBox="1"/>
            <p:nvPr/>
          </p:nvSpPr>
          <p:spPr>
            <a:xfrm>
              <a:off x="655634" y="1137285"/>
              <a:ext cx="10880731" cy="548640"/>
            </a:xfrm>
            <a:prstGeom prst="rect">
              <a:avLst/>
            </a:prstGeom>
            <a:noFill/>
            <a:ln>
              <a:noFill/>
            </a:ln>
          </p:spPr>
          <p:txBody>
            <a:bodyPr wrap="none" lIns="0" tIns="0" rIns="0" bIns="0" anchor="t" anchorCtr="0">
              <a:spAutoFit/>
            </a:bodyPr>
            <a:lstStyle/>
            <a:p>
              <a:pPr algn="ctr"/>
              <a:r>
                <a:rPr lang="zh-CN" sz="2700" b="1" dirty="0">
                  <a:solidFill>
                    <a:srgbClr val="0F2C59"/>
                  </a:solidFill>
                  <a:latin typeface="Arial"/>
                  <a:ea typeface="Microsoft YaHei"/>
                  <a:cs typeface="Arial"/>
                </a:rPr>
                <a:t>Phase 1: Operational Efficiency &amp; Tech Stack Consolidation</a:t>
              </a:r>
            </a:p>
          </p:txBody>
        </p:sp>
        <p:sp>
          <p:nvSpPr>
            <p:cNvPr id="7" name="Line 7"/>
            <p:cNvSpPr/>
            <p:nvPr/>
          </p:nvSpPr>
          <p:spPr>
            <a:xfrm>
              <a:off x="4572000" y="1666875"/>
              <a:ext cx="3048000" cy="9525"/>
            </a:xfrm>
            <a:custGeom>
              <a:avLst/>
              <a:gdLst/>
              <a:ahLst/>
              <a:cxnLst/>
              <a:rect l="l" t="t" r="r" b="b"/>
              <a:pathLst>
                <a:path w="3048000" h="9525">
                  <a:moveTo>
                    <a:pt x="0" y="0"/>
                  </a:moveTo>
                  <a:lnTo>
                    <a:pt x="3048000" y="0"/>
                  </a:lnTo>
                </a:path>
              </a:pathLst>
            </a:custGeom>
            <a:noFill/>
            <a:ln w="19050">
              <a:solidFill>
                <a:srgbClr val="008080"/>
              </a:solidFill>
            </a:ln>
          </p:spPr>
        </p:sp>
      </p:grpSp>
      <p:grpSp>
        <p:nvGrpSpPr>
          <p:cNvPr id="14" name="Group 14"/>
          <p:cNvGrpSpPr/>
          <p:nvPr/>
        </p:nvGrpSpPr>
        <p:grpSpPr>
          <a:xfrm>
            <a:off x="5238750" y="2571750"/>
            <a:ext cx="1714500" cy="1714500"/>
            <a:chOff x="5238750" y="2571750"/>
            <a:chExt cx="1714500" cy="1714500"/>
          </a:xfrm>
        </p:grpSpPr>
        <p:sp>
          <p:nvSpPr>
            <p:cNvPr id="9" name="Ellipse 9"/>
            <p:cNvSpPr/>
            <p:nvPr/>
          </p:nvSpPr>
          <p:spPr>
            <a:xfrm>
              <a:off x="5238750" y="2571750"/>
              <a:ext cx="1714500" cy="1714500"/>
            </a:xfrm>
            <a:prstGeom prst="ellipse">
              <a:avLst/>
            </a:prstGeom>
            <a:noFill/>
            <a:ln w="19050">
              <a:solidFill>
                <a:srgbClr val="008080"/>
              </a:solidFill>
              <a:prstDash val="lgDash"/>
            </a:ln>
          </p:spPr>
        </p:sp>
        <p:sp>
          <p:nvSpPr>
            <p:cNvPr id="10" name="Ellipse 10"/>
            <p:cNvSpPr/>
            <p:nvPr/>
          </p:nvSpPr>
          <p:spPr>
            <a:xfrm>
              <a:off x="5381625" y="2714625"/>
              <a:ext cx="1428750" cy="1428750"/>
            </a:xfrm>
            <a:prstGeom prst="ellipse">
              <a:avLst/>
            </a:prstGeom>
            <a:solidFill>
              <a:srgbClr val="FFFFFF"/>
            </a:solidFill>
            <a:ln w="28575">
              <a:solidFill>
                <a:srgbClr val="0F2C59"/>
              </a:solidFill>
            </a:ln>
            <a:effectLst>
              <a:glow rad="76200">
                <a:srgbClr val="0F2C59">
                  <a:alpha val="20000"/>
                </a:srgbClr>
              </a:glow>
            </a:effectLst>
          </p:spPr>
        </p:sp>
        <p:sp>
          <p:nvSpPr>
            <p:cNvPr id="11" name="Ellipse 11"/>
            <p:cNvSpPr/>
            <p:nvPr/>
          </p:nvSpPr>
          <p:spPr>
            <a:xfrm>
              <a:off x="5524500" y="2857500"/>
              <a:ext cx="1143000" cy="1143000"/>
            </a:xfrm>
            <a:prstGeom prst="ellipse">
              <a:avLst/>
            </a:prstGeom>
            <a:solidFill>
              <a:srgbClr val="0F2C59"/>
            </a:solidFill>
            <a:ln>
              <a:noFill/>
            </a:ln>
          </p:spPr>
        </p:sp>
        <p:sp>
          <p:nvSpPr>
            <p:cNvPr id="12" name="TextBox 12"/>
            <p:cNvSpPr txBox="1"/>
            <p:nvPr/>
          </p:nvSpPr>
          <p:spPr>
            <a:xfrm>
              <a:off x="5832538" y="3303270"/>
              <a:ext cx="52692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CONFIRM</a:t>
              </a:r>
            </a:p>
          </p:txBody>
        </p:sp>
        <p:sp>
          <p:nvSpPr>
            <p:cNvPr id="13" name="TextBox 13"/>
            <p:cNvSpPr txBox="1"/>
            <p:nvPr/>
          </p:nvSpPr>
          <p:spPr>
            <a:xfrm>
              <a:off x="5728576" y="3474720"/>
              <a:ext cx="73484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CONNECTION</a:t>
              </a:r>
            </a:p>
          </p:txBody>
        </p:sp>
      </p:grpSp>
      <p:grpSp>
        <p:nvGrpSpPr>
          <p:cNvPr id="20" name="Group 20"/>
          <p:cNvGrpSpPr/>
          <p:nvPr/>
        </p:nvGrpSpPr>
        <p:grpSpPr>
          <a:xfrm>
            <a:off x="3548443" y="4977394"/>
            <a:ext cx="5095113" cy="899531"/>
            <a:chOff x="3548443" y="4977394"/>
            <a:chExt cx="5095113" cy="899531"/>
          </a:xfrm>
        </p:grpSpPr>
        <p:grpSp>
          <p:nvGrpSpPr>
            <p:cNvPr id="17" name="Group 17"/>
            <p:cNvGrpSpPr/>
            <p:nvPr/>
          </p:nvGrpSpPr>
          <p:grpSpPr>
            <a:xfrm>
              <a:off x="6006094" y="4977394"/>
              <a:ext cx="179813" cy="179813"/>
              <a:chOff x="6006094" y="4977394"/>
              <a:chExt cx="179813" cy="179813"/>
            </a:xfrm>
          </p:grpSpPr>
          <p:sp>
            <p:nvSpPr>
              <p:cNvPr id="15" name="Freeform 15"/>
              <p:cNvSpPr/>
              <p:nvPr/>
            </p:nvSpPr>
            <p:spPr>
              <a:xfrm>
                <a:off x="6006094" y="4977394"/>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9050">
                <a:solidFill>
                  <a:srgbClr val="008080"/>
                </a:solidFill>
              </a:ln>
            </p:spPr>
          </p:sp>
          <p:sp>
            <p:nvSpPr>
              <p:cNvPr id="16" name="Freeform 16"/>
              <p:cNvSpPr/>
              <p:nvPr/>
            </p:nvSpPr>
            <p:spPr>
              <a:xfrm>
                <a:off x="6067425" y="50387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008080"/>
                </a:solidFill>
              </a:ln>
            </p:spPr>
          </p:sp>
        </p:grpSp>
        <p:sp>
          <p:nvSpPr>
            <p:cNvPr id="18" name="TextBox 18"/>
            <p:cNvSpPr txBox="1"/>
            <p:nvPr/>
          </p:nvSpPr>
          <p:spPr>
            <a:xfrm>
              <a:off x="4086701" y="5267325"/>
              <a:ext cx="4018598" cy="304800"/>
            </a:xfrm>
            <a:prstGeom prst="rect">
              <a:avLst/>
            </a:prstGeom>
            <a:noFill/>
            <a:ln>
              <a:noFill/>
            </a:ln>
          </p:spPr>
          <p:txBody>
            <a:bodyPr wrap="none" lIns="0" tIns="0" rIns="0" bIns="0" anchor="t" anchorCtr="0">
              <a:spAutoFit/>
            </a:bodyPr>
            <a:lstStyle/>
            <a:p>
              <a:pPr algn="ctr"/>
              <a:r>
                <a:rPr lang="zh-CN" sz="1500" dirty="0">
                  <a:solidFill>
                    <a:srgbClr val="212529"/>
                  </a:solidFill>
                  <a:latin typeface="Arial"/>
                  <a:ea typeface="Microsoft YaHei"/>
                  <a:cs typeface="Arial"/>
                </a:rPr>
                <a:t>Status: Calibrating System Interface...</a:t>
              </a:r>
            </a:p>
          </p:txBody>
        </p:sp>
        <p:sp>
          <p:nvSpPr>
            <p:cNvPr id="19" name="TextBox 19"/>
            <p:cNvSpPr txBox="1"/>
            <p:nvPr/>
          </p:nvSpPr>
          <p:spPr>
            <a:xfrm>
              <a:off x="3548443" y="5633085"/>
              <a:ext cx="5095113" cy="243840"/>
            </a:xfrm>
            <a:prstGeom prst="rect">
              <a:avLst/>
            </a:prstGeom>
            <a:noFill/>
            <a:ln>
              <a:noFill/>
            </a:ln>
          </p:spPr>
          <p:txBody>
            <a:bodyPr wrap="none" lIns="0" tIns="0" rIns="0" bIns="0" anchor="t" anchorCtr="0">
              <a:spAutoFit/>
            </a:bodyPr>
            <a:lstStyle/>
            <a:p>
              <a:pPr algn="ctr"/>
              <a:r>
                <a:rPr lang="zh-CN" sz="1200" dirty="0">
                  <a:solidFill>
                    <a:srgbClr val="6C757D"/>
                  </a:solidFill>
                  <a:latin typeface="Consolas"/>
                  <a:ea typeface="Microsoft YaHei"/>
                  <a:cs typeface="Consolas"/>
                </a:rPr>
                <a:t>Action Required: Verify network connectivity and clicker inputs.</a:t>
              </a:r>
            </a:p>
          </p:txBody>
        </p:sp>
      </p:grpSp>
      <p:grpSp>
        <p:nvGrpSpPr>
          <p:cNvPr id="24" name="Group 24"/>
          <p:cNvGrpSpPr/>
          <p:nvPr/>
        </p:nvGrpSpPr>
        <p:grpSpPr>
          <a:xfrm>
            <a:off x="560070" y="6238875"/>
            <a:ext cx="11071860" cy="323850"/>
            <a:chOff x="560070" y="6238875"/>
            <a:chExt cx="11071860" cy="323850"/>
          </a:xfrm>
        </p:grpSpPr>
        <p:sp>
          <p:nvSpPr>
            <p:cNvPr id="21" name="Line 21"/>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22" name="TextBox 22"/>
            <p:cNvSpPr txBox="1"/>
            <p:nvPr/>
          </p:nvSpPr>
          <p:spPr>
            <a:xfrm>
              <a:off x="560070" y="6379845"/>
              <a:ext cx="145103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INTERFACE_STATE: ACTIVE</a:t>
              </a:r>
            </a:p>
          </p:txBody>
        </p:sp>
        <p:sp>
          <p:nvSpPr>
            <p:cNvPr id="23" name="TextBox 23"/>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imag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71507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SYS.CREDENTIAL_CHECK // P03</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137285"/>
            <a:ext cx="6589895" cy="739140"/>
            <a:chOff x="537210" y="1137285"/>
            <a:chExt cx="6589895" cy="739140"/>
          </a:xfrm>
        </p:grpSpPr>
        <p:sp>
          <p:nvSpPr>
            <p:cNvPr id="6" name="TextBox 6"/>
            <p:cNvSpPr txBox="1"/>
            <p:nvPr/>
          </p:nvSpPr>
          <p:spPr>
            <a:xfrm>
              <a:off x="537210" y="1137285"/>
              <a:ext cx="6589895"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Executive Summary: Key Milestones</a:t>
              </a:r>
            </a:p>
          </p:txBody>
        </p:sp>
        <p:sp>
          <p:nvSpPr>
            <p:cNvPr id="7" name="TextBox 7"/>
            <p:cNvSpPr txBox="1"/>
            <p:nvPr/>
          </p:nvSpPr>
          <p:spPr>
            <a:xfrm>
              <a:off x="556260" y="1632585"/>
              <a:ext cx="5543169"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Credentials validated by the International Board of Quality Assurance.</a:t>
              </a:r>
            </a:p>
          </p:txBody>
        </p:sp>
      </p:grpSp>
      <p:grpSp>
        <p:nvGrpSpPr>
          <p:cNvPr id="17" name="Group 17"/>
          <p:cNvGrpSpPr/>
          <p:nvPr/>
        </p:nvGrpSpPr>
        <p:grpSpPr>
          <a:xfrm>
            <a:off x="647700" y="2190750"/>
            <a:ext cx="3429000" cy="2857500"/>
            <a:chOff x="647700" y="2190750"/>
            <a:chExt cx="3429000" cy="2857500"/>
          </a:xfrm>
        </p:grpSpPr>
        <p:sp>
          <p:nvSpPr>
            <p:cNvPr id="9" name="Rectangle 9"/>
            <p:cNvSpPr/>
            <p:nvPr/>
          </p:nvSpPr>
          <p:spPr>
            <a:xfrm>
              <a:off x="647700" y="2190750"/>
              <a:ext cx="3429000" cy="2857500"/>
            </a:xfrm>
            <a:prstGeom prst="roundRect">
              <a:avLst>
                <a:gd name="adj" fmla="val 2667"/>
              </a:avLst>
            </a:prstGeom>
            <a:solidFill>
              <a:srgbClr val="FFFFFF"/>
            </a:solidFill>
            <a:ln w="14288">
              <a:solidFill>
                <a:srgbClr val="DEE2E6"/>
              </a:solidFill>
            </a:ln>
          </p:spPr>
        </p:sp>
        <p:sp>
          <p:nvSpPr>
            <p:cNvPr id="10" name="TextBox 10"/>
            <p:cNvSpPr txBox="1"/>
            <p:nvPr/>
          </p:nvSpPr>
          <p:spPr>
            <a:xfrm>
              <a:off x="864870" y="2474595"/>
              <a:ext cx="97097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MILESTONE // 01</a:t>
              </a:r>
            </a:p>
          </p:txBody>
        </p:sp>
        <p:grpSp>
          <p:nvGrpSpPr>
            <p:cNvPr id="14" name="Group 14"/>
            <p:cNvGrpSpPr/>
            <p:nvPr/>
          </p:nvGrpSpPr>
          <p:grpSpPr>
            <a:xfrm>
              <a:off x="933450" y="2819400"/>
              <a:ext cx="342900" cy="342900"/>
              <a:chOff x="933450" y="2819400"/>
              <a:chExt cx="342900" cy="342900"/>
            </a:xfrm>
          </p:grpSpPr>
          <p:sp>
            <p:nvSpPr>
              <p:cNvPr id="11" name="Freeform 11"/>
              <p:cNvSpPr/>
              <p:nvPr/>
            </p:nvSpPr>
            <p:spPr>
              <a:xfrm>
                <a:off x="933450" y="2819400"/>
                <a:ext cx="342900" cy="171450"/>
              </a:xfrm>
              <a:custGeom>
                <a:avLst/>
                <a:gdLst/>
                <a:ahLst/>
                <a:cxnLst/>
                <a:rect l="l" t="t" r="r" b="b"/>
                <a:pathLst>
                  <a:path w="342900" h="171450">
                    <a:moveTo>
                      <a:pt x="0" y="171450"/>
                    </a:moveTo>
                    <a:lnTo>
                      <a:pt x="19050" y="171450"/>
                    </a:lnTo>
                    <a:moveTo>
                      <a:pt x="171450" y="0"/>
                    </a:moveTo>
                    <a:lnTo>
                      <a:pt x="171450" y="19050"/>
                    </a:lnTo>
                    <a:moveTo>
                      <a:pt x="323850" y="171450"/>
                    </a:moveTo>
                    <a:lnTo>
                      <a:pt x="342900" y="171450"/>
                    </a:lnTo>
                    <a:moveTo>
                      <a:pt x="49530" y="49530"/>
                    </a:moveTo>
                    <a:lnTo>
                      <a:pt x="62865" y="62865"/>
                    </a:lnTo>
                    <a:moveTo>
                      <a:pt x="293370" y="49530"/>
                    </a:moveTo>
                    <a:lnTo>
                      <a:pt x="280035" y="62865"/>
                    </a:lnTo>
                  </a:path>
                </a:pathLst>
              </a:custGeom>
              <a:noFill/>
              <a:ln w="19050">
                <a:solidFill>
                  <a:srgbClr val="0F2C59"/>
                </a:solidFill>
              </a:ln>
            </p:spPr>
          </p:sp>
          <p:sp>
            <p:nvSpPr>
              <p:cNvPr id="12" name="Freeform 12"/>
              <p:cNvSpPr/>
              <p:nvPr/>
            </p:nvSpPr>
            <p:spPr>
              <a:xfrm>
                <a:off x="1001573" y="2895600"/>
                <a:ext cx="206654" cy="266700"/>
              </a:xfrm>
              <a:custGeom>
                <a:avLst/>
                <a:gdLst/>
                <a:ahLst/>
                <a:cxnLst/>
                <a:rect l="l" t="t" r="r" b="b"/>
                <a:pathLst>
                  <a:path w="206654" h="266700">
                    <a:moveTo>
                      <a:pt x="46177" y="171450"/>
                    </a:moveTo>
                    <a:cubicBezTo>
                      <a:pt x="13378" y="146851"/>
                      <a:pt x="0" y="104024"/>
                      <a:pt x="12965" y="65129"/>
                    </a:cubicBezTo>
                    <a:cubicBezTo>
                      <a:pt x="25930" y="26235"/>
                      <a:pt x="62328" y="0"/>
                      <a:pt x="103327" y="0"/>
                    </a:cubicBezTo>
                    <a:cubicBezTo>
                      <a:pt x="144325" y="0"/>
                      <a:pt x="180724" y="26235"/>
                      <a:pt x="193689" y="65129"/>
                    </a:cubicBezTo>
                    <a:cubicBezTo>
                      <a:pt x="206654" y="104024"/>
                      <a:pt x="193276" y="146851"/>
                      <a:pt x="160477" y="171450"/>
                    </a:cubicBezTo>
                    <a:cubicBezTo>
                      <a:pt x="145392" y="186382"/>
                      <a:pt x="138319" y="207604"/>
                      <a:pt x="141427" y="228600"/>
                    </a:cubicBezTo>
                    <a:cubicBezTo>
                      <a:pt x="141427" y="249642"/>
                      <a:pt x="124369" y="266700"/>
                      <a:pt x="103327" y="266700"/>
                    </a:cubicBezTo>
                    <a:cubicBezTo>
                      <a:pt x="82285" y="266700"/>
                      <a:pt x="65227" y="249642"/>
                      <a:pt x="65227" y="228600"/>
                    </a:cubicBezTo>
                    <a:cubicBezTo>
                      <a:pt x="68335" y="207604"/>
                      <a:pt x="61261" y="186382"/>
                      <a:pt x="46177" y="171450"/>
                    </a:cubicBezTo>
                  </a:path>
                </a:pathLst>
              </a:custGeom>
              <a:noFill/>
              <a:ln w="19050">
                <a:solidFill>
                  <a:srgbClr val="0F2C59"/>
                </a:solidFill>
              </a:ln>
            </p:spPr>
          </p:sp>
          <p:sp>
            <p:nvSpPr>
              <p:cNvPr id="13" name="Freeform 13"/>
              <p:cNvSpPr/>
              <p:nvPr/>
            </p:nvSpPr>
            <p:spPr>
              <a:xfrm>
                <a:off x="1061085" y="3086100"/>
                <a:ext cx="87630" cy="9525"/>
              </a:xfrm>
              <a:custGeom>
                <a:avLst/>
                <a:gdLst/>
                <a:ahLst/>
                <a:cxnLst/>
                <a:rect l="l" t="t" r="r" b="b"/>
                <a:pathLst>
                  <a:path w="87630" h="9525">
                    <a:moveTo>
                      <a:pt x="0" y="0"/>
                    </a:moveTo>
                    <a:lnTo>
                      <a:pt x="87630" y="0"/>
                    </a:lnTo>
                  </a:path>
                </a:pathLst>
              </a:custGeom>
              <a:noFill/>
              <a:ln w="19050">
                <a:solidFill>
                  <a:srgbClr val="0F2C59"/>
                </a:solidFill>
              </a:ln>
            </p:spPr>
          </p:sp>
        </p:grpSp>
        <p:sp>
          <p:nvSpPr>
            <p:cNvPr id="15" name="TextBox 15"/>
            <p:cNvSpPr txBox="1"/>
            <p:nvPr/>
          </p:nvSpPr>
          <p:spPr>
            <a:xfrm>
              <a:off x="853440" y="3520440"/>
              <a:ext cx="1784737" cy="365760"/>
            </a:xfrm>
            <a:prstGeom prst="rect">
              <a:avLst/>
            </a:prstGeom>
            <a:noFill/>
            <a:ln>
              <a:noFill/>
            </a:ln>
          </p:spPr>
          <p:txBody>
            <a:bodyPr wrap="none" lIns="0" tIns="0" rIns="0" bIns="0" anchor="t" anchorCtr="0">
              <a:spAutoFit/>
            </a:bodyPr>
            <a:lstStyle/>
            <a:p>
              <a:pPr algn="l"/>
              <a:r>
                <a:rPr lang="zh-CN" sz="1800" b="1" dirty="0">
                  <a:solidFill>
                    <a:srgbClr val="0F2C59"/>
                  </a:solidFill>
                  <a:latin typeface="Arial"/>
                  <a:ea typeface="Microsoft YaHei"/>
                  <a:cs typeface="Arial"/>
                </a:rPr>
                <a:t>10,000+ Hours</a:t>
              </a:r>
            </a:p>
          </p:txBody>
        </p:sp>
        <p:sp>
          <p:nvSpPr>
            <p:cNvPr id="16" name="TextBox 16"/>
            <p:cNvSpPr txBox="1"/>
            <p:nvPr/>
          </p:nvSpPr>
          <p:spPr>
            <a:xfrm>
              <a:off x="857250" y="4029075"/>
              <a:ext cx="2714625" cy="590550"/>
            </a:xfrm>
            <a:prstGeom prst="rect">
              <a:avLst/>
            </a:prstGeom>
            <a:noFill/>
            <a:ln>
              <a:noFill/>
            </a:ln>
          </p:spPr>
          <p:txBody>
            <a:bodyPr wrap="square" lIns="0" tIns="0" rIns="0" bIns="0" anchor="t" anchorCtr="0"/>
            <a:lstStyle/>
            <a:p>
              <a:pPr algn="l">
                <a:lnSpc>
                  <a:spcPts val="2250"/>
                </a:lnSpc>
              </a:pPr>
              <a:r>
                <a:rPr lang="zh-CN" sz="1500" dirty="0">
                  <a:solidFill>
                    <a:srgbClr val="212529"/>
                  </a:solidFill>
                  <a:latin typeface="Arial"/>
                  <a:ea typeface="Microsoft YaHei"/>
                  <a:cs typeface="Arial"/>
                </a:rPr>
                <a:t xml:space="preserve">Dedicated to system support </a:t>
              </a:r>
              <a:r>
                <a:rPr lang="zh-CN" sz="1500" dirty="0">
                  <a:solidFill>
                    <a:srgbClr val="212529"/>
                  </a:solidFill>
                  <a:latin typeface="Arial"/>
                  <a:ea typeface="Microsoft YaHei"/>
                  <a:cs typeface="Arial"/>
                </a:rPr>
                <a:t>and client operations.</a:t>
              </a:r>
            </a:p>
          </p:txBody>
        </p:sp>
      </p:grpSp>
      <p:grpSp>
        <p:nvGrpSpPr>
          <p:cNvPr id="29" name="Group 29"/>
          <p:cNvGrpSpPr/>
          <p:nvPr/>
        </p:nvGrpSpPr>
        <p:grpSpPr>
          <a:xfrm>
            <a:off x="4343400" y="2190750"/>
            <a:ext cx="3429000" cy="2857500"/>
            <a:chOff x="4343400" y="2190750"/>
            <a:chExt cx="3429000" cy="2857500"/>
          </a:xfrm>
        </p:grpSpPr>
        <p:sp>
          <p:nvSpPr>
            <p:cNvPr id="18" name="Rectangle 18"/>
            <p:cNvSpPr/>
            <p:nvPr/>
          </p:nvSpPr>
          <p:spPr>
            <a:xfrm>
              <a:off x="4343400" y="2190750"/>
              <a:ext cx="3429000" cy="2857500"/>
            </a:xfrm>
            <a:prstGeom prst="roundRect">
              <a:avLst>
                <a:gd name="adj" fmla="val 2667"/>
              </a:avLst>
            </a:prstGeom>
            <a:solidFill>
              <a:srgbClr val="FFFFFF"/>
            </a:solidFill>
            <a:ln w="14288">
              <a:solidFill>
                <a:srgbClr val="DEE2E6"/>
              </a:solidFill>
            </a:ln>
          </p:spPr>
        </p:sp>
        <p:sp>
          <p:nvSpPr>
            <p:cNvPr id="19" name="TextBox 19"/>
            <p:cNvSpPr txBox="1"/>
            <p:nvPr/>
          </p:nvSpPr>
          <p:spPr>
            <a:xfrm>
              <a:off x="4560570" y="2474595"/>
              <a:ext cx="97097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MILESTONE // 02</a:t>
              </a:r>
            </a:p>
          </p:txBody>
        </p:sp>
        <p:grpSp>
          <p:nvGrpSpPr>
            <p:cNvPr id="26" name="Group 26"/>
            <p:cNvGrpSpPr/>
            <p:nvPr/>
          </p:nvGrpSpPr>
          <p:grpSpPr>
            <a:xfrm>
              <a:off x="4629150" y="2819400"/>
              <a:ext cx="342900" cy="342900"/>
              <a:chOff x="4629150" y="2819400"/>
              <a:chExt cx="342900" cy="342900"/>
            </a:xfrm>
          </p:grpSpPr>
          <p:sp>
            <p:nvSpPr>
              <p:cNvPr id="20" name="Freeform 20"/>
              <p:cNvSpPr/>
              <p:nvPr/>
            </p:nvSpPr>
            <p:spPr>
              <a:xfrm>
                <a:off x="4629150" y="2990850"/>
                <a:ext cx="57150" cy="9525"/>
              </a:xfrm>
              <a:custGeom>
                <a:avLst/>
                <a:gdLst/>
                <a:ahLst/>
                <a:cxnLst/>
                <a:rect l="l" t="t" r="r" b="b"/>
                <a:pathLst>
                  <a:path w="57150" h="9525">
                    <a:moveTo>
                      <a:pt x="0" y="0"/>
                    </a:moveTo>
                    <a:lnTo>
                      <a:pt x="57150" y="0"/>
                    </a:lnTo>
                  </a:path>
                </a:pathLst>
              </a:custGeom>
              <a:noFill/>
              <a:ln w="19050">
                <a:solidFill>
                  <a:srgbClr val="008080"/>
                </a:solidFill>
              </a:ln>
            </p:spPr>
          </p:sp>
          <p:sp>
            <p:nvSpPr>
              <p:cNvPr id="21" name="Freeform 21"/>
              <p:cNvSpPr/>
              <p:nvPr/>
            </p:nvSpPr>
            <p:spPr>
              <a:xfrm>
                <a:off x="4800600" y="2819400"/>
                <a:ext cx="9525" cy="57150"/>
              </a:xfrm>
              <a:custGeom>
                <a:avLst/>
                <a:gdLst/>
                <a:ahLst/>
                <a:cxnLst/>
                <a:rect l="l" t="t" r="r" b="b"/>
                <a:pathLst>
                  <a:path w="9525" h="57150">
                    <a:moveTo>
                      <a:pt x="0" y="0"/>
                    </a:moveTo>
                    <a:lnTo>
                      <a:pt x="0" y="57150"/>
                    </a:lnTo>
                  </a:path>
                </a:pathLst>
              </a:custGeom>
              <a:noFill/>
              <a:ln w="19050">
                <a:solidFill>
                  <a:srgbClr val="008080"/>
                </a:solidFill>
              </a:ln>
            </p:spPr>
          </p:sp>
          <p:sp>
            <p:nvSpPr>
              <p:cNvPr id="22" name="Freeform 22"/>
              <p:cNvSpPr/>
              <p:nvPr/>
            </p:nvSpPr>
            <p:spPr>
              <a:xfrm>
                <a:off x="4678680" y="2868930"/>
                <a:ext cx="41910" cy="41910"/>
              </a:xfrm>
              <a:custGeom>
                <a:avLst/>
                <a:gdLst/>
                <a:ahLst/>
                <a:cxnLst/>
                <a:rect l="l" t="t" r="r" b="b"/>
                <a:pathLst>
                  <a:path w="41910" h="41910">
                    <a:moveTo>
                      <a:pt x="41910" y="41910"/>
                    </a:moveTo>
                    <a:lnTo>
                      <a:pt x="0" y="0"/>
                    </a:lnTo>
                  </a:path>
                </a:pathLst>
              </a:custGeom>
              <a:noFill/>
              <a:ln w="19050">
                <a:solidFill>
                  <a:srgbClr val="008080"/>
                </a:solidFill>
              </a:ln>
            </p:spPr>
          </p:sp>
          <p:sp>
            <p:nvSpPr>
              <p:cNvPr id="23" name="Freeform 23"/>
              <p:cNvSpPr/>
              <p:nvPr/>
            </p:nvSpPr>
            <p:spPr>
              <a:xfrm>
                <a:off x="4880610" y="2868930"/>
                <a:ext cx="41910" cy="41910"/>
              </a:xfrm>
              <a:custGeom>
                <a:avLst/>
                <a:gdLst/>
                <a:ahLst/>
                <a:cxnLst/>
                <a:rect l="l" t="t" r="r" b="b"/>
                <a:pathLst>
                  <a:path w="41910" h="41910">
                    <a:moveTo>
                      <a:pt x="0" y="41910"/>
                    </a:moveTo>
                    <a:lnTo>
                      <a:pt x="41910" y="0"/>
                    </a:lnTo>
                  </a:path>
                </a:pathLst>
              </a:custGeom>
              <a:noFill/>
              <a:ln w="19050">
                <a:solidFill>
                  <a:srgbClr val="008080"/>
                </a:solidFill>
              </a:ln>
            </p:spPr>
          </p:sp>
          <p:sp>
            <p:nvSpPr>
              <p:cNvPr id="24" name="Freeform 24"/>
              <p:cNvSpPr/>
              <p:nvPr/>
            </p:nvSpPr>
            <p:spPr>
              <a:xfrm>
                <a:off x="4678680" y="3070860"/>
                <a:ext cx="41910" cy="41910"/>
              </a:xfrm>
              <a:custGeom>
                <a:avLst/>
                <a:gdLst/>
                <a:ahLst/>
                <a:cxnLst/>
                <a:rect l="l" t="t" r="r" b="b"/>
                <a:pathLst>
                  <a:path w="41910" h="41910">
                    <a:moveTo>
                      <a:pt x="41910" y="0"/>
                    </a:moveTo>
                    <a:lnTo>
                      <a:pt x="0" y="41910"/>
                    </a:lnTo>
                  </a:path>
                </a:pathLst>
              </a:custGeom>
              <a:noFill/>
              <a:ln w="19050">
                <a:solidFill>
                  <a:srgbClr val="008080"/>
                </a:solidFill>
              </a:ln>
            </p:spPr>
          </p:sp>
          <p:sp>
            <p:nvSpPr>
              <p:cNvPr id="25" name="Freeform 25"/>
              <p:cNvSpPr/>
              <p:nvPr/>
            </p:nvSpPr>
            <p:spPr>
              <a:xfrm>
                <a:off x="4800600" y="2990850"/>
                <a:ext cx="171450" cy="171450"/>
              </a:xfrm>
              <a:custGeom>
                <a:avLst/>
                <a:gdLst/>
                <a:ahLst/>
                <a:cxnLst/>
                <a:rect l="l" t="t" r="r" b="b"/>
                <a:pathLst>
                  <a:path w="171450" h="171450">
                    <a:moveTo>
                      <a:pt x="0" y="0"/>
                    </a:moveTo>
                    <a:lnTo>
                      <a:pt x="171450" y="57150"/>
                    </a:lnTo>
                    <a:lnTo>
                      <a:pt x="95250" y="95250"/>
                    </a:lnTo>
                    <a:lnTo>
                      <a:pt x="57150" y="171450"/>
                    </a:lnTo>
                    <a:lnTo>
                      <a:pt x="0" y="0"/>
                    </a:lnTo>
                  </a:path>
                </a:pathLst>
              </a:custGeom>
              <a:noFill/>
              <a:ln w="19050">
                <a:solidFill>
                  <a:srgbClr val="008080"/>
                </a:solidFill>
              </a:ln>
            </p:spPr>
          </p:sp>
        </p:grpSp>
        <p:sp>
          <p:nvSpPr>
            <p:cNvPr id="27" name="TextBox 27"/>
            <p:cNvSpPr txBox="1"/>
            <p:nvPr/>
          </p:nvSpPr>
          <p:spPr>
            <a:xfrm>
              <a:off x="4549140" y="3520440"/>
              <a:ext cx="1507503" cy="365760"/>
            </a:xfrm>
            <a:prstGeom prst="rect">
              <a:avLst/>
            </a:prstGeom>
            <a:noFill/>
            <a:ln>
              <a:noFill/>
            </a:ln>
          </p:spPr>
          <p:txBody>
            <a:bodyPr wrap="none" lIns="0" tIns="0" rIns="0" bIns="0" anchor="t" anchorCtr="0">
              <a:spAutoFit/>
            </a:bodyPr>
            <a:lstStyle/>
            <a:p>
              <a:pPr algn="l"/>
              <a:r>
                <a:rPr lang="zh-CN" sz="1800" b="1" dirty="0">
                  <a:solidFill>
                    <a:srgbClr val="008080"/>
                  </a:solidFill>
                  <a:latin typeface="Arial"/>
                  <a:ea typeface="Microsoft YaHei"/>
                  <a:cs typeface="Arial"/>
                </a:rPr>
                <a:t>Laser Focus</a:t>
              </a:r>
            </a:p>
          </p:txBody>
        </p:sp>
        <p:sp>
          <p:nvSpPr>
            <p:cNvPr id="28" name="TextBox 28"/>
            <p:cNvSpPr txBox="1"/>
            <p:nvPr/>
          </p:nvSpPr>
          <p:spPr>
            <a:xfrm>
              <a:off x="4552950" y="4029075"/>
              <a:ext cx="2790825" cy="876300"/>
            </a:xfrm>
            <a:prstGeom prst="rect">
              <a:avLst/>
            </a:prstGeom>
            <a:noFill/>
            <a:ln>
              <a:noFill/>
            </a:ln>
          </p:spPr>
          <p:txBody>
            <a:bodyPr wrap="square" lIns="0" tIns="0" rIns="0" bIns="0" anchor="t" anchorCtr="0"/>
            <a:lstStyle/>
            <a:p>
              <a:pPr algn="l">
                <a:lnSpc>
                  <a:spcPts val="2250"/>
                </a:lnSpc>
              </a:pPr>
              <a:r>
                <a:rPr lang="zh-CN" sz="1500" dirty="0">
                  <a:solidFill>
                    <a:srgbClr val="212529"/>
                  </a:solidFill>
                  <a:latin typeface="Arial"/>
                  <a:ea typeface="Microsoft YaHei"/>
                  <a:cs typeface="Arial"/>
                </a:rPr>
                <a:t xml:space="preserve">Ensuring precise alignment </a:t>
              </a:r>
              <a:r>
                <a:rPr lang="zh-CN" sz="1500" dirty="0">
                  <a:solidFill>
                    <a:srgbClr val="212529"/>
                  </a:solidFill>
                  <a:latin typeface="Arial"/>
                  <a:ea typeface="Microsoft YaHei"/>
                  <a:cs typeface="Arial"/>
                </a:rPr>
                <a:t xml:space="preserve">and tactical execution </a:t>
              </a:r>
              <a:r>
                <a:rPr lang="zh-CN" sz="1500" dirty="0">
                  <a:solidFill>
                    <a:srgbClr val="212529"/>
                  </a:solidFill>
                  <a:latin typeface="Arial"/>
                  <a:ea typeface="Microsoft YaHei"/>
                  <a:cs typeface="Arial"/>
                </a:rPr>
                <a:t>across corporate initiatives.</a:t>
              </a:r>
            </a:p>
          </p:txBody>
        </p:sp>
      </p:grpSp>
      <p:grpSp>
        <p:nvGrpSpPr>
          <p:cNvPr id="37" name="Group 37"/>
          <p:cNvGrpSpPr/>
          <p:nvPr/>
        </p:nvGrpSpPr>
        <p:grpSpPr>
          <a:xfrm>
            <a:off x="8039100" y="2190750"/>
            <a:ext cx="3429000" cy="2857500"/>
            <a:chOff x="8039100" y="2190750"/>
            <a:chExt cx="3429000" cy="2857500"/>
          </a:xfrm>
        </p:grpSpPr>
        <p:sp>
          <p:nvSpPr>
            <p:cNvPr id="30" name="Rectangle 30"/>
            <p:cNvSpPr/>
            <p:nvPr/>
          </p:nvSpPr>
          <p:spPr>
            <a:xfrm>
              <a:off x="8039100" y="2190750"/>
              <a:ext cx="3429000" cy="2857500"/>
            </a:xfrm>
            <a:prstGeom prst="roundRect">
              <a:avLst>
                <a:gd name="adj" fmla="val 2667"/>
              </a:avLst>
            </a:prstGeom>
            <a:solidFill>
              <a:srgbClr val="FFFFFF"/>
            </a:solidFill>
            <a:ln w="14288">
              <a:solidFill>
                <a:srgbClr val="DEE2E6"/>
              </a:solidFill>
            </a:ln>
          </p:spPr>
        </p:sp>
        <p:sp>
          <p:nvSpPr>
            <p:cNvPr id="31" name="TextBox 31"/>
            <p:cNvSpPr txBox="1"/>
            <p:nvPr/>
          </p:nvSpPr>
          <p:spPr>
            <a:xfrm>
              <a:off x="8256270" y="2474595"/>
              <a:ext cx="97097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MILESTONE // 03</a:t>
              </a:r>
            </a:p>
          </p:txBody>
        </p:sp>
        <p:grpSp>
          <p:nvGrpSpPr>
            <p:cNvPr id="34" name="Group 34"/>
            <p:cNvGrpSpPr/>
            <p:nvPr/>
          </p:nvGrpSpPr>
          <p:grpSpPr>
            <a:xfrm>
              <a:off x="8324850" y="2819404"/>
              <a:ext cx="342896" cy="342896"/>
              <a:chOff x="8324850" y="2819404"/>
              <a:chExt cx="342896" cy="342896"/>
            </a:xfrm>
          </p:grpSpPr>
          <p:sp>
            <p:nvSpPr>
              <p:cNvPr id="32" name="Freeform 32"/>
              <p:cNvSpPr/>
              <p:nvPr/>
            </p:nvSpPr>
            <p:spPr>
              <a:xfrm>
                <a:off x="8324850" y="2819404"/>
                <a:ext cx="342896" cy="342896"/>
              </a:xfrm>
              <a:custGeom>
                <a:avLst/>
                <a:gdLst/>
                <a:ahLst/>
                <a:cxnLst/>
                <a:rect l="l" t="t" r="r" b="b"/>
                <a:pathLst>
                  <a:path w="342896" h="342896">
                    <a:moveTo>
                      <a:pt x="258223" y="16055"/>
                    </a:moveTo>
                    <a:lnTo>
                      <a:pt x="326841" y="84674"/>
                    </a:lnTo>
                    <a:cubicBezTo>
                      <a:pt x="337121" y="94952"/>
                      <a:pt x="342896" y="108894"/>
                      <a:pt x="342896" y="123431"/>
                    </a:cubicBezTo>
                    <a:cubicBezTo>
                      <a:pt x="342896" y="137968"/>
                      <a:pt x="337121" y="151910"/>
                      <a:pt x="326841" y="162188"/>
                    </a:cubicBezTo>
                    <a:lnTo>
                      <a:pt x="276492" y="212537"/>
                    </a:lnTo>
                    <a:cubicBezTo>
                      <a:pt x="266213" y="222817"/>
                      <a:pt x="252272" y="228593"/>
                      <a:pt x="237734" y="228593"/>
                    </a:cubicBezTo>
                    <a:cubicBezTo>
                      <a:pt x="223197" y="228593"/>
                      <a:pt x="209256" y="222817"/>
                      <a:pt x="198977" y="212537"/>
                    </a:cubicBezTo>
                    <a:lnTo>
                      <a:pt x="193243" y="206803"/>
                    </a:lnTo>
                    <a:lnTo>
                      <a:pt x="68313" y="331733"/>
                    </a:lnTo>
                    <a:cubicBezTo>
                      <a:pt x="61983" y="338062"/>
                      <a:pt x="53627" y="341960"/>
                      <a:pt x="44710" y="342744"/>
                    </a:cubicBezTo>
                    <a:lnTo>
                      <a:pt x="41377" y="342896"/>
                    </a:lnTo>
                    <a:lnTo>
                      <a:pt x="19050" y="342896"/>
                    </a:lnTo>
                    <a:cubicBezTo>
                      <a:pt x="9392" y="342895"/>
                      <a:pt x="1263" y="335667"/>
                      <a:pt x="133" y="326075"/>
                    </a:cubicBezTo>
                    <a:lnTo>
                      <a:pt x="0" y="323846"/>
                    </a:lnTo>
                    <a:lnTo>
                      <a:pt x="0" y="301520"/>
                    </a:lnTo>
                    <a:cubicBezTo>
                      <a:pt x="2" y="292575"/>
                      <a:pt x="3152" y="283916"/>
                      <a:pt x="8896" y="277060"/>
                    </a:cubicBezTo>
                    <a:lnTo>
                      <a:pt x="11163" y="274583"/>
                    </a:lnTo>
                    <a:lnTo>
                      <a:pt x="19050" y="266696"/>
                    </a:lnTo>
                    <a:lnTo>
                      <a:pt x="57150" y="266696"/>
                    </a:lnTo>
                    <a:lnTo>
                      <a:pt x="57150" y="228596"/>
                    </a:lnTo>
                    <a:lnTo>
                      <a:pt x="95250" y="228596"/>
                    </a:lnTo>
                    <a:lnTo>
                      <a:pt x="95250" y="190496"/>
                    </a:lnTo>
                    <a:lnTo>
                      <a:pt x="136093" y="149653"/>
                    </a:lnTo>
                    <a:lnTo>
                      <a:pt x="130359" y="143919"/>
                    </a:lnTo>
                    <a:cubicBezTo>
                      <a:pt x="120079" y="133641"/>
                      <a:pt x="114304" y="119699"/>
                      <a:pt x="114304" y="105162"/>
                    </a:cubicBezTo>
                    <a:cubicBezTo>
                      <a:pt x="114304" y="90625"/>
                      <a:pt x="120079" y="76683"/>
                      <a:pt x="130359" y="66405"/>
                    </a:cubicBezTo>
                    <a:lnTo>
                      <a:pt x="180708" y="16055"/>
                    </a:lnTo>
                    <a:cubicBezTo>
                      <a:pt x="190987" y="5775"/>
                      <a:pt x="204928" y="0"/>
                      <a:pt x="219466" y="0"/>
                    </a:cubicBezTo>
                    <a:cubicBezTo>
                      <a:pt x="234003" y="0"/>
                      <a:pt x="247944" y="5775"/>
                      <a:pt x="258223" y="16055"/>
                    </a:cubicBezTo>
                  </a:path>
                </a:pathLst>
              </a:custGeom>
              <a:noFill/>
              <a:ln w="19050">
                <a:solidFill>
                  <a:srgbClr val="4A6B82"/>
                </a:solidFill>
              </a:ln>
            </p:spPr>
          </p:sp>
          <p:sp>
            <p:nvSpPr>
              <p:cNvPr id="33" name="Freeform 33"/>
              <p:cNvSpPr/>
              <p:nvPr/>
            </p:nvSpPr>
            <p:spPr>
              <a:xfrm>
                <a:off x="8553450" y="2933700"/>
                <a:ext cx="9525" cy="9525"/>
              </a:xfrm>
              <a:custGeom>
                <a:avLst/>
                <a:gdLst/>
                <a:ahLst/>
                <a:cxnLst/>
                <a:rect l="l" t="t" r="r" b="b"/>
                <a:pathLst>
                  <a:path w="9525" h="9525">
                    <a:moveTo>
                      <a:pt x="0" y="0"/>
                    </a:moveTo>
                    <a:lnTo>
                      <a:pt x="190" y="0"/>
                    </a:lnTo>
                  </a:path>
                </a:pathLst>
              </a:custGeom>
              <a:noFill/>
              <a:ln w="19050">
                <a:solidFill>
                  <a:srgbClr val="4A6B82"/>
                </a:solidFill>
              </a:ln>
            </p:spPr>
          </p:sp>
        </p:grpSp>
        <p:sp>
          <p:nvSpPr>
            <p:cNvPr id="35" name="TextBox 35"/>
            <p:cNvSpPr txBox="1"/>
            <p:nvPr/>
          </p:nvSpPr>
          <p:spPr>
            <a:xfrm>
              <a:off x="8244840" y="3520440"/>
              <a:ext cx="2137581" cy="365760"/>
            </a:xfrm>
            <a:prstGeom prst="rect">
              <a:avLst/>
            </a:prstGeom>
            <a:noFill/>
            <a:ln>
              <a:noFill/>
            </a:ln>
          </p:spPr>
          <p:txBody>
            <a:bodyPr wrap="none" lIns="0" tIns="0" rIns="0" bIns="0" anchor="t" anchorCtr="0">
              <a:spAutoFit/>
            </a:bodyPr>
            <a:lstStyle/>
            <a:p>
              <a:pPr algn="l"/>
              <a:r>
                <a:rPr lang="zh-CN" sz="1800" b="1" dirty="0">
                  <a:solidFill>
                    <a:srgbClr val="4A6B82"/>
                  </a:solidFill>
                  <a:latin typeface="Arial"/>
                  <a:ea typeface="Microsoft YaHei"/>
                  <a:cs typeface="Arial"/>
                </a:rPr>
                <a:t>Certified Quality</a:t>
              </a:r>
            </a:p>
          </p:txBody>
        </p:sp>
        <p:sp>
          <p:nvSpPr>
            <p:cNvPr id="36" name="TextBox 36"/>
            <p:cNvSpPr txBox="1"/>
            <p:nvPr/>
          </p:nvSpPr>
          <p:spPr>
            <a:xfrm>
              <a:off x="8248650" y="4029075"/>
              <a:ext cx="2476500" cy="876300"/>
            </a:xfrm>
            <a:prstGeom prst="rect">
              <a:avLst/>
            </a:prstGeom>
            <a:noFill/>
            <a:ln>
              <a:noFill/>
            </a:ln>
          </p:spPr>
          <p:txBody>
            <a:bodyPr wrap="square" lIns="0" tIns="0" rIns="0" bIns="0" anchor="t" anchorCtr="0"/>
            <a:lstStyle/>
            <a:p>
              <a:pPr algn="l">
                <a:lnSpc>
                  <a:spcPts val="2250"/>
                </a:lnSpc>
              </a:pPr>
              <a:r>
                <a:rPr lang="zh-CN" sz="1500" dirty="0">
                  <a:solidFill>
                    <a:srgbClr val="212529"/>
                  </a:solidFill>
                  <a:latin typeface="Arial"/>
                  <a:ea typeface="Microsoft YaHei"/>
                  <a:cs typeface="Arial"/>
                </a:rPr>
                <a:t xml:space="preserve">Certified compliance from </a:t>
              </a:r>
              <a:r>
                <a:rPr lang="zh-CN" sz="1500" dirty="0">
                  <a:solidFill>
                    <a:srgbClr val="212529"/>
                  </a:solidFill>
                  <a:latin typeface="Arial"/>
                  <a:ea typeface="Microsoft YaHei"/>
                  <a:cs typeface="Arial"/>
                </a:rPr>
                <a:t xml:space="preserve">the International Board of </a:t>
              </a:r>
              <a:r>
                <a:rPr lang="zh-CN" sz="1500" dirty="0">
                  <a:solidFill>
                    <a:srgbClr val="212529"/>
                  </a:solidFill>
                  <a:latin typeface="Arial"/>
                  <a:ea typeface="Microsoft YaHei"/>
                  <a:cs typeface="Arial"/>
                </a:rPr>
                <a:t>Quality Assurance.</a:t>
              </a:r>
            </a:p>
          </p:txBody>
        </p:sp>
      </p:grpSp>
      <p:grpSp>
        <p:nvGrpSpPr>
          <p:cNvPr id="39" name="Group 39"/>
          <p:cNvGrpSpPr/>
          <p:nvPr/>
        </p:nvGrpSpPr>
        <p:grpSpPr>
          <a:xfrm>
            <a:off x="559118" y="5419249"/>
            <a:ext cx="7871246" cy="198120"/>
            <a:chOff x="559118" y="5419249"/>
            <a:chExt cx="7871246" cy="198120"/>
          </a:xfrm>
        </p:grpSpPr>
        <p:sp>
          <p:nvSpPr>
            <p:cNvPr id="38" name="TextBox 38"/>
            <p:cNvSpPr txBox="1"/>
            <p:nvPr/>
          </p:nvSpPr>
          <p:spPr>
            <a:xfrm>
              <a:off x="559118" y="5419249"/>
              <a:ext cx="7871246" cy="198120"/>
            </a:xfrm>
            <a:prstGeom prst="rect">
              <a:avLst/>
            </a:prstGeom>
            <a:noFill/>
            <a:ln>
              <a:noFill/>
            </a:ln>
          </p:spPr>
          <p:txBody>
            <a:bodyPr wrap="none" lIns="0" tIns="0" rIns="0" bIns="0" anchor="t" anchorCtr="0">
              <a:spAutoFit/>
            </a:bodyPr>
            <a:lstStyle/>
            <a:p>
              <a:pPr algn="l"/>
              <a:r>
                <a:rPr lang="zh-CN" sz="975" dirty="0">
                  <a:solidFill>
                    <a:srgbClr val="6C757D"/>
                  </a:solidFill>
                  <a:latin typeface="Arial"/>
                  <a:ea typeface="Microsoft YaHei"/>
                  <a:cs typeface="Arial"/>
                </a:rPr>
                <a:t>Note: Certification granted by the International Board of Quality Assurance. Checked at 10pt size for display verification.</a:t>
              </a:r>
            </a:p>
          </p:txBody>
        </p:sp>
      </p:grpSp>
      <p:grpSp>
        <p:nvGrpSpPr>
          <p:cNvPr id="43" name="Group 43"/>
          <p:cNvGrpSpPr/>
          <p:nvPr/>
        </p:nvGrpSpPr>
        <p:grpSpPr>
          <a:xfrm>
            <a:off x="560070" y="6238875"/>
            <a:ext cx="11071860" cy="323850"/>
            <a:chOff x="560070" y="6238875"/>
            <a:chExt cx="11071860" cy="323850"/>
          </a:xfrm>
        </p:grpSpPr>
        <p:sp>
          <p:nvSpPr>
            <p:cNvPr id="40" name="Line 40"/>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41" name="TextBox 41"/>
            <p:cNvSpPr txBox="1"/>
            <p:nvPr/>
          </p:nvSpPr>
          <p:spPr>
            <a:xfrm>
              <a:off x="560070" y="6379845"/>
              <a:ext cx="1913096"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LEGIBILITY_TEST: 13PX (10PT) OK</a:t>
              </a:r>
            </a:p>
          </p:txBody>
        </p:sp>
        <p:sp>
          <p:nvSpPr>
            <p:cNvPr id="42" name="TextBox 42"/>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image">
                                      <p:cBhvr>
                                        <p:cTn id="15" dur="400"/>
                                        <p:tgtEl>
                                          <p:spTgt spid="2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00"/>
                                        <p:tgtEl>
                                          <p:spTgt spid="37"/>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29" grpId="0"/>
      <p:bldP spid="37"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81108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SYS.DATA_VISUALIZATION // P04</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8858179" cy="691515"/>
            <a:chOff x="537210" y="1042035"/>
            <a:chExt cx="8858179" cy="691515"/>
          </a:xfrm>
        </p:grpSpPr>
        <p:sp>
          <p:nvSpPr>
            <p:cNvPr id="6" name="TextBox 6"/>
            <p:cNvSpPr txBox="1"/>
            <p:nvPr/>
          </p:nvSpPr>
          <p:spPr>
            <a:xfrm>
              <a:off x="537210" y="1042035"/>
              <a:ext cx="8858179"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Quantitative Growth and Scalability Projections</a:t>
              </a:r>
            </a:p>
          </p:txBody>
        </p:sp>
        <p:sp>
          <p:nvSpPr>
            <p:cNvPr id="7" name="TextBox 7"/>
            <p:cNvSpPr txBox="1"/>
            <p:nvPr/>
          </p:nvSpPr>
          <p:spPr>
            <a:xfrm>
              <a:off x="556260" y="1489710"/>
              <a:ext cx="3934968"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Performance metrics modeled over temporal axis.</a:t>
              </a:r>
            </a:p>
          </p:txBody>
        </p:sp>
      </p:grpSp>
      <p:grpSp>
        <p:nvGrpSpPr>
          <p:cNvPr id="22" name="Group 22"/>
          <p:cNvGrpSpPr/>
          <p:nvPr/>
        </p:nvGrpSpPr>
        <p:grpSpPr>
          <a:xfrm>
            <a:off x="571500" y="1524000"/>
            <a:ext cx="7389731" cy="4000500"/>
            <a:chOff x="571500" y="1524000"/>
            <a:chExt cx="7389731" cy="4000500"/>
          </a:xfrm>
        </p:grpSpPr>
        <p:sp>
          <p:nvSpPr>
            <p:cNvPr id="9" name="Rectangle 9"/>
            <p:cNvSpPr/>
            <p:nvPr/>
          </p:nvSpPr>
          <p:spPr>
            <a:xfrm>
              <a:off x="571500" y="1905000"/>
              <a:ext cx="7048500" cy="3619500"/>
            </a:xfrm>
            <a:prstGeom prst="roundRect">
              <a:avLst>
                <a:gd name="adj" fmla="val 2105"/>
              </a:avLst>
            </a:prstGeom>
            <a:solidFill>
              <a:srgbClr val="FFFFFF"/>
            </a:solidFill>
            <a:ln w="14288">
              <a:solidFill>
                <a:srgbClr val="DEE2E6"/>
              </a:solidFill>
            </a:ln>
          </p:spPr>
        </p:sp>
        <p:sp>
          <p:nvSpPr>
            <p:cNvPr id="10" name="Line 10"/>
            <p:cNvSpPr/>
            <p:nvPr/>
          </p:nvSpPr>
          <p:spPr>
            <a:xfrm>
              <a:off x="1524000" y="2381250"/>
              <a:ext cx="9525" cy="2571750"/>
            </a:xfrm>
            <a:custGeom>
              <a:avLst/>
              <a:gdLst/>
              <a:ahLst/>
              <a:cxnLst/>
              <a:rect l="l" t="t" r="r" b="b"/>
              <a:pathLst>
                <a:path w="9525" h="2571750">
                  <a:moveTo>
                    <a:pt x="0" y="0"/>
                  </a:moveTo>
                  <a:lnTo>
                    <a:pt x="0" y="2571750"/>
                  </a:lnTo>
                </a:path>
              </a:pathLst>
            </a:custGeom>
            <a:noFill/>
            <a:ln w="14288">
              <a:solidFill>
                <a:srgbClr val="6C757D"/>
              </a:solidFill>
            </a:ln>
          </p:spPr>
        </p:sp>
        <p:sp>
          <p:nvSpPr>
            <p:cNvPr id="11" name="TextBox 11"/>
            <p:cNvSpPr txBox="1"/>
            <p:nvPr/>
          </p:nvSpPr>
          <p:spPr>
            <a:xfrm>
              <a:off x="858107" y="2315528"/>
              <a:ext cx="488728" cy="213360"/>
            </a:xfrm>
            <a:prstGeom prst="rect">
              <a:avLst/>
            </a:prstGeom>
            <a:noFill/>
            <a:ln>
              <a:noFill/>
            </a:ln>
          </p:spPr>
          <p:txBody>
            <a:bodyPr wrap="none" lIns="0" tIns="0" rIns="0" bIns="0" anchor="t" anchorCtr="0">
              <a:spAutoFit/>
            </a:bodyPr>
            <a:lstStyle/>
            <a:p>
              <a:pPr algn="r"/>
              <a:r>
                <a:rPr lang="zh-CN" sz="1050" dirty="0">
                  <a:solidFill>
                    <a:srgbClr val="008080"/>
                  </a:solidFill>
                  <a:latin typeface="Consolas"/>
                  <a:ea typeface="Microsoft YaHei"/>
                  <a:cs typeface="Consolas"/>
                </a:rPr>
                <a:t>Target</a:t>
              </a:r>
            </a:p>
          </p:txBody>
        </p:sp>
        <p:sp>
          <p:nvSpPr>
            <p:cNvPr id="12" name="TextBox 12"/>
            <p:cNvSpPr txBox="1"/>
            <p:nvPr/>
          </p:nvSpPr>
          <p:spPr>
            <a:xfrm>
              <a:off x="1243155" y="4887278"/>
              <a:ext cx="103680" cy="213360"/>
            </a:xfrm>
            <a:prstGeom prst="rect">
              <a:avLst/>
            </a:prstGeom>
            <a:noFill/>
            <a:ln>
              <a:noFill/>
            </a:ln>
          </p:spPr>
          <p:txBody>
            <a:bodyPr wrap="none" lIns="0" tIns="0" rIns="0" bIns="0" anchor="t" anchorCtr="0">
              <a:spAutoFit/>
            </a:bodyPr>
            <a:lstStyle/>
            <a:p>
              <a:pPr algn="r"/>
              <a:r>
                <a:rPr lang="zh-CN" sz="1050" dirty="0">
                  <a:solidFill>
                    <a:srgbClr val="6C757D"/>
                  </a:solidFill>
                  <a:latin typeface="Consolas"/>
                  <a:ea typeface="Microsoft YaHei"/>
                  <a:cs typeface="Consolas"/>
                </a:rPr>
                <a:t>0</a:t>
              </a:r>
            </a:p>
          </p:txBody>
        </p:sp>
        <p:sp>
          <p:nvSpPr>
            <p:cNvPr id="13" name="TextBox 13"/>
            <p:cNvSpPr txBox="1"/>
            <p:nvPr/>
          </p:nvSpPr>
          <p:spPr>
            <a:xfrm>
              <a:off x="1701165" y="2077402"/>
              <a:ext cx="394216" cy="213360"/>
            </a:xfrm>
            <a:prstGeom prst="rect">
              <a:avLst/>
            </a:prstGeom>
            <a:noFill/>
            <a:ln>
              <a:noFill/>
            </a:ln>
          </p:spPr>
          <p:txBody>
            <a:bodyPr wrap="none" lIns="0" tIns="0" rIns="0" bIns="0" anchor="t" anchorCtr="0">
              <a:spAutoFit/>
            </a:bodyPr>
            <a:lstStyle/>
            <a:p>
              <a:pPr algn="l"/>
              <a:r>
                <a:rPr lang="zh-CN" sz="1050" b="1" dirty="0">
                  <a:solidFill>
                    <a:srgbClr val="6C757D"/>
                  </a:solidFill>
                  <a:latin typeface="Arial"/>
                  <a:ea typeface="Microsoft YaHei"/>
                  <a:cs typeface="Arial"/>
                </a:rPr>
                <a:t>Scale</a:t>
              </a:r>
            </a:p>
          </p:txBody>
        </p:sp>
        <p:sp>
          <p:nvSpPr>
            <p:cNvPr id="14" name="Line 14"/>
            <p:cNvSpPr/>
            <p:nvPr/>
          </p:nvSpPr>
          <p:spPr>
            <a:xfrm>
              <a:off x="1524000" y="4953000"/>
              <a:ext cx="5715000" cy="9525"/>
            </a:xfrm>
            <a:custGeom>
              <a:avLst/>
              <a:gdLst/>
              <a:ahLst/>
              <a:cxnLst/>
              <a:rect l="l" t="t" r="r" b="b"/>
              <a:pathLst>
                <a:path w="5715000" h="9525">
                  <a:moveTo>
                    <a:pt x="0" y="0"/>
                  </a:moveTo>
                  <a:lnTo>
                    <a:pt x="5715000" y="0"/>
                  </a:lnTo>
                </a:path>
              </a:pathLst>
            </a:custGeom>
            <a:noFill/>
            <a:ln w="14288">
              <a:solidFill>
                <a:srgbClr val="6C757D"/>
              </a:solidFill>
            </a:ln>
          </p:spPr>
        </p:sp>
        <p:sp>
          <p:nvSpPr>
            <p:cNvPr id="15" name="TextBox 15"/>
            <p:cNvSpPr txBox="1"/>
            <p:nvPr/>
          </p:nvSpPr>
          <p:spPr>
            <a:xfrm>
              <a:off x="1800187" y="5061585"/>
              <a:ext cx="400126" cy="243840"/>
            </a:xfrm>
            <a:prstGeom prst="rect">
              <a:avLst/>
            </a:prstGeom>
            <a:noFill/>
            <a:ln>
              <a:noFill/>
            </a:ln>
          </p:spPr>
          <p:txBody>
            <a:bodyPr wrap="none" lIns="0" tIns="0" rIns="0" bIns="0" anchor="t" anchorCtr="0">
              <a:spAutoFit/>
            </a:bodyPr>
            <a:lstStyle/>
            <a:p>
              <a:pPr algn="ctr"/>
              <a:r>
                <a:rPr lang="zh-CN" sz="1200" b="1" dirty="0">
                  <a:solidFill>
                    <a:srgbClr val="212529"/>
                  </a:solidFill>
                  <a:latin typeface="Arial"/>
                  <a:ea typeface="Microsoft YaHei"/>
                  <a:cs typeface="Arial"/>
                </a:rPr>
                <a:t>FY25</a:t>
              </a:r>
            </a:p>
          </p:txBody>
        </p:sp>
        <p:sp>
          <p:nvSpPr>
            <p:cNvPr id="16" name="TextBox 16"/>
            <p:cNvSpPr txBox="1"/>
            <p:nvPr/>
          </p:nvSpPr>
          <p:spPr>
            <a:xfrm>
              <a:off x="6562687" y="5061585"/>
              <a:ext cx="400126" cy="243840"/>
            </a:xfrm>
            <a:prstGeom prst="rect">
              <a:avLst/>
            </a:prstGeom>
            <a:noFill/>
            <a:ln>
              <a:noFill/>
            </a:ln>
          </p:spPr>
          <p:txBody>
            <a:bodyPr wrap="none" lIns="0" tIns="0" rIns="0" bIns="0" anchor="t" anchorCtr="0">
              <a:spAutoFit/>
            </a:bodyPr>
            <a:lstStyle/>
            <a:p>
              <a:pPr algn="ctr"/>
              <a:r>
                <a:rPr lang="zh-CN" sz="1200" b="1" dirty="0">
                  <a:solidFill>
                    <a:srgbClr val="212529"/>
                  </a:solidFill>
                  <a:latin typeface="Arial"/>
                  <a:ea typeface="Microsoft YaHei"/>
                  <a:cs typeface="Arial"/>
                </a:rPr>
                <a:t>FY26</a:t>
              </a:r>
            </a:p>
          </p:txBody>
        </p:sp>
        <p:sp>
          <p:nvSpPr>
            <p:cNvPr id="17" name="TextBox 17"/>
            <p:cNvSpPr txBox="1"/>
            <p:nvPr/>
          </p:nvSpPr>
          <p:spPr>
            <a:xfrm>
              <a:off x="7368540" y="5077778"/>
              <a:ext cx="592691" cy="213360"/>
            </a:xfrm>
            <a:prstGeom prst="rect">
              <a:avLst/>
            </a:prstGeom>
            <a:noFill/>
            <a:ln>
              <a:noFill/>
            </a:ln>
          </p:spPr>
          <p:txBody>
            <a:bodyPr wrap="none" lIns="0" tIns="0" rIns="0" bIns="0" anchor="t" anchorCtr="0">
              <a:spAutoFit/>
            </a:bodyPr>
            <a:lstStyle/>
            <a:p>
              <a:pPr algn="l"/>
              <a:r>
                <a:rPr lang="zh-CN" sz="1050" b="1" dirty="0">
                  <a:solidFill>
                    <a:srgbClr val="6C757D"/>
                  </a:solidFill>
                  <a:latin typeface="Arial"/>
                  <a:ea typeface="Microsoft YaHei"/>
                  <a:cs typeface="Arial"/>
                </a:rPr>
                <a:t>Timeline</a:t>
              </a:r>
            </a:p>
          </p:txBody>
        </p:sp>
        <p:sp>
          <p:nvSpPr>
            <p:cNvPr id="18" name="Line 18"/>
            <p:cNvSpPr/>
            <p:nvPr/>
          </p:nvSpPr>
          <p:spPr>
            <a:xfrm>
              <a:off x="1524000" y="3238500"/>
              <a:ext cx="5715000" cy="9525"/>
            </a:xfrm>
            <a:custGeom>
              <a:avLst/>
              <a:gdLst/>
              <a:ahLst/>
              <a:cxnLst/>
              <a:rect l="l" t="t" r="r" b="b"/>
              <a:pathLst>
                <a:path w="5715000" h="9525">
                  <a:moveTo>
                    <a:pt x="0" y="0"/>
                  </a:moveTo>
                  <a:lnTo>
                    <a:pt x="5715000" y="0"/>
                  </a:lnTo>
                </a:path>
              </a:pathLst>
            </a:custGeom>
            <a:noFill/>
            <a:ln w="9525">
              <a:solidFill>
                <a:srgbClr val="DEE2E6"/>
              </a:solidFill>
              <a:prstDash val="sysDot"/>
            </a:ln>
          </p:spPr>
        </p:sp>
        <p:sp>
          <p:nvSpPr>
            <p:cNvPr id="19" name="Line 19"/>
            <p:cNvSpPr/>
            <p:nvPr/>
          </p:nvSpPr>
          <p:spPr>
            <a:xfrm>
              <a:off x="1524000" y="4095750"/>
              <a:ext cx="5715000" cy="9525"/>
            </a:xfrm>
            <a:custGeom>
              <a:avLst/>
              <a:gdLst/>
              <a:ahLst/>
              <a:cxnLst/>
              <a:rect l="l" t="t" r="r" b="b"/>
              <a:pathLst>
                <a:path w="5715000" h="9525">
                  <a:moveTo>
                    <a:pt x="0" y="0"/>
                  </a:moveTo>
                  <a:lnTo>
                    <a:pt x="5715000" y="0"/>
                  </a:lnTo>
                </a:path>
              </a:pathLst>
            </a:custGeom>
            <a:noFill/>
            <a:ln w="9525">
              <a:solidFill>
                <a:srgbClr val="DEE2E6"/>
              </a:solidFill>
              <a:prstDash val="sysDot"/>
            </a:ln>
          </p:spPr>
        </p:sp>
        <p:sp>
          <p:nvSpPr>
            <p:cNvPr id="20" name="Freeform 20"/>
            <p:cNvSpPr/>
            <p:nvPr/>
          </p:nvSpPr>
          <p:spPr>
            <a:xfrm>
              <a:off x="2000250" y="1524000"/>
              <a:ext cx="5524500" cy="3238500"/>
            </a:xfrm>
            <a:custGeom>
              <a:avLst/>
              <a:gdLst/>
              <a:ahLst/>
              <a:cxnLst/>
              <a:rect l="l" t="t" r="r" b="b"/>
              <a:pathLst>
                <a:path w="5524500" h="3238500">
                  <a:moveTo>
                    <a:pt x="0" y="3238500"/>
                  </a:moveTo>
                  <a:cubicBezTo>
                    <a:pt x="1428750" y="3048000"/>
                    <a:pt x="2857500" y="2286000"/>
                    <a:pt x="4762500" y="857250"/>
                  </a:cubicBezTo>
                  <a:lnTo>
                    <a:pt x="5524500" y="0"/>
                  </a:lnTo>
                </a:path>
              </a:pathLst>
            </a:custGeom>
            <a:noFill/>
            <a:ln w="47625">
              <a:solidFill>
                <a:srgbClr val="008080"/>
              </a:solidFill>
            </a:ln>
            <a:effectLst>
              <a:glow rad="76200">
                <a:srgbClr val="008080">
                  <a:alpha val="40000"/>
                </a:srgbClr>
              </a:glow>
            </a:effectLst>
          </p:spPr>
        </p:sp>
        <p:sp>
          <p:nvSpPr>
            <p:cNvPr id="21" name="TextBox 21"/>
            <p:cNvSpPr txBox="1"/>
            <p:nvPr/>
          </p:nvSpPr>
          <p:spPr>
            <a:xfrm>
              <a:off x="2227088" y="5332095"/>
              <a:ext cx="3737324" cy="182880"/>
            </a:xfrm>
            <a:prstGeom prst="rect">
              <a:avLst/>
            </a:prstGeom>
            <a:noFill/>
            <a:ln>
              <a:noFill/>
            </a:ln>
          </p:spPr>
          <p:txBody>
            <a:bodyPr wrap="none" lIns="0" tIns="0" rIns="0" bIns="0" anchor="t" anchorCtr="0">
              <a:spAutoFit/>
            </a:bodyPr>
            <a:lstStyle/>
            <a:p>
              <a:pPr algn="ctr"/>
              <a:r>
                <a:rPr lang="zh-CN" sz="900" i="1" dirty="0">
                  <a:solidFill>
                    <a:srgbClr val="6C757D"/>
                  </a:solidFill>
                  <a:latin typeface="Arial"/>
                  <a:ea typeface="Microsoft YaHei"/>
                  <a:cs typeface="Arial"/>
                </a:rPr>
                <a:t>Figure 1.1: Core Performance Indicators (FY25-FY26 Forecast)</a:t>
              </a:r>
            </a:p>
          </p:txBody>
        </p:sp>
      </p:grpSp>
      <p:grpSp>
        <p:nvGrpSpPr>
          <p:cNvPr id="31" name="Group 31"/>
          <p:cNvGrpSpPr/>
          <p:nvPr/>
        </p:nvGrpSpPr>
        <p:grpSpPr>
          <a:xfrm>
            <a:off x="7905750" y="1905000"/>
            <a:ext cx="3714750" cy="3619500"/>
            <a:chOff x="7905750" y="1905000"/>
            <a:chExt cx="3714750" cy="3619500"/>
          </a:xfrm>
        </p:grpSpPr>
        <p:sp>
          <p:nvSpPr>
            <p:cNvPr id="23" name="Rectangle 23"/>
            <p:cNvSpPr/>
            <p:nvPr/>
          </p:nvSpPr>
          <p:spPr>
            <a:xfrm>
              <a:off x="7905750" y="1905000"/>
              <a:ext cx="3714750" cy="3619500"/>
            </a:xfrm>
            <a:prstGeom prst="roundRect">
              <a:avLst>
                <a:gd name="adj" fmla="val 2105"/>
              </a:avLst>
            </a:prstGeom>
            <a:solidFill>
              <a:srgbClr val="FFFFFF"/>
            </a:solidFill>
            <a:ln w="14288">
              <a:solidFill>
                <a:srgbClr val="DEE2E6"/>
              </a:solidFill>
            </a:ln>
          </p:spPr>
        </p:sp>
        <p:sp>
          <p:nvSpPr>
            <p:cNvPr id="24" name="TextBox 24"/>
            <p:cNvSpPr txBox="1"/>
            <p:nvPr/>
          </p:nvSpPr>
          <p:spPr>
            <a:xfrm>
              <a:off x="8180070" y="2188845"/>
              <a:ext cx="160705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DIAGNOSTICS // CALIBRATION</a:t>
              </a:r>
            </a:p>
          </p:txBody>
        </p:sp>
        <p:sp>
          <p:nvSpPr>
            <p:cNvPr id="25" name="TextBox 25"/>
            <p:cNvSpPr txBox="1"/>
            <p:nvPr/>
          </p:nvSpPr>
          <p:spPr>
            <a:xfrm>
              <a:off x="8168640" y="2425065"/>
              <a:ext cx="1986363" cy="365760"/>
            </a:xfrm>
            <a:prstGeom prst="rect">
              <a:avLst/>
            </a:prstGeom>
            <a:noFill/>
            <a:ln>
              <a:noFill/>
            </a:ln>
          </p:spPr>
          <p:txBody>
            <a:bodyPr wrap="none" lIns="0" tIns="0" rIns="0" bIns="0" anchor="t" anchorCtr="0">
              <a:spAutoFit/>
            </a:bodyPr>
            <a:lstStyle/>
            <a:p>
              <a:pPr algn="l"/>
              <a:r>
                <a:rPr lang="zh-CN" sz="1800" b="1" dirty="0">
                  <a:solidFill>
                    <a:srgbClr val="0F2C59"/>
                  </a:solidFill>
                  <a:latin typeface="Arial"/>
                  <a:ea typeface="Microsoft YaHei"/>
                  <a:cs typeface="Arial"/>
                </a:rPr>
                <a:t>System Analysis</a:t>
              </a:r>
            </a:p>
          </p:txBody>
        </p:sp>
        <p:sp>
          <p:nvSpPr>
            <p:cNvPr id="26" name="Line 26"/>
            <p:cNvSpPr/>
            <p:nvPr/>
          </p:nvSpPr>
          <p:spPr>
            <a:xfrm>
              <a:off x="8191500" y="2809875"/>
              <a:ext cx="3143250" cy="9525"/>
            </a:xfrm>
            <a:custGeom>
              <a:avLst/>
              <a:gdLst/>
              <a:ahLst/>
              <a:cxnLst/>
              <a:rect l="l" t="t" r="r" b="b"/>
              <a:pathLst>
                <a:path w="3143250" h="9525">
                  <a:moveTo>
                    <a:pt x="0" y="0"/>
                  </a:moveTo>
                  <a:lnTo>
                    <a:pt x="3143250" y="0"/>
                  </a:lnTo>
                </a:path>
              </a:pathLst>
            </a:custGeom>
            <a:noFill/>
            <a:ln w="9525">
              <a:solidFill>
                <a:srgbClr val="DEE2E6"/>
              </a:solidFill>
            </a:ln>
          </p:spPr>
        </p:sp>
        <p:sp>
          <p:nvSpPr>
            <p:cNvPr id="27" name="TextBox 27"/>
            <p:cNvSpPr txBox="1"/>
            <p:nvPr/>
          </p:nvSpPr>
          <p:spPr>
            <a:xfrm>
              <a:off x="8176260" y="3013710"/>
              <a:ext cx="2262759"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Teal Color Calibration Check:</a:t>
              </a:r>
            </a:p>
          </p:txBody>
        </p:sp>
        <p:sp>
          <p:nvSpPr>
            <p:cNvPr id="28" name="TextBox 28"/>
            <p:cNvSpPr txBox="1"/>
            <p:nvPr/>
          </p:nvSpPr>
          <p:spPr>
            <a:xfrm>
              <a:off x="8174355" y="3283268"/>
              <a:ext cx="1981233" cy="274320"/>
            </a:xfrm>
            <a:prstGeom prst="rect">
              <a:avLst/>
            </a:prstGeom>
            <a:noFill/>
            <a:ln>
              <a:noFill/>
            </a:ln>
          </p:spPr>
          <p:txBody>
            <a:bodyPr wrap="none" lIns="0" tIns="0" rIns="0" bIns="0" anchor="t" anchorCtr="0">
              <a:spAutoFit/>
            </a:bodyPr>
            <a:lstStyle/>
            <a:p>
              <a:pPr algn="l"/>
              <a:r>
                <a:rPr lang="zh-CN" sz="1350" b="1" dirty="0">
                  <a:solidFill>
                    <a:srgbClr val="008080"/>
                  </a:solidFill>
                  <a:latin typeface="Arial"/>
                  <a:ea typeface="Microsoft YaHei"/>
                  <a:cs typeface="Arial"/>
                </a:rPr>
                <a:t>Deep Teal Tint (Pass)</a:t>
              </a:r>
            </a:p>
          </p:txBody>
        </p:sp>
        <p:sp>
          <p:nvSpPr>
            <p:cNvPr id="29" name="TextBox 29"/>
            <p:cNvSpPr txBox="1"/>
            <p:nvPr/>
          </p:nvSpPr>
          <p:spPr>
            <a:xfrm>
              <a:off x="8176260" y="3775710"/>
              <a:ext cx="2398776"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Data Interpretative Summary:</a:t>
              </a:r>
            </a:p>
          </p:txBody>
        </p:sp>
        <p:sp>
          <p:nvSpPr>
            <p:cNvPr id="30" name="TextBox 30"/>
            <p:cNvSpPr txBox="1"/>
            <p:nvPr/>
          </p:nvSpPr>
          <p:spPr>
            <a:xfrm>
              <a:off x="8172450" y="4029075"/>
              <a:ext cx="3190875" cy="1162050"/>
            </a:xfrm>
            <a:prstGeom prst="rect">
              <a:avLst/>
            </a:prstGeom>
            <a:noFill/>
            <a:ln>
              <a:noFill/>
            </a:ln>
          </p:spPr>
          <p:txBody>
            <a:bodyPr wrap="square" lIns="0" tIns="0" rIns="0" bIns="0" anchor="t" anchorCtr="0"/>
            <a:lstStyle/>
            <a:p>
              <a:pPr algn="l">
                <a:lnSpc>
                  <a:spcPts val="2250"/>
                </a:lnSpc>
              </a:pPr>
              <a:r>
                <a:rPr lang="zh-CN" sz="1500" dirty="0">
                  <a:solidFill>
                    <a:srgbClr val="212529"/>
                  </a:solidFill>
                  <a:latin typeface="Arial"/>
                  <a:ea typeface="Microsoft YaHei"/>
                  <a:cs typeface="Arial"/>
                </a:rPr>
                <a:t xml:space="preserve">The growth projection </a:t>
              </a:r>
              <a:r>
                <a:rPr lang="zh-CN" sz="1500" dirty="0">
                  <a:solidFill>
                    <a:srgbClr val="212529"/>
                  </a:solidFill>
                  <a:latin typeface="Arial"/>
                  <a:ea typeface="Microsoft YaHei"/>
                  <a:cs typeface="Arial"/>
                </a:rPr>
                <a:t xml:space="preserve">demonstrates positive trajectory </a:t>
              </a:r>
              <a:r>
                <a:rPr lang="zh-CN" sz="1500" dirty="0">
                  <a:solidFill>
                    <a:srgbClr val="212529"/>
                  </a:solidFill>
                  <a:latin typeface="Arial"/>
                  <a:ea typeface="Microsoft YaHei"/>
                  <a:cs typeface="Arial"/>
                </a:rPr>
                <a:t xml:space="preserve">under current operational </a:t>
              </a:r>
              <a:r>
                <a:rPr lang="zh-CN" sz="1500" dirty="0">
                  <a:solidFill>
                    <a:srgbClr val="212529"/>
                  </a:solidFill>
                  <a:latin typeface="Arial"/>
                  <a:ea typeface="Microsoft YaHei"/>
                  <a:cs typeface="Arial"/>
                </a:rPr>
                <a:t>alignment models.</a:t>
              </a:r>
            </a:p>
          </p:txBody>
        </p:sp>
      </p:grpSp>
      <p:grpSp>
        <p:nvGrpSpPr>
          <p:cNvPr id="35" name="Group 35"/>
          <p:cNvGrpSpPr/>
          <p:nvPr/>
        </p:nvGrpSpPr>
        <p:grpSpPr>
          <a:xfrm>
            <a:off x="560070" y="6238875"/>
            <a:ext cx="11071860" cy="323850"/>
            <a:chOff x="560070" y="6238875"/>
            <a:chExt cx="11071860" cy="323850"/>
          </a:xfrm>
        </p:grpSpPr>
        <p:sp>
          <p:nvSpPr>
            <p:cNvPr id="32" name="Line 32"/>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3" name="TextBox 33"/>
            <p:cNvSpPr txBox="1"/>
            <p:nvPr/>
          </p:nvSpPr>
          <p:spPr>
            <a:xfrm>
              <a:off x="560070" y="6379845"/>
              <a:ext cx="1937099"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COLOR_CHECK: TEAL_COLOR_PASS</a:t>
              </a:r>
            </a:p>
          </p:txBody>
        </p:sp>
        <p:sp>
          <p:nvSpPr>
            <p:cNvPr id="34" name="TextBox 34"/>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image">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202111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SYS.GEOMETRY_CALIBRATION // P05</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9198421" cy="691515"/>
            <a:chOff x="537210" y="1042035"/>
            <a:chExt cx="9198421" cy="691515"/>
          </a:xfrm>
        </p:grpSpPr>
        <p:sp>
          <p:nvSpPr>
            <p:cNvPr id="6" name="TextBox 6"/>
            <p:cNvSpPr txBox="1"/>
            <p:nvPr/>
          </p:nvSpPr>
          <p:spPr>
            <a:xfrm>
              <a:off x="537210" y="1042035"/>
              <a:ext cx="9198421"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Operational Intersection: Capabilities &amp; Strategy</a:t>
              </a:r>
            </a:p>
          </p:txBody>
        </p:sp>
        <p:sp>
          <p:nvSpPr>
            <p:cNvPr id="7" name="TextBox 7"/>
            <p:cNvSpPr txBox="1"/>
            <p:nvPr/>
          </p:nvSpPr>
          <p:spPr>
            <a:xfrm>
              <a:off x="556260" y="1489710"/>
              <a:ext cx="4815078"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Primary color verification and geometric aspect ratio check.</a:t>
              </a:r>
            </a:p>
          </p:txBody>
        </p:sp>
      </p:grpSp>
      <p:grpSp>
        <p:nvGrpSpPr>
          <p:cNvPr id="22" name="Group 22"/>
          <p:cNvGrpSpPr/>
          <p:nvPr/>
        </p:nvGrpSpPr>
        <p:grpSpPr>
          <a:xfrm>
            <a:off x="571500" y="1905000"/>
            <a:ext cx="7048500" cy="3619500"/>
            <a:chOff x="571500" y="1905000"/>
            <a:chExt cx="7048500" cy="3619500"/>
          </a:xfrm>
        </p:grpSpPr>
        <p:sp>
          <p:nvSpPr>
            <p:cNvPr id="9" name="Rectangle 9"/>
            <p:cNvSpPr/>
            <p:nvPr/>
          </p:nvSpPr>
          <p:spPr>
            <a:xfrm>
              <a:off x="571500" y="1905000"/>
              <a:ext cx="7048500" cy="3619500"/>
            </a:xfrm>
            <a:prstGeom prst="roundRect">
              <a:avLst>
                <a:gd name="adj" fmla="val 2105"/>
              </a:avLst>
            </a:prstGeom>
            <a:solidFill>
              <a:srgbClr val="FFFFFF"/>
            </a:solidFill>
            <a:ln w="14288">
              <a:solidFill>
                <a:srgbClr val="DEE2E6"/>
              </a:solidFill>
            </a:ln>
          </p:spPr>
        </p:sp>
        <p:grpSp>
          <p:nvGrpSpPr>
            <p:cNvPr id="13" name="Group 13"/>
            <p:cNvGrpSpPr/>
            <p:nvPr/>
          </p:nvGrpSpPr>
          <p:grpSpPr>
            <a:xfrm>
              <a:off x="1524000" y="2952750"/>
              <a:ext cx="1524000" cy="1847850"/>
              <a:chOff x="1524000" y="2952750"/>
              <a:chExt cx="1524000" cy="1847850"/>
            </a:xfrm>
          </p:grpSpPr>
          <p:sp>
            <p:nvSpPr>
              <p:cNvPr id="10" name="Ellipse 10"/>
              <p:cNvSpPr/>
              <p:nvPr/>
            </p:nvSpPr>
            <p:spPr>
              <a:xfrm>
                <a:off x="1524000" y="2952750"/>
                <a:ext cx="1524000" cy="1524000"/>
              </a:xfrm>
              <a:prstGeom prst="ellipse">
                <a:avLst/>
              </a:prstGeom>
              <a:noFill/>
              <a:ln w="28575">
                <a:solidFill>
                  <a:srgbClr val="DC3545"/>
                </a:solidFill>
              </a:ln>
            </p:spPr>
          </p:sp>
          <p:sp>
            <p:nvSpPr>
              <p:cNvPr id="11" name="TextBox 11"/>
              <p:cNvSpPr txBox="1"/>
              <p:nvPr/>
            </p:nvSpPr>
            <p:spPr>
              <a:xfrm>
                <a:off x="1669890" y="3649028"/>
                <a:ext cx="1232221" cy="213360"/>
              </a:xfrm>
              <a:prstGeom prst="rect">
                <a:avLst/>
              </a:prstGeom>
              <a:noFill/>
              <a:ln>
                <a:noFill/>
              </a:ln>
            </p:spPr>
            <p:txBody>
              <a:bodyPr wrap="none" lIns="0" tIns="0" rIns="0" bIns="0" anchor="t" anchorCtr="0">
                <a:spAutoFit/>
              </a:bodyPr>
              <a:lstStyle/>
              <a:p>
                <a:pPr algn="ctr"/>
                <a:r>
                  <a:rPr lang="zh-CN" sz="1050" b="1" dirty="0">
                    <a:solidFill>
                      <a:srgbClr val="DC3545"/>
                    </a:solidFill>
                    <a:latin typeface="Arial"/>
                    <a:ea typeface="Microsoft YaHei"/>
                    <a:cs typeface="Arial"/>
                  </a:rPr>
                  <a:t>Core Competency</a:t>
                </a:r>
              </a:p>
            </p:txBody>
          </p:sp>
          <p:sp>
            <p:nvSpPr>
              <p:cNvPr id="12" name="TextBox 12"/>
              <p:cNvSpPr txBox="1"/>
              <p:nvPr/>
            </p:nvSpPr>
            <p:spPr>
              <a:xfrm>
                <a:off x="1725501" y="4617720"/>
                <a:ext cx="1120997" cy="182880"/>
              </a:xfrm>
              <a:prstGeom prst="rect">
                <a:avLst/>
              </a:prstGeom>
              <a:noFill/>
              <a:ln>
                <a:noFill/>
              </a:ln>
            </p:spPr>
            <p:txBody>
              <a:bodyPr wrap="none" lIns="0" tIns="0" rIns="0" bIns="0" anchor="t" anchorCtr="0">
                <a:spAutoFit/>
              </a:bodyPr>
              <a:lstStyle/>
              <a:p>
                <a:pPr algn="ctr"/>
                <a:r>
                  <a:rPr lang="zh-CN" sz="900" dirty="0">
                    <a:solidFill>
                      <a:srgbClr val="6C757D"/>
                    </a:solidFill>
                    <a:latin typeface="Consolas"/>
                    <a:ea typeface="Microsoft YaHei"/>
                    <a:cs typeface="Consolas"/>
                  </a:rPr>
                  <a:t>CHANNEL // A (RED)</a:t>
                </a:r>
              </a:p>
            </p:txBody>
          </p:sp>
        </p:grpSp>
        <p:grpSp>
          <p:nvGrpSpPr>
            <p:cNvPr id="17" name="Group 17"/>
            <p:cNvGrpSpPr/>
            <p:nvPr/>
          </p:nvGrpSpPr>
          <p:grpSpPr>
            <a:xfrm>
              <a:off x="3333750" y="2952750"/>
              <a:ext cx="1524000" cy="1847850"/>
              <a:chOff x="3333750" y="2952750"/>
              <a:chExt cx="1524000" cy="1847850"/>
            </a:xfrm>
          </p:grpSpPr>
          <p:sp>
            <p:nvSpPr>
              <p:cNvPr id="14" name="Ellipse 14"/>
              <p:cNvSpPr/>
              <p:nvPr/>
            </p:nvSpPr>
            <p:spPr>
              <a:xfrm>
                <a:off x="3333750" y="2952750"/>
                <a:ext cx="1524000" cy="1524000"/>
              </a:xfrm>
              <a:prstGeom prst="ellipse">
                <a:avLst/>
              </a:prstGeom>
              <a:noFill/>
              <a:ln w="28575">
                <a:solidFill>
                  <a:srgbClr val="0F2C59"/>
                </a:solidFill>
              </a:ln>
            </p:spPr>
          </p:sp>
          <p:sp>
            <p:nvSpPr>
              <p:cNvPr id="15" name="TextBox 15"/>
              <p:cNvSpPr txBox="1"/>
              <p:nvPr/>
            </p:nvSpPr>
            <p:spPr>
              <a:xfrm>
                <a:off x="3362025" y="3649028"/>
                <a:ext cx="1467450" cy="213360"/>
              </a:xfrm>
              <a:prstGeom prst="rect">
                <a:avLst/>
              </a:prstGeom>
              <a:noFill/>
              <a:ln>
                <a:noFill/>
              </a:ln>
            </p:spPr>
            <p:txBody>
              <a:bodyPr wrap="none" lIns="0" tIns="0" rIns="0" bIns="0" anchor="t" anchorCtr="0">
                <a:spAutoFit/>
              </a:bodyPr>
              <a:lstStyle/>
              <a:p>
                <a:pPr algn="ctr"/>
                <a:r>
                  <a:rPr lang="zh-CN" sz="1050" b="1" dirty="0">
                    <a:solidFill>
                      <a:srgbClr val="0F2C59"/>
                    </a:solidFill>
                    <a:latin typeface="Arial"/>
                    <a:ea typeface="Microsoft YaHei"/>
                    <a:cs typeface="Arial"/>
                  </a:rPr>
                  <a:t>Market Opportunity</a:t>
                </a:r>
              </a:p>
            </p:txBody>
          </p:sp>
          <p:sp>
            <p:nvSpPr>
              <p:cNvPr id="16" name="TextBox 16"/>
              <p:cNvSpPr txBox="1"/>
              <p:nvPr/>
            </p:nvSpPr>
            <p:spPr>
              <a:xfrm>
                <a:off x="3502247" y="4617720"/>
                <a:ext cx="1187005" cy="182880"/>
              </a:xfrm>
              <a:prstGeom prst="rect">
                <a:avLst/>
              </a:prstGeom>
              <a:noFill/>
              <a:ln>
                <a:noFill/>
              </a:ln>
            </p:spPr>
            <p:txBody>
              <a:bodyPr wrap="none" lIns="0" tIns="0" rIns="0" bIns="0" anchor="t" anchorCtr="0">
                <a:spAutoFit/>
              </a:bodyPr>
              <a:lstStyle/>
              <a:p>
                <a:pPr algn="ctr"/>
                <a:r>
                  <a:rPr lang="zh-CN" sz="900" dirty="0">
                    <a:solidFill>
                      <a:srgbClr val="6C757D"/>
                    </a:solidFill>
                    <a:latin typeface="Consolas"/>
                    <a:ea typeface="Microsoft YaHei"/>
                    <a:cs typeface="Consolas"/>
                  </a:rPr>
                  <a:t>CHANNEL // B (BLUE)</a:t>
                </a:r>
              </a:p>
            </p:txBody>
          </p:sp>
        </p:grpSp>
        <p:grpSp>
          <p:nvGrpSpPr>
            <p:cNvPr id="21" name="Group 21"/>
            <p:cNvGrpSpPr/>
            <p:nvPr/>
          </p:nvGrpSpPr>
          <p:grpSpPr>
            <a:xfrm>
              <a:off x="5143500" y="2952750"/>
              <a:ext cx="1524000" cy="1847850"/>
              <a:chOff x="5143500" y="2952750"/>
              <a:chExt cx="1524000" cy="1847850"/>
            </a:xfrm>
          </p:grpSpPr>
          <p:sp>
            <p:nvSpPr>
              <p:cNvPr id="18" name="Ellipse 18"/>
              <p:cNvSpPr/>
              <p:nvPr/>
            </p:nvSpPr>
            <p:spPr>
              <a:xfrm>
                <a:off x="5143500" y="2952750"/>
                <a:ext cx="1524000" cy="1524000"/>
              </a:xfrm>
              <a:prstGeom prst="ellipse">
                <a:avLst/>
              </a:prstGeom>
              <a:noFill/>
              <a:ln w="28575">
                <a:solidFill>
                  <a:srgbClr val="FD7E14"/>
                </a:solidFill>
              </a:ln>
            </p:spPr>
          </p:sp>
          <p:sp>
            <p:nvSpPr>
              <p:cNvPr id="19" name="TextBox 19"/>
              <p:cNvSpPr txBox="1"/>
              <p:nvPr/>
            </p:nvSpPr>
            <p:spPr>
              <a:xfrm>
                <a:off x="5219556" y="3649028"/>
                <a:ext cx="1371888" cy="213360"/>
              </a:xfrm>
              <a:prstGeom prst="rect">
                <a:avLst/>
              </a:prstGeom>
              <a:noFill/>
              <a:ln>
                <a:noFill/>
              </a:ln>
            </p:spPr>
            <p:txBody>
              <a:bodyPr wrap="none" lIns="0" tIns="0" rIns="0" bIns="0" anchor="t" anchorCtr="0">
                <a:spAutoFit/>
              </a:bodyPr>
              <a:lstStyle/>
              <a:p>
                <a:pPr algn="ctr"/>
                <a:r>
                  <a:rPr lang="zh-CN" sz="1050" b="1" dirty="0">
                    <a:solidFill>
                      <a:srgbClr val="FD7E14"/>
                    </a:solidFill>
                    <a:latin typeface="Arial"/>
                    <a:ea typeface="Microsoft YaHei"/>
                    <a:cs typeface="Arial"/>
                  </a:rPr>
                  <a:t>Execution Capacity</a:t>
                </a:r>
              </a:p>
            </p:txBody>
          </p:sp>
          <p:sp>
            <p:nvSpPr>
              <p:cNvPr id="20" name="TextBox 20"/>
              <p:cNvSpPr txBox="1"/>
              <p:nvPr/>
            </p:nvSpPr>
            <p:spPr>
              <a:xfrm>
                <a:off x="5233988" y="4617720"/>
                <a:ext cx="1343025" cy="182880"/>
              </a:xfrm>
              <a:prstGeom prst="rect">
                <a:avLst/>
              </a:prstGeom>
              <a:noFill/>
              <a:ln>
                <a:noFill/>
              </a:ln>
            </p:spPr>
            <p:txBody>
              <a:bodyPr wrap="none" lIns="0" tIns="0" rIns="0" bIns="0" anchor="t" anchorCtr="0">
                <a:spAutoFit/>
              </a:bodyPr>
              <a:lstStyle/>
              <a:p>
                <a:pPr algn="ctr"/>
                <a:r>
                  <a:rPr lang="zh-CN" sz="900" dirty="0">
                    <a:solidFill>
                      <a:srgbClr val="6C757D"/>
                    </a:solidFill>
                    <a:latin typeface="Consolas"/>
                    <a:ea typeface="Microsoft YaHei"/>
                    <a:cs typeface="Consolas"/>
                  </a:rPr>
                  <a:t>CHANNEL // C (ORANGE)</a:t>
                </a:r>
              </a:p>
            </p:txBody>
          </p:sp>
        </p:grpSp>
      </p:grpSp>
      <p:grpSp>
        <p:nvGrpSpPr>
          <p:cNvPr id="30" name="Group 30"/>
          <p:cNvGrpSpPr/>
          <p:nvPr/>
        </p:nvGrpSpPr>
        <p:grpSpPr>
          <a:xfrm>
            <a:off x="7905750" y="1905000"/>
            <a:ext cx="4385310" cy="3619500"/>
            <a:chOff x="7905750" y="1905000"/>
            <a:chExt cx="4385310" cy="3619500"/>
          </a:xfrm>
        </p:grpSpPr>
        <p:sp>
          <p:nvSpPr>
            <p:cNvPr id="23" name="Rectangle 23"/>
            <p:cNvSpPr/>
            <p:nvPr/>
          </p:nvSpPr>
          <p:spPr>
            <a:xfrm>
              <a:off x="7905750" y="1905000"/>
              <a:ext cx="3714750" cy="3619500"/>
            </a:xfrm>
            <a:prstGeom prst="roundRect">
              <a:avLst>
                <a:gd name="adj" fmla="val 2105"/>
              </a:avLst>
            </a:prstGeom>
            <a:solidFill>
              <a:srgbClr val="FFFFFF"/>
            </a:solidFill>
            <a:ln w="14288">
              <a:solidFill>
                <a:srgbClr val="DEE2E6"/>
              </a:solidFill>
            </a:ln>
          </p:spPr>
        </p:sp>
        <p:sp>
          <p:nvSpPr>
            <p:cNvPr id="24" name="TextBox 24"/>
            <p:cNvSpPr txBox="1"/>
            <p:nvPr/>
          </p:nvSpPr>
          <p:spPr>
            <a:xfrm>
              <a:off x="8180070" y="2188845"/>
              <a:ext cx="1433036"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VECTORS // CALCULATION</a:t>
              </a:r>
            </a:p>
          </p:txBody>
        </p:sp>
        <p:sp>
          <p:nvSpPr>
            <p:cNvPr id="25" name="TextBox 25"/>
            <p:cNvSpPr txBox="1"/>
            <p:nvPr/>
          </p:nvSpPr>
          <p:spPr>
            <a:xfrm>
              <a:off x="8168640" y="2472690"/>
              <a:ext cx="2200589" cy="365760"/>
            </a:xfrm>
            <a:prstGeom prst="rect">
              <a:avLst/>
            </a:prstGeom>
            <a:noFill/>
            <a:ln>
              <a:noFill/>
            </a:ln>
          </p:spPr>
          <p:txBody>
            <a:bodyPr wrap="none" lIns="0" tIns="0" rIns="0" bIns="0" anchor="t" anchorCtr="0">
              <a:spAutoFit/>
            </a:bodyPr>
            <a:lstStyle/>
            <a:p>
              <a:pPr algn="l"/>
              <a:r>
                <a:rPr lang="zh-CN" sz="1800" b="1" dirty="0">
                  <a:solidFill>
                    <a:srgbClr val="0F2C59"/>
                  </a:solidFill>
                  <a:latin typeface="Arial"/>
                  <a:ea typeface="Microsoft YaHei"/>
                  <a:cs typeface="Arial"/>
                </a:rPr>
                <a:t>Overlap Rationale</a:t>
              </a:r>
            </a:p>
          </p:txBody>
        </p:sp>
        <p:sp>
          <p:nvSpPr>
            <p:cNvPr id="26" name="Line 26"/>
            <p:cNvSpPr/>
            <p:nvPr/>
          </p:nvSpPr>
          <p:spPr>
            <a:xfrm>
              <a:off x="8191500" y="2905125"/>
              <a:ext cx="3143250" cy="9525"/>
            </a:xfrm>
            <a:custGeom>
              <a:avLst/>
              <a:gdLst/>
              <a:ahLst/>
              <a:cxnLst/>
              <a:rect l="l" t="t" r="r" b="b"/>
              <a:pathLst>
                <a:path w="3143250" h="9525">
                  <a:moveTo>
                    <a:pt x="0" y="0"/>
                  </a:moveTo>
                  <a:lnTo>
                    <a:pt x="3143250" y="0"/>
                  </a:lnTo>
                </a:path>
              </a:pathLst>
            </a:custGeom>
            <a:noFill/>
            <a:ln w="9525">
              <a:solidFill>
                <a:srgbClr val="DEE2E6"/>
              </a:solidFill>
            </a:ln>
          </p:spPr>
        </p:sp>
        <p:sp>
          <p:nvSpPr>
            <p:cNvPr id="27" name="TextBox 27"/>
            <p:cNvSpPr txBox="1"/>
            <p:nvPr/>
          </p:nvSpPr>
          <p:spPr>
            <a:xfrm>
              <a:off x="8176260" y="3108960"/>
              <a:ext cx="4114800" cy="815340"/>
            </a:xfrm>
            <a:prstGeom prst="rect">
              <a:avLst/>
            </a:prstGeom>
            <a:noFill/>
            <a:ln>
              <a:noFill/>
            </a:ln>
          </p:spPr>
          <p:txBody>
            <a:bodyPr wrap="square" lIns="0" tIns="0" rIns="0" bIns="0" anchor="t" anchorCtr="0"/>
            <a:lstStyle/>
            <a:p>
              <a:pPr algn="l">
                <a:lnSpc>
                  <a:spcPts val="2250"/>
                </a:lnSpc>
              </a:pPr>
              <a:r>
                <a:rPr lang="zh-CN" sz="1200" dirty="0">
                  <a:solidFill>
                    <a:srgbClr val="6C757D"/>
                  </a:solidFill>
                  <a:latin typeface="Arial"/>
                  <a:ea typeface="Microsoft YaHei"/>
                  <a:cs typeface="Arial"/>
                </a:rPr>
                <a:t xml:space="preserve">• Outer circumference aspect ratio: 1.0 (True Circle) </a:t>
              </a:r>
              <a:r>
                <a:rPr lang="zh-CN" sz="1200" dirty="0">
                  <a:solidFill>
                    <a:srgbClr val="6C757D"/>
                  </a:solidFill>
                  <a:latin typeface="Arial"/>
                  <a:ea typeface="Microsoft YaHei"/>
                  <a:cs typeface="Arial"/>
                </a:rPr>
                <a:t xml:space="preserve">• Intersection calculation: Null set </a:t>
              </a:r>
              <a:r>
                <a:rPr lang="zh-CN" sz="1200" dirty="0">
                  <a:solidFill>
                    <a:srgbClr val="6C757D"/>
                  </a:solidFill>
                  <a:latin typeface="Arial"/>
                  <a:ea typeface="Microsoft YaHei"/>
                  <a:cs typeface="Arial"/>
                </a:rPr>
                <a:t>• Overlap: Zero regions detected</a:t>
              </a:r>
            </a:p>
          </p:txBody>
        </p:sp>
        <p:sp>
          <p:nvSpPr>
            <p:cNvPr id="28" name="Rectangle 28"/>
            <p:cNvSpPr/>
            <p:nvPr/>
          </p:nvSpPr>
          <p:spPr>
            <a:xfrm>
              <a:off x="8191500" y="4286250"/>
              <a:ext cx="3143250" cy="857250"/>
            </a:xfrm>
            <a:prstGeom prst="roundRect">
              <a:avLst>
                <a:gd name="adj" fmla="val 4444"/>
              </a:avLst>
            </a:prstGeom>
            <a:solidFill>
              <a:srgbClr val="F4F6F9"/>
            </a:solidFill>
            <a:ln w="9525">
              <a:solidFill>
                <a:srgbClr val="DEE2E6"/>
              </a:solidFill>
            </a:ln>
          </p:spPr>
        </p:sp>
        <p:sp>
          <p:nvSpPr>
            <p:cNvPr id="29" name="TextBox 29"/>
            <p:cNvSpPr txBox="1"/>
            <p:nvPr/>
          </p:nvSpPr>
          <p:spPr>
            <a:xfrm>
              <a:off x="8319135" y="4537710"/>
              <a:ext cx="2872740" cy="481965"/>
            </a:xfrm>
            <a:prstGeom prst="rect">
              <a:avLst/>
            </a:prstGeom>
            <a:noFill/>
            <a:ln>
              <a:noFill/>
            </a:ln>
          </p:spPr>
          <p:txBody>
            <a:bodyPr wrap="square" lIns="0" tIns="0" rIns="0" bIns="0" anchor="t" anchorCtr="0"/>
            <a:lstStyle/>
            <a:p>
              <a:pPr algn="l">
                <a:lnSpc>
                  <a:spcPts val="1875"/>
                </a:lnSpc>
              </a:pPr>
              <a:r>
                <a:rPr lang="zh-CN" sz="1200" dirty="0">
                  <a:solidFill>
                    <a:srgbClr val="212529"/>
                  </a:solidFill>
                  <a:latin typeface="Arial"/>
                  <a:ea typeface="Microsoft YaHei"/>
                  <a:cs typeface="Arial"/>
                </a:rPr>
                <a:t xml:space="preserve">Note: Zero overlapping regions. </a:t>
              </a:r>
              <a:r>
                <a:rPr lang="zh-CN" sz="1050" dirty="0">
                  <a:solidFill>
                    <a:srgbClr val="6C757D"/>
                  </a:solidFill>
                  <a:latin typeface="Arial"/>
                  <a:ea typeface="Microsoft YaHei"/>
                  <a:cs typeface="Arial"/>
                </a:rPr>
                <a:t>Mathematically optimized for realism.</a:t>
              </a:r>
            </a:p>
          </p:txBody>
        </p:sp>
      </p:grpSp>
      <p:grpSp>
        <p:nvGrpSpPr>
          <p:cNvPr id="34" name="Group 34"/>
          <p:cNvGrpSpPr/>
          <p:nvPr/>
        </p:nvGrpSpPr>
        <p:grpSpPr>
          <a:xfrm>
            <a:off x="560070" y="6238875"/>
            <a:ext cx="11071860" cy="323850"/>
            <a:chOff x="560070" y="6238875"/>
            <a:chExt cx="11071860" cy="323850"/>
          </a:xfrm>
        </p:grpSpPr>
        <p:sp>
          <p:nvSpPr>
            <p:cNvPr id="31" name="Line 31"/>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2" name="TextBox 32"/>
            <p:cNvSpPr txBox="1"/>
            <p:nvPr/>
          </p:nvSpPr>
          <p:spPr>
            <a:xfrm>
              <a:off x="560070" y="6379845"/>
              <a:ext cx="282521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GEOMETRY_CHECK: CIRCLES_VERIFIED_AS_CIRCULAR</a:t>
              </a:r>
            </a:p>
          </p:txBody>
        </p:sp>
        <p:sp>
          <p:nvSpPr>
            <p:cNvPr id="33" name="TextBox 33"/>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image">
                                      <p:cBhvr>
                                        <p:cTn id="1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70907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SYS.INTERACTION_TEST // P06</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730853" y="1743075"/>
            <a:ext cx="10730294" cy="962025"/>
            <a:chOff x="730853" y="1743075"/>
            <a:chExt cx="10730294" cy="962025"/>
          </a:xfrm>
        </p:grpSpPr>
        <p:sp>
          <p:nvSpPr>
            <p:cNvPr id="6" name="TextBox 6"/>
            <p:cNvSpPr txBox="1"/>
            <p:nvPr/>
          </p:nvSpPr>
          <p:spPr>
            <a:xfrm>
              <a:off x="4781788" y="1743075"/>
              <a:ext cx="2628424" cy="304800"/>
            </a:xfrm>
            <a:prstGeom prst="rect">
              <a:avLst/>
            </a:prstGeom>
            <a:noFill/>
            <a:ln>
              <a:noFill/>
            </a:ln>
          </p:spPr>
          <p:txBody>
            <a:bodyPr wrap="none" lIns="0" tIns="0" rIns="0" bIns="0" anchor="t" anchorCtr="0">
              <a:spAutoFit/>
            </a:bodyPr>
            <a:lstStyle/>
            <a:p>
              <a:pPr algn="ctr"/>
              <a:r>
                <a:rPr lang="zh-CN" sz="1500" dirty="0">
                  <a:solidFill>
                    <a:srgbClr val="008080"/>
                  </a:solidFill>
                  <a:latin typeface="Arial"/>
                  <a:ea typeface="Microsoft YaHei"/>
                  <a:cs typeface="Arial"/>
                </a:rPr>
                <a:t>STRATEGIC ALIGNMENT CHECK</a:t>
              </a:r>
            </a:p>
          </p:txBody>
        </p:sp>
        <p:sp>
          <p:nvSpPr>
            <p:cNvPr id="7" name="TextBox 7"/>
            <p:cNvSpPr txBox="1"/>
            <p:nvPr/>
          </p:nvSpPr>
          <p:spPr>
            <a:xfrm>
              <a:off x="730853" y="2217420"/>
              <a:ext cx="10730294" cy="487680"/>
            </a:xfrm>
            <a:prstGeom prst="rect">
              <a:avLst/>
            </a:prstGeom>
            <a:noFill/>
            <a:ln>
              <a:noFill/>
            </a:ln>
          </p:spPr>
          <p:txBody>
            <a:bodyPr wrap="none" lIns="0" tIns="0" rIns="0" bIns="0" anchor="t" anchorCtr="0">
              <a:spAutoFit/>
            </a:bodyPr>
            <a:lstStyle/>
            <a:p>
              <a:pPr algn="ctr"/>
              <a:r>
                <a:rPr lang="zh-CN" sz="2400" b="1" dirty="0">
                  <a:solidFill>
                    <a:srgbClr val="0F2C59"/>
                  </a:solidFill>
                  <a:latin typeface="Arial"/>
                  <a:ea typeface="Microsoft YaHei"/>
                  <a:cs typeface="Arial"/>
                </a:rPr>
                <a:t>Question: "Which path best aligns with our current trajectory?"</a:t>
              </a:r>
            </a:p>
          </p:txBody>
        </p:sp>
      </p:grpSp>
      <p:grpSp>
        <p:nvGrpSpPr>
          <p:cNvPr id="21" name="Group 21"/>
          <p:cNvGrpSpPr/>
          <p:nvPr/>
        </p:nvGrpSpPr>
        <p:grpSpPr>
          <a:xfrm>
            <a:off x="3714750" y="3048000"/>
            <a:ext cx="4762500" cy="2095500"/>
            <a:chOff x="3714750" y="3048000"/>
            <a:chExt cx="4762500" cy="2095500"/>
          </a:xfrm>
        </p:grpSpPr>
        <p:grpSp>
          <p:nvGrpSpPr>
            <p:cNvPr id="11" name="Group 11"/>
            <p:cNvGrpSpPr/>
            <p:nvPr/>
          </p:nvGrpSpPr>
          <p:grpSpPr>
            <a:xfrm>
              <a:off x="3714750" y="3048000"/>
              <a:ext cx="4762500" cy="571500"/>
              <a:chOff x="3714750" y="3048000"/>
              <a:chExt cx="4762500" cy="571500"/>
            </a:xfrm>
          </p:grpSpPr>
          <p:sp>
            <p:nvSpPr>
              <p:cNvPr id="9" name="Rectangle 9"/>
              <p:cNvSpPr/>
              <p:nvPr/>
            </p:nvSpPr>
            <p:spPr>
              <a:xfrm>
                <a:off x="3714750" y="3048000"/>
                <a:ext cx="4762500" cy="571500"/>
              </a:xfrm>
              <a:prstGeom prst="roundRect">
                <a:avLst>
                  <a:gd name="adj" fmla="val 10000"/>
                </a:avLst>
              </a:prstGeom>
              <a:solidFill>
                <a:srgbClr val="FFFFFF"/>
              </a:solidFill>
              <a:ln w="14288">
                <a:solidFill>
                  <a:srgbClr val="DEE2E6"/>
                </a:solidFill>
              </a:ln>
            </p:spPr>
          </p:sp>
          <p:sp>
            <p:nvSpPr>
              <p:cNvPr id="10" name="TextBox 10"/>
              <p:cNvSpPr txBox="1"/>
              <p:nvPr/>
            </p:nvSpPr>
            <p:spPr>
              <a:xfrm>
                <a:off x="3924300" y="3238500"/>
                <a:ext cx="1498282" cy="304800"/>
              </a:xfrm>
              <a:prstGeom prst="rect">
                <a:avLst/>
              </a:prstGeom>
              <a:noFill/>
              <a:ln>
                <a:noFill/>
              </a:ln>
            </p:spPr>
            <p:txBody>
              <a:bodyPr wrap="none" lIns="0" tIns="0" rIns="0" bIns="0" anchor="t" anchorCtr="0">
                <a:spAutoFit/>
              </a:bodyPr>
              <a:lstStyle/>
              <a:p>
                <a:pPr algn="l"/>
                <a:r>
                  <a:rPr lang="zh-CN" sz="1500" dirty="0">
                    <a:solidFill>
                      <a:srgbClr val="6C757D"/>
                    </a:solidFill>
                    <a:latin typeface="Arial"/>
                    <a:ea typeface="Microsoft YaHei"/>
                    <a:cs typeface="Arial"/>
                  </a:rPr>
                  <a:t>A) Fully Aligned</a:t>
                </a:r>
              </a:p>
            </p:txBody>
          </p:sp>
        </p:grpSp>
        <p:grpSp>
          <p:nvGrpSpPr>
            <p:cNvPr id="14" name="Group 14"/>
            <p:cNvGrpSpPr/>
            <p:nvPr/>
          </p:nvGrpSpPr>
          <p:grpSpPr>
            <a:xfrm>
              <a:off x="3714750" y="3810000"/>
              <a:ext cx="4762500" cy="571500"/>
              <a:chOff x="3714750" y="3810000"/>
              <a:chExt cx="4762500" cy="571500"/>
            </a:xfrm>
          </p:grpSpPr>
          <p:sp>
            <p:nvSpPr>
              <p:cNvPr id="12" name="Rectangle 12"/>
              <p:cNvSpPr/>
              <p:nvPr/>
            </p:nvSpPr>
            <p:spPr>
              <a:xfrm>
                <a:off x="3714750" y="3810000"/>
                <a:ext cx="4762500" cy="571500"/>
              </a:xfrm>
              <a:prstGeom prst="roundRect">
                <a:avLst>
                  <a:gd name="adj" fmla="val 10000"/>
                </a:avLst>
              </a:prstGeom>
              <a:solidFill>
                <a:srgbClr val="FFFFFF"/>
              </a:solidFill>
              <a:ln w="14288">
                <a:solidFill>
                  <a:srgbClr val="DEE2E6"/>
                </a:solidFill>
              </a:ln>
            </p:spPr>
          </p:sp>
          <p:sp>
            <p:nvSpPr>
              <p:cNvPr id="13" name="TextBox 13"/>
              <p:cNvSpPr txBox="1"/>
              <p:nvPr/>
            </p:nvSpPr>
            <p:spPr>
              <a:xfrm>
                <a:off x="3924300" y="4000500"/>
                <a:ext cx="1978343" cy="304800"/>
              </a:xfrm>
              <a:prstGeom prst="rect">
                <a:avLst/>
              </a:prstGeom>
              <a:noFill/>
              <a:ln>
                <a:noFill/>
              </a:ln>
            </p:spPr>
            <p:txBody>
              <a:bodyPr wrap="none" lIns="0" tIns="0" rIns="0" bIns="0" anchor="t" anchorCtr="0">
                <a:spAutoFit/>
              </a:bodyPr>
              <a:lstStyle/>
              <a:p>
                <a:pPr algn="l"/>
                <a:r>
                  <a:rPr lang="zh-CN" sz="1500" dirty="0">
                    <a:solidFill>
                      <a:srgbClr val="6C757D"/>
                    </a:solidFill>
                    <a:latin typeface="Arial"/>
                    <a:ea typeface="Microsoft YaHei"/>
                    <a:cs typeface="Arial"/>
                  </a:rPr>
                  <a:t>B) Exceeding Target</a:t>
                </a:r>
              </a:p>
            </p:txBody>
          </p:sp>
        </p:grpSp>
        <p:grpSp>
          <p:nvGrpSpPr>
            <p:cNvPr id="20" name="Group 20"/>
            <p:cNvGrpSpPr/>
            <p:nvPr/>
          </p:nvGrpSpPr>
          <p:grpSpPr>
            <a:xfrm>
              <a:off x="3714750" y="4572000"/>
              <a:ext cx="4762500" cy="571500"/>
              <a:chOff x="3714750" y="4572000"/>
              <a:chExt cx="4762500" cy="571500"/>
            </a:xfrm>
            <a:effectLst>
              <a:glow rad="57150">
                <a:srgbClr val="FD7E14">
                  <a:alpha val="40000"/>
                </a:srgbClr>
              </a:glow>
            </a:effectLst>
          </p:grpSpPr>
          <p:sp>
            <p:nvSpPr>
              <p:cNvPr id="15" name="Rectangle 15"/>
              <p:cNvSpPr/>
              <p:nvPr/>
            </p:nvSpPr>
            <p:spPr>
              <a:xfrm>
                <a:off x="3714750" y="4572000"/>
                <a:ext cx="4762500" cy="571500"/>
              </a:xfrm>
              <a:prstGeom prst="roundRect">
                <a:avLst>
                  <a:gd name="adj" fmla="val 10000"/>
                </a:avLst>
              </a:prstGeom>
              <a:solidFill>
                <a:srgbClr val="FD7E14"/>
              </a:solidFill>
              <a:ln w="19050">
                <a:solidFill>
                  <a:srgbClr val="FD7E14"/>
                </a:solidFill>
              </a:ln>
              <a:effectLst>
                <a:glow rad="57150">
                  <a:srgbClr val="FD7E14">
                    <a:alpha val="40000"/>
                  </a:srgbClr>
                </a:glow>
              </a:effectLst>
            </p:spPr>
          </p:sp>
          <p:sp>
            <p:nvSpPr>
              <p:cNvPr id="16" name="TextBox 16"/>
              <p:cNvSpPr txBox="1"/>
              <p:nvPr/>
            </p:nvSpPr>
            <p:spPr>
              <a:xfrm>
                <a:off x="3924300" y="4762500"/>
                <a:ext cx="1707809" cy="304800"/>
              </a:xfrm>
              <a:prstGeom prst="rect">
                <a:avLst/>
              </a:prstGeom>
              <a:noFill/>
              <a:ln>
                <a:noFill/>
              </a:ln>
            </p:spPr>
            <p:txBody>
              <a:bodyPr wrap="none" lIns="0" tIns="0" rIns="0" bIns="0" anchor="t" anchorCtr="0">
                <a:spAutoFit/>
              </a:bodyPr>
              <a:lstStyle/>
              <a:p>
                <a:pPr algn="l"/>
                <a:r>
                  <a:rPr lang="zh-CN" sz="1500" b="1" dirty="0">
                    <a:solidFill>
                      <a:srgbClr val="FFFFFF"/>
                    </a:solidFill>
                    <a:effectLst>
                      <a:glow rad="57150">
                        <a:srgbClr val="FD7E14">
                          <a:alpha val="40000"/>
                        </a:srgbClr>
                      </a:glow>
                    </a:effectLst>
                    <a:latin typeface="Arial"/>
                    <a:ea typeface="Microsoft YaHei"/>
                    <a:cs typeface="Arial"/>
                  </a:rPr>
                  <a:t>C) Acknowledged</a:t>
                </a:r>
              </a:p>
            </p:txBody>
          </p:sp>
          <p:grpSp>
            <p:nvGrpSpPr>
              <p:cNvPr id="19" name="Group 19"/>
              <p:cNvGrpSpPr/>
              <p:nvPr/>
            </p:nvGrpSpPr>
            <p:grpSpPr>
              <a:xfrm>
                <a:off x="7977188" y="4757738"/>
                <a:ext cx="200025" cy="200025"/>
                <a:chOff x="7977188" y="4757738"/>
                <a:chExt cx="200025" cy="200025"/>
              </a:xfrm>
            </p:grpSpPr>
            <p:sp>
              <p:nvSpPr>
                <p:cNvPr id="17" name="Freeform 17"/>
                <p:cNvSpPr/>
                <p:nvPr/>
              </p:nvSpPr>
              <p:spPr>
                <a:xfrm>
                  <a:off x="7977188" y="47577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a:effectLst>
                  <a:glow rad="57150">
                    <a:srgbClr val="FD7E14">
                      <a:alpha val="40000"/>
                    </a:srgbClr>
                  </a:glow>
                </a:effectLst>
              </p:spPr>
            </p:sp>
            <p:sp>
              <p:nvSpPr>
                <p:cNvPr id="18" name="Freeform 18"/>
                <p:cNvSpPr/>
                <p:nvPr/>
              </p:nvSpPr>
              <p:spPr>
                <a:xfrm>
                  <a:off x="8043862" y="4835525"/>
                  <a:ext cx="66675" cy="44450"/>
                </a:xfrm>
                <a:custGeom>
                  <a:avLst/>
                  <a:gdLst/>
                  <a:ahLst/>
                  <a:cxnLst/>
                  <a:rect l="l" t="t" r="r" b="b"/>
                  <a:pathLst>
                    <a:path w="66675" h="44450">
                      <a:moveTo>
                        <a:pt x="0" y="22225"/>
                      </a:moveTo>
                      <a:lnTo>
                        <a:pt x="22225" y="44450"/>
                      </a:lnTo>
                      <a:lnTo>
                        <a:pt x="66675" y="0"/>
                      </a:lnTo>
                    </a:path>
                  </a:pathLst>
                </a:custGeom>
                <a:noFill/>
                <a:ln w="19050">
                  <a:solidFill>
                    <a:srgbClr val="FFFFFF"/>
                  </a:solidFill>
                </a:ln>
                <a:effectLst>
                  <a:glow rad="57150">
                    <a:srgbClr val="FD7E14">
                      <a:alpha val="40000"/>
                    </a:srgbClr>
                  </a:glow>
                </a:effectLst>
              </p:spPr>
            </p:sp>
          </p:grpSp>
        </p:grpSp>
      </p:grpSp>
      <p:grpSp>
        <p:nvGrpSpPr>
          <p:cNvPr id="23" name="Group 23"/>
          <p:cNvGrpSpPr/>
          <p:nvPr/>
        </p:nvGrpSpPr>
        <p:grpSpPr>
          <a:xfrm>
            <a:off x="2750248" y="5554028"/>
            <a:ext cx="6691503" cy="213360"/>
            <a:chOff x="2750248" y="5554028"/>
            <a:chExt cx="6691503" cy="213360"/>
          </a:xfrm>
        </p:grpSpPr>
        <p:sp>
          <p:nvSpPr>
            <p:cNvPr id="22" name="TextBox 22"/>
            <p:cNvSpPr txBox="1"/>
            <p:nvPr/>
          </p:nvSpPr>
          <p:spPr>
            <a:xfrm>
              <a:off x="2750248" y="5554028"/>
              <a:ext cx="6691503"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*High-saturation orange test. Ensure the white text on orange remains legible without ghosting.</a:t>
              </a:r>
            </a:p>
          </p:txBody>
        </p:sp>
      </p:grpSp>
      <p:grpSp>
        <p:nvGrpSpPr>
          <p:cNvPr id="27" name="Group 27"/>
          <p:cNvGrpSpPr/>
          <p:nvPr/>
        </p:nvGrpSpPr>
        <p:grpSpPr>
          <a:xfrm>
            <a:off x="560070" y="6238875"/>
            <a:ext cx="11071860" cy="323850"/>
            <a:chOff x="560070" y="6238875"/>
            <a:chExt cx="11071860" cy="323850"/>
          </a:xfrm>
        </p:grpSpPr>
        <p:sp>
          <p:nvSpPr>
            <p:cNvPr id="24" name="Line 24"/>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25" name="TextBox 25"/>
            <p:cNvSpPr txBox="1"/>
            <p:nvPr/>
          </p:nvSpPr>
          <p:spPr>
            <a:xfrm>
              <a:off x="560070" y="6379845"/>
              <a:ext cx="2237137"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COLOR_CHECK: ORANGE_GHOSTING_TEST</a:t>
              </a:r>
            </a:p>
          </p:txBody>
        </p:sp>
        <p:sp>
          <p:nvSpPr>
            <p:cNvPr id="26" name="TextBox 26"/>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PAGE_06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400"/>
                                        <p:tgtEl>
                                          <p:spTgt spid="2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57105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SYS.WISDOM_QUOTE // P07</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7" name="Group 7"/>
          <p:cNvGrpSpPr/>
          <p:nvPr/>
        </p:nvGrpSpPr>
        <p:grpSpPr>
          <a:xfrm>
            <a:off x="537210" y="1042035"/>
            <a:ext cx="3962467" cy="548640"/>
            <a:chOff x="537210" y="1042035"/>
            <a:chExt cx="3962467" cy="548640"/>
          </a:xfrm>
        </p:grpSpPr>
        <p:sp>
          <p:nvSpPr>
            <p:cNvPr id="6" name="TextBox 6"/>
            <p:cNvSpPr txBox="1"/>
            <p:nvPr/>
          </p:nvSpPr>
          <p:spPr>
            <a:xfrm>
              <a:off x="537210" y="1042035"/>
              <a:ext cx="3962467"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Core Executive Vision</a:t>
              </a:r>
            </a:p>
          </p:txBody>
        </p:sp>
      </p:grpSp>
      <p:grpSp>
        <p:nvGrpSpPr>
          <p:cNvPr id="13" name="Group 13"/>
          <p:cNvGrpSpPr/>
          <p:nvPr/>
        </p:nvGrpSpPr>
        <p:grpSpPr>
          <a:xfrm>
            <a:off x="1333500" y="1981200"/>
            <a:ext cx="9525000" cy="3924300"/>
            <a:chOff x="1333500" y="1981200"/>
            <a:chExt cx="9525000" cy="3924300"/>
          </a:xfrm>
        </p:grpSpPr>
        <p:sp>
          <p:nvSpPr>
            <p:cNvPr id="8" name="Rectangle 8"/>
            <p:cNvSpPr/>
            <p:nvPr/>
          </p:nvSpPr>
          <p:spPr>
            <a:xfrm>
              <a:off x="1333500" y="2095500"/>
              <a:ext cx="9525000" cy="3238500"/>
            </a:xfrm>
            <a:prstGeom prst="roundRect">
              <a:avLst>
                <a:gd name="adj" fmla="val 2353"/>
              </a:avLst>
            </a:prstGeom>
            <a:solidFill>
              <a:srgbClr val="FFFFFF"/>
            </a:solidFill>
            <a:ln w="14288">
              <a:solidFill>
                <a:srgbClr val="4A6B82"/>
              </a:solidFill>
            </a:ln>
            <a:effectLst>
              <a:glow rad="76200">
                <a:srgbClr val="4A6B82">
                  <a:alpha val="30000"/>
                </a:srgbClr>
              </a:glow>
            </a:effectLst>
          </p:spPr>
        </p:sp>
        <p:sp>
          <p:nvSpPr>
            <p:cNvPr id="9" name="TextBox 9"/>
            <p:cNvSpPr txBox="1"/>
            <p:nvPr/>
          </p:nvSpPr>
          <p:spPr>
            <a:xfrm>
              <a:off x="1695450" y="1981200"/>
              <a:ext cx="921687" cy="1828800"/>
            </a:xfrm>
            <a:prstGeom prst="rect">
              <a:avLst/>
            </a:prstGeom>
            <a:noFill/>
            <a:ln>
              <a:noFill/>
            </a:ln>
          </p:spPr>
          <p:txBody>
            <a:bodyPr wrap="none" lIns="0" tIns="0" rIns="0" bIns="0" anchor="t" anchorCtr="0">
              <a:spAutoFit/>
            </a:bodyPr>
            <a:lstStyle/>
            <a:p>
              <a:pPr algn="l"/>
              <a:r>
                <a:rPr lang="zh-CN" sz="9000" b="1" dirty="0">
                  <a:solidFill>
                    <a:srgbClr val="4A6B82">
                      <a:alphaMod val="20000"/>
                    </a:srgbClr>
                  </a:solidFill>
                  <a:latin typeface="Georgia"/>
                  <a:ea typeface="SimSun"/>
                  <a:cs typeface="Georgia"/>
                </a:rPr>
                <a:t>“</a:t>
              </a:r>
            </a:p>
          </p:txBody>
        </p:sp>
        <p:sp>
          <p:nvSpPr>
            <p:cNvPr id="10" name="TextBox 10"/>
            <p:cNvSpPr txBox="1"/>
            <p:nvPr/>
          </p:nvSpPr>
          <p:spPr>
            <a:xfrm>
              <a:off x="9791700" y="4076700"/>
              <a:ext cx="921687" cy="1828800"/>
            </a:xfrm>
            <a:prstGeom prst="rect">
              <a:avLst/>
            </a:prstGeom>
            <a:noFill/>
            <a:ln>
              <a:noFill/>
            </a:ln>
          </p:spPr>
          <p:txBody>
            <a:bodyPr wrap="none" lIns="0" tIns="0" rIns="0" bIns="0" anchor="t" anchorCtr="0">
              <a:spAutoFit/>
            </a:bodyPr>
            <a:lstStyle/>
            <a:p>
              <a:pPr algn="l"/>
              <a:r>
                <a:rPr lang="zh-CN" sz="9000" b="1" dirty="0">
                  <a:solidFill>
                    <a:srgbClr val="4A6B82">
                      <a:alphaMod val="20000"/>
                    </a:srgbClr>
                  </a:solidFill>
                  <a:latin typeface="Georgia"/>
                  <a:ea typeface="SimSun"/>
                  <a:cs typeface="Georgia"/>
                </a:rPr>
                <a:t>”</a:t>
              </a:r>
            </a:p>
          </p:txBody>
        </p:sp>
        <p:sp>
          <p:nvSpPr>
            <p:cNvPr id="11" name="TextBox 11"/>
            <p:cNvSpPr txBox="1"/>
            <p:nvPr/>
          </p:nvSpPr>
          <p:spPr>
            <a:xfrm>
              <a:off x="2259330" y="2821305"/>
              <a:ext cx="5920740" cy="1712595"/>
            </a:xfrm>
            <a:prstGeom prst="rect">
              <a:avLst/>
            </a:prstGeom>
            <a:noFill/>
            <a:ln>
              <a:noFill/>
            </a:ln>
          </p:spPr>
          <p:txBody>
            <a:bodyPr wrap="square" lIns="0" tIns="0" rIns="0" bIns="0" anchor="t" anchorCtr="0"/>
            <a:lstStyle/>
            <a:p>
              <a:pPr algn="l">
                <a:lnSpc>
                  <a:spcPts val="3375"/>
                </a:lnSpc>
              </a:pPr>
              <a:r>
                <a:rPr lang="zh-CN" sz="2100" i="1" dirty="0">
                  <a:solidFill>
                    <a:srgbClr val="212529"/>
                  </a:solidFill>
                  <a:latin typeface="Georgia"/>
                  <a:ea typeface="SimSun"/>
                  <a:cs typeface="Georgia"/>
                </a:rPr>
                <a:t xml:space="preserve">"Agility and compliance represent the </a:t>
              </a:r>
              <a:r>
                <a:rPr lang="zh-CN" sz="2100" i="1" dirty="0">
                  <a:solidFill>
                    <a:srgbClr val="212529"/>
                  </a:solidFill>
                  <a:latin typeface="Georgia"/>
                  <a:ea typeface="SimSun"/>
                  <a:cs typeface="Georgia"/>
                </a:rPr>
                <a:t xml:space="preserve">dual pillars of modern enterprise scalability, </a:t>
              </a:r>
              <a:r>
                <a:rPr lang="zh-CN" sz="2100" i="1" dirty="0">
                  <a:solidFill>
                    <a:srgbClr val="212529"/>
                  </a:solidFill>
                  <a:latin typeface="Georgia"/>
                  <a:ea typeface="SimSun"/>
                  <a:cs typeface="Georgia"/>
                </a:rPr>
                <a:t xml:space="preserve">steering the trajectory of long-term </a:t>
              </a:r>
              <a:r>
                <a:rPr lang="zh-CN" sz="2100" i="1" dirty="0">
                  <a:solidFill>
                    <a:srgbClr val="212529"/>
                  </a:solidFill>
                  <a:latin typeface="Georgia"/>
                  <a:ea typeface="SimSun"/>
                  <a:cs typeface="Georgia"/>
                </a:rPr>
                <a:t>sustainable growth."</a:t>
              </a:r>
            </a:p>
          </p:txBody>
        </p:sp>
        <p:sp>
          <p:nvSpPr>
            <p:cNvPr id="12" name="TextBox 12"/>
            <p:cNvSpPr txBox="1"/>
            <p:nvPr/>
          </p:nvSpPr>
          <p:spPr>
            <a:xfrm>
              <a:off x="7422097" y="4616768"/>
              <a:ext cx="2501048" cy="274320"/>
            </a:xfrm>
            <a:prstGeom prst="rect">
              <a:avLst/>
            </a:prstGeom>
            <a:noFill/>
            <a:ln>
              <a:noFill/>
            </a:ln>
          </p:spPr>
          <p:txBody>
            <a:bodyPr wrap="none" lIns="0" tIns="0" rIns="0" bIns="0" anchor="t" anchorCtr="0">
              <a:spAutoFit/>
            </a:bodyPr>
            <a:lstStyle/>
            <a:p>
              <a:pPr algn="r"/>
              <a:r>
                <a:rPr lang="zh-CN" sz="1350" b="1" dirty="0">
                  <a:solidFill>
                    <a:srgbClr val="4A6B82"/>
                  </a:solidFill>
                  <a:latin typeface="Consolas"/>
                  <a:ea typeface="Microsoft YaHei"/>
                  <a:cs typeface="Consolas"/>
                </a:rPr>
                <a:t>— Board of Directors, 2026</a:t>
              </a:r>
            </a:p>
          </p:txBody>
        </p:sp>
      </p:grpSp>
      <p:grpSp>
        <p:nvGrpSpPr>
          <p:cNvPr id="15" name="Group 15"/>
          <p:cNvGrpSpPr/>
          <p:nvPr/>
        </p:nvGrpSpPr>
        <p:grpSpPr>
          <a:xfrm>
            <a:off x="2361700" y="5554028"/>
            <a:ext cx="7468600" cy="213360"/>
            <a:chOff x="2361700" y="5554028"/>
            <a:chExt cx="7468600" cy="213360"/>
          </a:xfrm>
        </p:grpSpPr>
        <p:sp>
          <p:nvSpPr>
            <p:cNvPr id="14" name="TextBox 14"/>
            <p:cNvSpPr txBox="1"/>
            <p:nvPr/>
          </p:nvSpPr>
          <p:spPr>
            <a:xfrm>
              <a:off x="2361700" y="5554028"/>
              <a:ext cx="7468600"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*Center alignment and serif legibility verification. Ensure the quotation marks and italicized text are crisp.</a:t>
              </a:r>
            </a:p>
          </p:txBody>
        </p:sp>
      </p:grpSp>
      <p:grpSp>
        <p:nvGrpSpPr>
          <p:cNvPr id="19" name="Group 19"/>
          <p:cNvGrpSpPr/>
          <p:nvPr/>
        </p:nvGrpSpPr>
        <p:grpSpPr>
          <a:xfrm>
            <a:off x="560070" y="6238875"/>
            <a:ext cx="11071860" cy="323850"/>
            <a:chOff x="560070" y="6238875"/>
            <a:chExt cx="11071860" cy="323850"/>
          </a:xfrm>
        </p:grpSpPr>
        <p:sp>
          <p:nvSpPr>
            <p:cNvPr id="16" name="Line 16"/>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17" name="TextBox 17"/>
            <p:cNvSpPr txBox="1"/>
            <p:nvPr/>
          </p:nvSpPr>
          <p:spPr>
            <a:xfrm>
              <a:off x="560070" y="6379845"/>
              <a:ext cx="1901095"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SERIF_CHECK: GEORGIA_ITALIC_OK</a:t>
              </a:r>
            </a:p>
          </p:txBody>
        </p:sp>
        <p:sp>
          <p:nvSpPr>
            <p:cNvPr id="18" name="TextBox 18"/>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2003107"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SYS.VERBAL_OVERRIDE_TEST // P08</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7" name="Group 7"/>
          <p:cNvGrpSpPr/>
          <p:nvPr/>
        </p:nvGrpSpPr>
        <p:grpSpPr>
          <a:xfrm>
            <a:off x="537210" y="1042035"/>
            <a:ext cx="7913060" cy="548640"/>
            <a:chOff x="537210" y="1042035"/>
            <a:chExt cx="7913060" cy="548640"/>
          </a:xfrm>
        </p:grpSpPr>
        <p:sp>
          <p:nvSpPr>
            <p:cNvPr id="6" name="TextBox 6"/>
            <p:cNvSpPr txBox="1"/>
            <p:nvPr/>
          </p:nvSpPr>
          <p:spPr>
            <a:xfrm>
              <a:off x="537210" y="1042035"/>
              <a:ext cx="7913060"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System Interface &amp; Pacing Synchronization</a:t>
              </a:r>
            </a:p>
          </p:txBody>
        </p:sp>
      </p:grpSp>
      <p:grpSp>
        <p:nvGrpSpPr>
          <p:cNvPr id="15" name="Group 15"/>
          <p:cNvGrpSpPr/>
          <p:nvPr/>
        </p:nvGrpSpPr>
        <p:grpSpPr>
          <a:xfrm>
            <a:off x="2286000" y="2095500"/>
            <a:ext cx="7620000" cy="2857500"/>
            <a:chOff x="2286000" y="2095500"/>
            <a:chExt cx="7620000" cy="2857500"/>
          </a:xfrm>
        </p:grpSpPr>
        <p:sp>
          <p:nvSpPr>
            <p:cNvPr id="8" name="Rectangle 8"/>
            <p:cNvSpPr/>
            <p:nvPr/>
          </p:nvSpPr>
          <p:spPr>
            <a:xfrm>
              <a:off x="2286000" y="2095500"/>
              <a:ext cx="7620000" cy="2857500"/>
            </a:xfrm>
            <a:prstGeom prst="roundRect">
              <a:avLst>
                <a:gd name="adj" fmla="val 2667"/>
              </a:avLst>
            </a:prstGeom>
            <a:solidFill>
              <a:srgbClr val="FFFFFF"/>
            </a:solidFill>
            <a:ln w="19050">
              <a:solidFill>
                <a:srgbClr val="4A6B82"/>
              </a:solidFill>
            </a:ln>
            <a:effectLst>
              <a:glow rad="76200">
                <a:srgbClr val="4A6B82">
                  <a:alpha val="30000"/>
                </a:srgbClr>
              </a:glow>
            </a:effectLst>
          </p:spPr>
        </p:sp>
        <p:sp>
          <p:nvSpPr>
            <p:cNvPr id="9" name="TextBox 9"/>
            <p:cNvSpPr txBox="1"/>
            <p:nvPr/>
          </p:nvSpPr>
          <p:spPr>
            <a:xfrm>
              <a:off x="4620577" y="2727960"/>
              <a:ext cx="2950845" cy="243840"/>
            </a:xfrm>
            <a:prstGeom prst="rect">
              <a:avLst/>
            </a:prstGeom>
            <a:noFill/>
            <a:ln>
              <a:noFill/>
            </a:ln>
          </p:spPr>
          <p:txBody>
            <a:bodyPr wrap="none" lIns="0" tIns="0" rIns="0" bIns="0" anchor="t" anchorCtr="0">
              <a:spAutoFit/>
            </a:bodyPr>
            <a:lstStyle/>
            <a:p>
              <a:pPr algn="ctr"/>
              <a:r>
                <a:rPr lang="zh-CN" sz="1200" dirty="0">
                  <a:solidFill>
                    <a:srgbClr val="4A6B82"/>
                  </a:solidFill>
                  <a:latin typeface="Consolas"/>
                  <a:ea typeface="Microsoft YaHei"/>
                  <a:cs typeface="Consolas"/>
                </a:rPr>
                <a:t>SYSTEM_MESSAGE_CODE: 0xALIGN_SYNC</a:t>
              </a:r>
            </a:p>
          </p:txBody>
        </p:sp>
        <p:sp>
          <p:nvSpPr>
            <p:cNvPr id="10" name="TextBox 10"/>
            <p:cNvSpPr txBox="1"/>
            <p:nvPr/>
          </p:nvSpPr>
          <p:spPr>
            <a:xfrm>
              <a:off x="4516845" y="3329940"/>
              <a:ext cx="3158309" cy="365760"/>
            </a:xfrm>
            <a:prstGeom prst="rect">
              <a:avLst/>
            </a:prstGeom>
            <a:noFill/>
            <a:ln>
              <a:noFill/>
            </a:ln>
          </p:spPr>
          <p:txBody>
            <a:bodyPr wrap="none" lIns="0" tIns="0" rIns="0" bIns="0" anchor="t" anchorCtr="0">
              <a:spAutoFit/>
            </a:bodyPr>
            <a:lstStyle/>
            <a:p>
              <a:pPr algn="ctr"/>
              <a:r>
                <a:rPr lang="zh-CN" sz="1800" b="1" dirty="0">
                  <a:solidFill>
                    <a:srgbClr val="212529"/>
                  </a:solidFill>
                  <a:latin typeface="Consolas"/>
                  <a:ea typeface="Microsoft YaHei"/>
                  <a:cs typeface="Consolas"/>
                </a:rPr>
                <a:t>[Manual Pacing Override:</a:t>
              </a:r>
            </a:p>
          </p:txBody>
        </p:sp>
        <p:sp>
          <p:nvSpPr>
            <p:cNvPr id="11" name="TextBox 11"/>
            <p:cNvSpPr txBox="1"/>
            <p:nvPr/>
          </p:nvSpPr>
          <p:spPr>
            <a:xfrm>
              <a:off x="2677016" y="3758565"/>
              <a:ext cx="6837969" cy="365760"/>
            </a:xfrm>
            <a:prstGeom prst="rect">
              <a:avLst/>
            </a:prstGeom>
            <a:noFill/>
            <a:ln>
              <a:noFill/>
            </a:ln>
          </p:spPr>
          <p:txBody>
            <a:bodyPr wrap="none" lIns="0" tIns="0" rIns="0" bIns="0" anchor="t" anchorCtr="0">
              <a:spAutoFit/>
            </a:bodyPr>
            <a:lstStyle/>
            <a:p>
              <a:pPr algn="ctr"/>
              <a:r>
                <a:rPr lang="zh-CN" sz="1800" b="1" dirty="0">
                  <a:solidFill>
                    <a:srgbClr val="212529"/>
                  </a:solidFill>
                  <a:latin typeface="Consolas"/>
                  <a:ea typeface="Microsoft YaHei"/>
                  <a:cs typeface="Consolas"/>
                </a:rPr>
                <a:t>Please advance slide manually to verify booth queueing]</a:t>
              </a:r>
            </a:p>
          </p:txBody>
        </p:sp>
        <p:grpSp>
          <p:nvGrpSpPr>
            <p:cNvPr id="14" name="Group 14"/>
            <p:cNvGrpSpPr/>
            <p:nvPr/>
          </p:nvGrpSpPr>
          <p:grpSpPr>
            <a:xfrm>
              <a:off x="6006094" y="4263019"/>
              <a:ext cx="179813" cy="179813"/>
              <a:chOff x="6006094" y="4263019"/>
              <a:chExt cx="179813" cy="179813"/>
            </a:xfrm>
          </p:grpSpPr>
          <p:sp>
            <p:nvSpPr>
              <p:cNvPr id="12" name="Freeform 12"/>
              <p:cNvSpPr/>
              <p:nvPr/>
            </p:nvSpPr>
            <p:spPr>
              <a:xfrm>
                <a:off x="6006094" y="4263019"/>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9050">
                <a:solidFill>
                  <a:srgbClr val="4A6B82"/>
                </a:solidFill>
              </a:ln>
            </p:spPr>
          </p:sp>
          <p:sp>
            <p:nvSpPr>
              <p:cNvPr id="13" name="Freeform 13"/>
              <p:cNvSpPr/>
              <p:nvPr/>
            </p:nvSpPr>
            <p:spPr>
              <a:xfrm>
                <a:off x="6067425" y="4324350"/>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4A6B82"/>
                </a:solidFill>
              </a:ln>
            </p:spPr>
          </p:sp>
        </p:grpSp>
      </p:grpSp>
      <p:grpSp>
        <p:nvGrpSpPr>
          <p:cNvPr id="17" name="Group 17"/>
          <p:cNvGrpSpPr/>
          <p:nvPr/>
        </p:nvGrpSpPr>
        <p:grpSpPr>
          <a:xfrm>
            <a:off x="3593854" y="5268278"/>
            <a:ext cx="5004292" cy="213360"/>
            <a:chOff x="3593854" y="5268278"/>
            <a:chExt cx="5004292" cy="213360"/>
          </a:xfrm>
        </p:grpSpPr>
        <p:sp>
          <p:nvSpPr>
            <p:cNvPr id="16" name="TextBox 16"/>
            <p:cNvSpPr txBox="1"/>
            <p:nvPr/>
          </p:nvSpPr>
          <p:spPr>
            <a:xfrm>
              <a:off x="3593854" y="5268278"/>
              <a:ext cx="5004292"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*Manual slide override test. Presenter verbal cue: "Next slide, please."</a:t>
              </a:r>
            </a:p>
          </p:txBody>
        </p:sp>
      </p:grpSp>
      <p:grpSp>
        <p:nvGrpSpPr>
          <p:cNvPr id="21" name="Group 21"/>
          <p:cNvGrpSpPr/>
          <p:nvPr/>
        </p:nvGrpSpPr>
        <p:grpSpPr>
          <a:xfrm>
            <a:off x="560070" y="6238875"/>
            <a:ext cx="11071860" cy="323850"/>
            <a:chOff x="560070" y="6238875"/>
            <a:chExt cx="11071860" cy="323850"/>
          </a:xfrm>
        </p:grpSpPr>
        <p:sp>
          <p:nvSpPr>
            <p:cNvPr id="18" name="Line 18"/>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19" name="TextBox 19"/>
            <p:cNvSpPr txBox="1"/>
            <p:nvPr/>
          </p:nvSpPr>
          <p:spPr>
            <a:xfrm>
              <a:off x="560070" y="6379845"/>
              <a:ext cx="2813209"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VERBAL_CUE_TEST: MANUAL_TRANSITION_REQUIRED</a:t>
              </a:r>
            </a:p>
          </p:txBody>
        </p:sp>
        <p:sp>
          <p:nvSpPr>
            <p:cNvPr id="20" name="TextBox 20"/>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image">
                                      <p:cBhvr>
                                        <p:cTn id="11" dur="400"/>
                                        <p:tgtEl>
                                          <p:spTgt spid="1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96710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SYS.COMPETITIVE_ANALYSIS // P09</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12109385" cy="691515"/>
            <a:chOff x="537210" y="1042035"/>
            <a:chExt cx="12109385" cy="691515"/>
          </a:xfrm>
        </p:grpSpPr>
        <p:sp>
          <p:nvSpPr>
            <p:cNvPr id="6" name="TextBox 6"/>
            <p:cNvSpPr txBox="1"/>
            <p:nvPr/>
          </p:nvSpPr>
          <p:spPr>
            <a:xfrm>
              <a:off x="537210" y="1042035"/>
              <a:ext cx="12109385"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Comparative Capability Analysis: Internal vs. Industry Benchmark</a:t>
              </a:r>
            </a:p>
          </p:txBody>
        </p:sp>
        <p:sp>
          <p:nvSpPr>
            <p:cNvPr id="7" name="TextBox 7"/>
            <p:cNvSpPr txBox="1"/>
            <p:nvPr/>
          </p:nvSpPr>
          <p:spPr>
            <a:xfrm>
              <a:off x="556260" y="1489710"/>
              <a:ext cx="4182999"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Table grid line rendering test and cell borders check.</a:t>
              </a:r>
            </a:p>
          </p:txBody>
        </p:sp>
      </p:grpSp>
      <p:grpSp>
        <p:nvGrpSpPr>
          <p:cNvPr id="35" name="Group 35"/>
          <p:cNvGrpSpPr/>
          <p:nvPr/>
        </p:nvGrpSpPr>
        <p:grpSpPr>
          <a:xfrm>
            <a:off x="1333500" y="2095500"/>
            <a:ext cx="9525000" cy="2952750"/>
            <a:chOff x="1333500" y="2095500"/>
            <a:chExt cx="9525000" cy="2952750"/>
          </a:xfrm>
        </p:grpSpPr>
        <p:sp>
          <p:nvSpPr>
            <p:cNvPr id="9" name="Rectangle 9"/>
            <p:cNvSpPr/>
            <p:nvPr/>
          </p:nvSpPr>
          <p:spPr>
            <a:xfrm>
              <a:off x="1333500" y="2095500"/>
              <a:ext cx="9525000" cy="2952750"/>
            </a:xfrm>
            <a:prstGeom prst="roundRect">
              <a:avLst>
                <a:gd name="adj" fmla="val 2581"/>
              </a:avLst>
            </a:prstGeom>
            <a:solidFill>
              <a:srgbClr val="FFFFFF"/>
            </a:solidFill>
            <a:ln w="14288">
              <a:solidFill>
                <a:srgbClr val="DEE2E6"/>
              </a:solidFill>
            </a:ln>
          </p:spPr>
        </p:sp>
        <p:sp>
          <p:nvSpPr>
            <p:cNvPr id="10" name="Rectangle 10"/>
            <p:cNvSpPr/>
            <p:nvPr/>
          </p:nvSpPr>
          <p:spPr>
            <a:xfrm>
              <a:off x="1333500" y="2095500"/>
              <a:ext cx="9525000" cy="571500"/>
            </a:xfrm>
            <a:prstGeom prst="roundRect">
              <a:avLst>
                <a:gd name="adj" fmla="val 13333"/>
              </a:avLst>
            </a:prstGeom>
            <a:solidFill>
              <a:srgbClr val="E9ECEF"/>
            </a:solidFill>
            <a:ln>
              <a:noFill/>
            </a:ln>
          </p:spPr>
        </p:sp>
        <p:sp>
          <p:nvSpPr>
            <p:cNvPr id="11" name="Rectangle 11"/>
            <p:cNvSpPr/>
            <p:nvPr/>
          </p:nvSpPr>
          <p:spPr>
            <a:xfrm>
              <a:off x="4667250" y="2095500"/>
              <a:ext cx="3048000" cy="2952750"/>
            </a:xfrm>
            <a:prstGeom prst="rect">
              <a:avLst/>
            </a:prstGeom>
            <a:solidFill>
              <a:srgbClr val="008080">
                <a:alpha val="4000"/>
              </a:srgbClr>
            </a:solidFill>
            <a:ln w="14288">
              <a:solidFill>
                <a:srgbClr val="008080">
                  <a:alpha val="30000"/>
                </a:srgbClr>
              </a:solidFill>
            </a:ln>
          </p:spPr>
        </p:sp>
        <p:sp>
          <p:nvSpPr>
            <p:cNvPr id="12" name="TextBox 12"/>
            <p:cNvSpPr txBox="1"/>
            <p:nvPr/>
          </p:nvSpPr>
          <p:spPr>
            <a:xfrm>
              <a:off x="1697355" y="2311718"/>
              <a:ext cx="762031" cy="274320"/>
            </a:xfrm>
            <a:prstGeom prst="rect">
              <a:avLst/>
            </a:prstGeom>
            <a:noFill/>
            <a:ln>
              <a:noFill/>
            </a:ln>
          </p:spPr>
          <p:txBody>
            <a:bodyPr wrap="none" lIns="0" tIns="0" rIns="0" bIns="0" anchor="t" anchorCtr="0">
              <a:spAutoFit/>
            </a:bodyPr>
            <a:lstStyle/>
            <a:p>
              <a:pPr algn="l"/>
              <a:r>
                <a:rPr lang="zh-CN" sz="1350" b="1" dirty="0">
                  <a:solidFill>
                    <a:srgbClr val="6C757D"/>
                  </a:solidFill>
                  <a:latin typeface="Arial"/>
                  <a:ea typeface="Microsoft YaHei"/>
                  <a:cs typeface="Arial"/>
                </a:rPr>
                <a:t>Feature</a:t>
              </a:r>
            </a:p>
          </p:txBody>
        </p:sp>
        <p:sp>
          <p:nvSpPr>
            <p:cNvPr id="13" name="TextBox 13"/>
            <p:cNvSpPr txBox="1"/>
            <p:nvPr/>
          </p:nvSpPr>
          <p:spPr>
            <a:xfrm>
              <a:off x="5805509" y="2311718"/>
              <a:ext cx="771482" cy="274320"/>
            </a:xfrm>
            <a:prstGeom prst="rect">
              <a:avLst/>
            </a:prstGeom>
            <a:noFill/>
            <a:ln>
              <a:noFill/>
            </a:ln>
          </p:spPr>
          <p:txBody>
            <a:bodyPr wrap="none" lIns="0" tIns="0" rIns="0" bIns="0" anchor="t" anchorCtr="0">
              <a:spAutoFit/>
            </a:bodyPr>
            <a:lstStyle/>
            <a:p>
              <a:pPr algn="ctr"/>
              <a:r>
                <a:rPr lang="zh-CN" sz="1350" b="1" dirty="0">
                  <a:solidFill>
                    <a:srgbClr val="008080"/>
                  </a:solidFill>
                  <a:latin typeface="Arial"/>
                  <a:ea typeface="Microsoft YaHei"/>
                  <a:cs typeface="Arial"/>
                </a:rPr>
                <a:t>Internal</a:t>
              </a:r>
            </a:p>
          </p:txBody>
        </p:sp>
        <p:sp>
          <p:nvSpPr>
            <p:cNvPr id="14" name="TextBox 14"/>
            <p:cNvSpPr txBox="1"/>
            <p:nvPr/>
          </p:nvSpPr>
          <p:spPr>
            <a:xfrm>
              <a:off x="8735369" y="2311718"/>
              <a:ext cx="1007762" cy="274320"/>
            </a:xfrm>
            <a:prstGeom prst="rect">
              <a:avLst/>
            </a:prstGeom>
            <a:noFill/>
            <a:ln>
              <a:noFill/>
            </a:ln>
          </p:spPr>
          <p:txBody>
            <a:bodyPr wrap="none" lIns="0" tIns="0" rIns="0" bIns="0" anchor="t" anchorCtr="0">
              <a:spAutoFit/>
            </a:bodyPr>
            <a:lstStyle/>
            <a:p>
              <a:pPr algn="ctr"/>
              <a:r>
                <a:rPr lang="zh-CN" sz="1350" b="1" dirty="0">
                  <a:solidFill>
                    <a:srgbClr val="212529"/>
                  </a:solidFill>
                  <a:latin typeface="Arial"/>
                  <a:ea typeface="Microsoft YaHei"/>
                  <a:cs typeface="Arial"/>
                </a:rPr>
                <a:t>Benchmark</a:t>
              </a:r>
            </a:p>
          </p:txBody>
        </p:sp>
        <p:sp>
          <p:nvSpPr>
            <p:cNvPr id="15" name="Line 15"/>
            <p:cNvSpPr/>
            <p:nvPr/>
          </p:nvSpPr>
          <p:spPr>
            <a:xfrm>
              <a:off x="1333500" y="2667000"/>
              <a:ext cx="9525000" cy="9525"/>
            </a:xfrm>
            <a:custGeom>
              <a:avLst/>
              <a:gdLst/>
              <a:ahLst/>
              <a:cxnLst/>
              <a:rect l="l" t="t" r="r" b="b"/>
              <a:pathLst>
                <a:path w="9525000" h="9525">
                  <a:moveTo>
                    <a:pt x="0" y="0"/>
                  </a:moveTo>
                  <a:lnTo>
                    <a:pt x="9525000" y="0"/>
                  </a:lnTo>
                </a:path>
              </a:pathLst>
            </a:custGeom>
            <a:noFill/>
            <a:ln w="14288">
              <a:solidFill>
                <a:srgbClr val="DEE2E6"/>
              </a:solidFill>
            </a:ln>
          </p:spPr>
        </p:sp>
        <p:sp>
          <p:nvSpPr>
            <p:cNvPr id="16" name="Line 16"/>
            <p:cNvSpPr/>
            <p:nvPr/>
          </p:nvSpPr>
          <p:spPr>
            <a:xfrm>
              <a:off x="1333500" y="3238500"/>
              <a:ext cx="9525000" cy="9525"/>
            </a:xfrm>
            <a:custGeom>
              <a:avLst/>
              <a:gdLst/>
              <a:ahLst/>
              <a:cxnLst/>
              <a:rect l="l" t="t" r="r" b="b"/>
              <a:pathLst>
                <a:path w="9525000" h="9525">
                  <a:moveTo>
                    <a:pt x="0" y="0"/>
                  </a:moveTo>
                  <a:lnTo>
                    <a:pt x="9525000" y="0"/>
                  </a:lnTo>
                </a:path>
              </a:pathLst>
            </a:custGeom>
            <a:noFill/>
            <a:ln w="9525">
              <a:solidFill>
                <a:srgbClr val="DEE2E6"/>
              </a:solidFill>
            </a:ln>
          </p:spPr>
        </p:sp>
        <p:sp>
          <p:nvSpPr>
            <p:cNvPr id="17" name="Line 17"/>
            <p:cNvSpPr/>
            <p:nvPr/>
          </p:nvSpPr>
          <p:spPr>
            <a:xfrm>
              <a:off x="1333500" y="3810000"/>
              <a:ext cx="9525000" cy="9525"/>
            </a:xfrm>
            <a:custGeom>
              <a:avLst/>
              <a:gdLst/>
              <a:ahLst/>
              <a:cxnLst/>
              <a:rect l="l" t="t" r="r" b="b"/>
              <a:pathLst>
                <a:path w="9525000" h="9525">
                  <a:moveTo>
                    <a:pt x="0" y="0"/>
                  </a:moveTo>
                  <a:lnTo>
                    <a:pt x="9525000" y="0"/>
                  </a:lnTo>
                </a:path>
              </a:pathLst>
            </a:custGeom>
            <a:noFill/>
            <a:ln w="9525">
              <a:solidFill>
                <a:srgbClr val="DEE2E6"/>
              </a:solidFill>
            </a:ln>
          </p:spPr>
        </p:sp>
        <p:sp>
          <p:nvSpPr>
            <p:cNvPr id="18" name="Line 18"/>
            <p:cNvSpPr/>
            <p:nvPr/>
          </p:nvSpPr>
          <p:spPr>
            <a:xfrm>
              <a:off x="1333500" y="4381500"/>
              <a:ext cx="9525000" cy="9525"/>
            </a:xfrm>
            <a:custGeom>
              <a:avLst/>
              <a:gdLst/>
              <a:ahLst/>
              <a:cxnLst/>
              <a:rect l="l" t="t" r="r" b="b"/>
              <a:pathLst>
                <a:path w="9525000" h="9525">
                  <a:moveTo>
                    <a:pt x="0" y="0"/>
                  </a:moveTo>
                  <a:lnTo>
                    <a:pt x="9525000" y="0"/>
                  </a:lnTo>
                </a:path>
              </a:pathLst>
            </a:custGeom>
            <a:noFill/>
            <a:ln w="9525">
              <a:solidFill>
                <a:srgbClr val="DEE2E6"/>
              </a:solidFill>
            </a:ln>
          </p:spPr>
        </p:sp>
        <p:grpSp>
          <p:nvGrpSpPr>
            <p:cNvPr id="22" name="Group 22"/>
            <p:cNvGrpSpPr/>
            <p:nvPr/>
          </p:nvGrpSpPr>
          <p:grpSpPr>
            <a:xfrm>
              <a:off x="1697355" y="2883218"/>
              <a:ext cx="7955090" cy="274320"/>
              <a:chOff x="1697355" y="2883218"/>
              <a:chExt cx="7955090" cy="274320"/>
            </a:xfrm>
          </p:grpSpPr>
          <p:sp>
            <p:nvSpPr>
              <p:cNvPr id="19" name="TextBox 19"/>
              <p:cNvSpPr txBox="1"/>
              <p:nvPr/>
            </p:nvSpPr>
            <p:spPr>
              <a:xfrm>
                <a:off x="1697355" y="2883218"/>
                <a:ext cx="529352" cy="274320"/>
              </a:xfrm>
              <a:prstGeom prst="rect">
                <a:avLst/>
              </a:prstGeom>
              <a:noFill/>
              <a:ln>
                <a:noFill/>
              </a:ln>
            </p:spPr>
            <p:txBody>
              <a:bodyPr wrap="none" lIns="0" tIns="0" rIns="0" bIns="0" anchor="t" anchorCtr="0">
                <a:spAutoFit/>
              </a:bodyPr>
              <a:lstStyle/>
              <a:p>
                <a:pPr algn="l"/>
                <a:r>
                  <a:rPr lang="zh-CN" sz="1350" dirty="0">
                    <a:solidFill>
                      <a:srgbClr val="212529"/>
                    </a:solidFill>
                    <a:latin typeface="Arial"/>
                    <a:ea typeface="Microsoft YaHei"/>
                    <a:cs typeface="Arial"/>
                  </a:rPr>
                  <a:t>Speed</a:t>
                </a:r>
              </a:p>
            </p:txBody>
          </p:sp>
          <p:sp>
            <p:nvSpPr>
              <p:cNvPr id="20" name="TextBox 20"/>
              <p:cNvSpPr txBox="1"/>
              <p:nvPr/>
            </p:nvSpPr>
            <p:spPr>
              <a:xfrm>
                <a:off x="5758253" y="2883218"/>
                <a:ext cx="865994" cy="274320"/>
              </a:xfrm>
              <a:prstGeom prst="rect">
                <a:avLst/>
              </a:prstGeom>
              <a:noFill/>
              <a:ln>
                <a:noFill/>
              </a:ln>
            </p:spPr>
            <p:txBody>
              <a:bodyPr wrap="none" lIns="0" tIns="0" rIns="0" bIns="0" anchor="t" anchorCtr="0">
                <a:spAutoFit/>
              </a:bodyPr>
              <a:lstStyle/>
              <a:p>
                <a:pPr algn="ctr"/>
                <a:r>
                  <a:rPr lang="zh-CN" sz="1350" b="1" dirty="0">
                    <a:solidFill>
                      <a:srgbClr val="008080"/>
                    </a:solidFill>
                    <a:latin typeface="Arial"/>
                    <a:ea typeface="Microsoft YaHei"/>
                    <a:cs typeface="Arial"/>
                  </a:rPr>
                  <a:t>Unlimited</a:t>
                </a:r>
              </a:p>
            </p:txBody>
          </p:sp>
          <p:sp>
            <p:nvSpPr>
              <p:cNvPr id="21" name="TextBox 21"/>
              <p:cNvSpPr txBox="1"/>
              <p:nvPr/>
            </p:nvSpPr>
            <p:spPr>
              <a:xfrm>
                <a:off x="8826056" y="2883218"/>
                <a:ext cx="826389" cy="274320"/>
              </a:xfrm>
              <a:prstGeom prst="rect">
                <a:avLst/>
              </a:prstGeom>
              <a:noFill/>
              <a:ln>
                <a:noFill/>
              </a:ln>
            </p:spPr>
            <p:txBody>
              <a:bodyPr wrap="none" lIns="0" tIns="0" rIns="0" bIns="0" anchor="t" anchorCtr="0">
                <a:spAutoFit/>
              </a:bodyPr>
              <a:lstStyle/>
              <a:p>
                <a:pPr algn="ctr"/>
                <a:r>
                  <a:rPr lang="zh-CN" sz="1350" dirty="0">
                    <a:solidFill>
                      <a:srgbClr val="6C757D"/>
                    </a:solidFill>
                    <a:latin typeface="Arial"/>
                    <a:ea typeface="Microsoft YaHei"/>
                    <a:cs typeface="Arial"/>
                  </a:rPr>
                  <a:t>Standard</a:t>
                </a:r>
              </a:p>
            </p:txBody>
          </p:sp>
        </p:grpSp>
        <p:grpSp>
          <p:nvGrpSpPr>
            <p:cNvPr id="26" name="Group 26"/>
            <p:cNvGrpSpPr/>
            <p:nvPr/>
          </p:nvGrpSpPr>
          <p:grpSpPr>
            <a:xfrm>
              <a:off x="1697355" y="3454718"/>
              <a:ext cx="7973091" cy="274320"/>
              <a:chOff x="1697355" y="3454718"/>
              <a:chExt cx="7973091" cy="274320"/>
            </a:xfrm>
          </p:grpSpPr>
          <p:sp>
            <p:nvSpPr>
              <p:cNvPr id="23" name="TextBox 23"/>
              <p:cNvSpPr txBox="1"/>
              <p:nvPr/>
            </p:nvSpPr>
            <p:spPr>
              <a:xfrm>
                <a:off x="1697355" y="3454718"/>
                <a:ext cx="592360" cy="274320"/>
              </a:xfrm>
              <a:prstGeom prst="rect">
                <a:avLst/>
              </a:prstGeom>
              <a:noFill/>
              <a:ln>
                <a:noFill/>
              </a:ln>
            </p:spPr>
            <p:txBody>
              <a:bodyPr wrap="none" lIns="0" tIns="0" rIns="0" bIns="0" anchor="t" anchorCtr="0">
                <a:spAutoFit/>
              </a:bodyPr>
              <a:lstStyle/>
              <a:p>
                <a:pPr algn="l"/>
                <a:r>
                  <a:rPr lang="zh-CN" sz="1350" dirty="0">
                    <a:solidFill>
                      <a:srgbClr val="212529"/>
                    </a:solidFill>
                    <a:latin typeface="Arial"/>
                    <a:ea typeface="Microsoft YaHei"/>
                    <a:cs typeface="Arial"/>
                  </a:rPr>
                  <a:t>Agility</a:t>
                </a:r>
              </a:p>
            </p:txBody>
          </p:sp>
          <p:sp>
            <p:nvSpPr>
              <p:cNvPr id="24" name="TextBox 24"/>
              <p:cNvSpPr txBox="1"/>
              <p:nvPr/>
            </p:nvSpPr>
            <p:spPr>
              <a:xfrm>
                <a:off x="5710997" y="3454718"/>
                <a:ext cx="960506" cy="274320"/>
              </a:xfrm>
              <a:prstGeom prst="rect">
                <a:avLst/>
              </a:prstGeom>
              <a:noFill/>
              <a:ln>
                <a:noFill/>
              </a:ln>
            </p:spPr>
            <p:txBody>
              <a:bodyPr wrap="none" lIns="0" tIns="0" rIns="0" bIns="0" anchor="t" anchorCtr="0">
                <a:spAutoFit/>
              </a:bodyPr>
              <a:lstStyle/>
              <a:p>
                <a:pPr algn="ctr"/>
                <a:r>
                  <a:rPr lang="zh-CN" sz="1350" b="1" dirty="0">
                    <a:solidFill>
                      <a:srgbClr val="008080"/>
                    </a:solidFill>
                    <a:latin typeface="Arial"/>
                    <a:ea typeface="Microsoft YaHei"/>
                    <a:cs typeface="Arial"/>
                  </a:rPr>
                  <a:t>Exemplary</a:t>
                </a:r>
              </a:p>
            </p:txBody>
          </p:sp>
          <p:sp>
            <p:nvSpPr>
              <p:cNvPr id="25" name="TextBox 25"/>
              <p:cNvSpPr txBox="1"/>
              <p:nvPr/>
            </p:nvSpPr>
            <p:spPr>
              <a:xfrm>
                <a:off x="8808053" y="3454718"/>
                <a:ext cx="862393" cy="274320"/>
              </a:xfrm>
              <a:prstGeom prst="rect">
                <a:avLst/>
              </a:prstGeom>
              <a:noFill/>
              <a:ln>
                <a:noFill/>
              </a:ln>
            </p:spPr>
            <p:txBody>
              <a:bodyPr wrap="none" lIns="0" tIns="0" rIns="0" bIns="0" anchor="t" anchorCtr="0">
                <a:spAutoFit/>
              </a:bodyPr>
              <a:lstStyle/>
              <a:p>
                <a:pPr algn="ctr"/>
                <a:r>
                  <a:rPr lang="zh-CN" sz="1350" dirty="0">
                    <a:solidFill>
                      <a:srgbClr val="6C757D"/>
                    </a:solidFill>
                    <a:latin typeface="Arial"/>
                    <a:ea typeface="Microsoft YaHei"/>
                    <a:cs typeface="Arial"/>
                  </a:rPr>
                  <a:t>Moderate</a:t>
                </a:r>
              </a:p>
            </p:txBody>
          </p:sp>
        </p:grpSp>
        <p:grpSp>
          <p:nvGrpSpPr>
            <p:cNvPr id="30" name="Group 30"/>
            <p:cNvGrpSpPr/>
            <p:nvPr/>
          </p:nvGrpSpPr>
          <p:grpSpPr>
            <a:xfrm>
              <a:off x="1697355" y="4026218"/>
              <a:ext cx="8027098" cy="274320"/>
              <a:chOff x="1697355" y="4026218"/>
              <a:chExt cx="8027098" cy="274320"/>
            </a:xfrm>
          </p:grpSpPr>
          <p:sp>
            <p:nvSpPr>
              <p:cNvPr id="27" name="TextBox 27"/>
              <p:cNvSpPr txBox="1"/>
              <p:nvPr/>
            </p:nvSpPr>
            <p:spPr>
              <a:xfrm>
                <a:off x="1697355" y="4026218"/>
                <a:ext cx="970407" cy="274320"/>
              </a:xfrm>
              <a:prstGeom prst="rect">
                <a:avLst/>
              </a:prstGeom>
              <a:noFill/>
              <a:ln>
                <a:noFill/>
              </a:ln>
            </p:spPr>
            <p:txBody>
              <a:bodyPr wrap="none" lIns="0" tIns="0" rIns="0" bIns="0" anchor="t" anchorCtr="0">
                <a:spAutoFit/>
              </a:bodyPr>
              <a:lstStyle/>
              <a:p>
                <a:pPr algn="l"/>
                <a:r>
                  <a:rPr lang="zh-CN" sz="1350" dirty="0">
                    <a:solidFill>
                      <a:srgbClr val="212529"/>
                    </a:solidFill>
                    <a:latin typeface="Arial"/>
                    <a:ea typeface="Microsoft YaHei"/>
                    <a:cs typeface="Arial"/>
                  </a:rPr>
                  <a:t>Compliance</a:t>
                </a:r>
              </a:p>
            </p:txBody>
          </p:sp>
          <p:sp>
            <p:nvSpPr>
              <p:cNvPr id="28" name="TextBox 28"/>
              <p:cNvSpPr txBox="1"/>
              <p:nvPr/>
            </p:nvSpPr>
            <p:spPr>
              <a:xfrm>
                <a:off x="5762979" y="4026218"/>
                <a:ext cx="856543" cy="274320"/>
              </a:xfrm>
              <a:prstGeom prst="rect">
                <a:avLst/>
              </a:prstGeom>
              <a:noFill/>
              <a:ln>
                <a:noFill/>
              </a:ln>
            </p:spPr>
            <p:txBody>
              <a:bodyPr wrap="none" lIns="0" tIns="0" rIns="0" bIns="0" anchor="t" anchorCtr="0">
                <a:spAutoFit/>
              </a:bodyPr>
              <a:lstStyle/>
              <a:p>
                <a:pPr algn="ctr"/>
                <a:r>
                  <a:rPr lang="zh-CN" sz="1350" b="1" dirty="0">
                    <a:solidFill>
                      <a:srgbClr val="008080"/>
                    </a:solidFill>
                    <a:latin typeface="Arial"/>
                    <a:ea typeface="Microsoft YaHei"/>
                    <a:cs typeface="Arial"/>
                  </a:rPr>
                  <a:t>Complete</a:t>
                </a:r>
              </a:p>
            </p:txBody>
          </p:sp>
          <p:sp>
            <p:nvSpPr>
              <p:cNvPr id="29" name="TextBox 29"/>
              <p:cNvSpPr txBox="1"/>
              <p:nvPr/>
            </p:nvSpPr>
            <p:spPr>
              <a:xfrm>
                <a:off x="8754046" y="4026218"/>
                <a:ext cx="970407" cy="274320"/>
              </a:xfrm>
              <a:prstGeom prst="rect">
                <a:avLst/>
              </a:prstGeom>
              <a:noFill/>
              <a:ln>
                <a:noFill/>
              </a:ln>
            </p:spPr>
            <p:txBody>
              <a:bodyPr wrap="none" lIns="0" tIns="0" rIns="0" bIns="0" anchor="t" anchorCtr="0">
                <a:spAutoFit/>
              </a:bodyPr>
              <a:lstStyle/>
              <a:p>
                <a:pPr algn="ctr"/>
                <a:r>
                  <a:rPr lang="zh-CN" sz="1350" dirty="0">
                    <a:solidFill>
                      <a:srgbClr val="6C757D"/>
                    </a:solidFill>
                    <a:latin typeface="Arial"/>
                    <a:ea typeface="Microsoft YaHei"/>
                    <a:cs typeface="Arial"/>
                  </a:rPr>
                  <a:t>Incomplete</a:t>
                </a:r>
              </a:p>
            </p:txBody>
          </p:sp>
        </p:grpSp>
        <p:grpSp>
          <p:nvGrpSpPr>
            <p:cNvPr id="34" name="Group 34"/>
            <p:cNvGrpSpPr/>
            <p:nvPr/>
          </p:nvGrpSpPr>
          <p:grpSpPr>
            <a:xfrm>
              <a:off x="1697355" y="4597718"/>
              <a:ext cx="7784068" cy="274320"/>
              <a:chOff x="1697355" y="4597718"/>
              <a:chExt cx="7784068" cy="274320"/>
            </a:xfrm>
          </p:grpSpPr>
          <p:sp>
            <p:nvSpPr>
              <p:cNvPr id="31" name="TextBox 31"/>
              <p:cNvSpPr txBox="1"/>
              <p:nvPr/>
            </p:nvSpPr>
            <p:spPr>
              <a:xfrm>
                <a:off x="1697355" y="4597718"/>
                <a:ext cx="889397" cy="274320"/>
              </a:xfrm>
              <a:prstGeom prst="rect">
                <a:avLst/>
              </a:prstGeom>
              <a:noFill/>
              <a:ln>
                <a:noFill/>
              </a:ln>
            </p:spPr>
            <p:txBody>
              <a:bodyPr wrap="none" lIns="0" tIns="0" rIns="0" bIns="0" anchor="t" anchorCtr="0">
                <a:spAutoFit/>
              </a:bodyPr>
              <a:lstStyle/>
              <a:p>
                <a:pPr algn="l"/>
                <a:r>
                  <a:rPr lang="zh-CN" sz="1350" dirty="0">
                    <a:solidFill>
                      <a:srgbClr val="212529"/>
                    </a:solidFill>
                    <a:latin typeface="Arial"/>
                    <a:ea typeface="Microsoft YaHei"/>
                    <a:cs typeface="Arial"/>
                  </a:rPr>
                  <a:t>Resilience</a:t>
                </a:r>
              </a:p>
            </p:txBody>
          </p:sp>
          <p:sp>
            <p:nvSpPr>
              <p:cNvPr id="32" name="TextBox 32"/>
              <p:cNvSpPr txBox="1"/>
              <p:nvPr/>
            </p:nvSpPr>
            <p:spPr>
              <a:xfrm>
                <a:off x="5621211" y="4597718"/>
                <a:ext cx="1140078" cy="274320"/>
              </a:xfrm>
              <a:prstGeom prst="rect">
                <a:avLst/>
              </a:prstGeom>
              <a:noFill/>
              <a:ln>
                <a:noFill/>
              </a:ln>
            </p:spPr>
            <p:txBody>
              <a:bodyPr wrap="none" lIns="0" tIns="0" rIns="0" bIns="0" anchor="t" anchorCtr="0">
                <a:spAutoFit/>
              </a:bodyPr>
              <a:lstStyle/>
              <a:p>
                <a:pPr algn="ctr"/>
                <a:r>
                  <a:rPr lang="zh-CN" sz="1350" b="1" dirty="0">
                    <a:solidFill>
                      <a:srgbClr val="008080"/>
                    </a:solidFill>
                    <a:latin typeface="Arial"/>
                    <a:ea typeface="Microsoft YaHei"/>
                    <a:cs typeface="Arial"/>
                  </a:rPr>
                  <a:t>Unparalleled</a:t>
                </a:r>
              </a:p>
            </p:txBody>
          </p:sp>
          <p:sp>
            <p:nvSpPr>
              <p:cNvPr id="33" name="TextBox 33"/>
              <p:cNvSpPr txBox="1"/>
              <p:nvPr/>
            </p:nvSpPr>
            <p:spPr>
              <a:xfrm>
                <a:off x="8997077" y="4597718"/>
                <a:ext cx="484346" cy="274320"/>
              </a:xfrm>
              <a:prstGeom prst="rect">
                <a:avLst/>
              </a:prstGeom>
              <a:noFill/>
              <a:ln>
                <a:noFill/>
              </a:ln>
            </p:spPr>
            <p:txBody>
              <a:bodyPr wrap="none" lIns="0" tIns="0" rIns="0" bIns="0" anchor="t" anchorCtr="0">
                <a:spAutoFit/>
              </a:bodyPr>
              <a:lstStyle/>
              <a:p>
                <a:pPr algn="ctr"/>
                <a:r>
                  <a:rPr lang="zh-CN" sz="1350" dirty="0">
                    <a:solidFill>
                      <a:srgbClr val="6C757D"/>
                    </a:solidFill>
                    <a:latin typeface="Arial"/>
                    <a:ea typeface="Microsoft YaHei"/>
                    <a:cs typeface="Arial"/>
                  </a:rPr>
                  <a:t>Basic</a:t>
                </a:r>
              </a:p>
            </p:txBody>
          </p:sp>
        </p:grpSp>
      </p:grpSp>
      <p:grpSp>
        <p:nvGrpSpPr>
          <p:cNvPr id="37" name="Group 37"/>
          <p:cNvGrpSpPr/>
          <p:nvPr/>
        </p:nvGrpSpPr>
        <p:grpSpPr>
          <a:xfrm>
            <a:off x="2291691" y="5506402"/>
            <a:ext cx="7608618" cy="213360"/>
            <a:chOff x="2291691" y="5506402"/>
            <a:chExt cx="7608618" cy="213360"/>
          </a:xfrm>
        </p:grpSpPr>
        <p:sp>
          <p:nvSpPr>
            <p:cNvPr id="36" name="TextBox 36"/>
            <p:cNvSpPr txBox="1"/>
            <p:nvPr/>
          </p:nvSpPr>
          <p:spPr>
            <a:xfrm>
              <a:off x="2291691" y="5506402"/>
              <a:ext cx="7608618"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*Table grid line rendering test. Make sure border lines are visible on both main screen and confidence monitor.</a:t>
              </a:r>
            </a:p>
          </p:txBody>
        </p:sp>
      </p:grpSp>
      <p:grpSp>
        <p:nvGrpSpPr>
          <p:cNvPr id="41" name="Group 41"/>
          <p:cNvGrpSpPr/>
          <p:nvPr/>
        </p:nvGrpSpPr>
        <p:grpSpPr>
          <a:xfrm>
            <a:off x="560070" y="6238875"/>
            <a:ext cx="11071860" cy="323850"/>
            <a:chOff x="560070" y="6238875"/>
            <a:chExt cx="11071860" cy="323850"/>
          </a:xfrm>
        </p:grpSpPr>
        <p:sp>
          <p:nvSpPr>
            <p:cNvPr id="38" name="Line 38"/>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9" name="TextBox 39"/>
            <p:cNvSpPr txBox="1"/>
            <p:nvPr/>
          </p:nvSpPr>
          <p:spPr>
            <a:xfrm>
              <a:off x="560070" y="6379845"/>
              <a:ext cx="210512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GRID_CHECK: TABLE_BORDERS_VISIBLE</a:t>
              </a:r>
            </a:p>
          </p:txBody>
        </p:sp>
        <p:sp>
          <p:nvSpPr>
            <p:cNvPr id="40" name="TextBox 40"/>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PAGE_09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400"/>
                                        <p:tgtEl>
                                          <p:spTgt spid="3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5" grpId="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439037"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SYS.FOCUS_CHECK // P10</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9160616" cy="691515"/>
            <a:chOff x="537210" y="1042035"/>
            <a:chExt cx="9160616" cy="691515"/>
          </a:xfrm>
        </p:grpSpPr>
        <p:sp>
          <p:nvSpPr>
            <p:cNvPr id="6" name="TextBox 6"/>
            <p:cNvSpPr txBox="1"/>
            <p:nvPr/>
          </p:nvSpPr>
          <p:spPr>
            <a:xfrm>
              <a:off x="537210" y="1042035"/>
              <a:ext cx="9160616"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Regulatory Compliance, Disclaimers, and Appendix</a:t>
              </a:r>
            </a:p>
          </p:txBody>
        </p:sp>
        <p:sp>
          <p:nvSpPr>
            <p:cNvPr id="7" name="TextBox 7"/>
            <p:cNvSpPr txBox="1"/>
            <p:nvPr/>
          </p:nvSpPr>
          <p:spPr>
            <a:xfrm>
              <a:off x="556260" y="1489710"/>
              <a:ext cx="5455158"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Dense text block designed to check focus sharpness and letter halos.</a:t>
              </a:r>
            </a:p>
          </p:txBody>
        </p:sp>
      </p:grpSp>
      <p:grpSp>
        <p:nvGrpSpPr>
          <p:cNvPr id="12" name="Group 12"/>
          <p:cNvGrpSpPr/>
          <p:nvPr/>
        </p:nvGrpSpPr>
        <p:grpSpPr>
          <a:xfrm>
            <a:off x="571500" y="1905000"/>
            <a:ext cx="5334000" cy="3481387"/>
            <a:chOff x="571500" y="1905000"/>
            <a:chExt cx="5334000" cy="3481387"/>
          </a:xfrm>
        </p:grpSpPr>
        <p:sp>
          <p:nvSpPr>
            <p:cNvPr id="9" name="Rectangle 9"/>
            <p:cNvSpPr/>
            <p:nvPr/>
          </p:nvSpPr>
          <p:spPr>
            <a:xfrm>
              <a:off x="571500" y="1905000"/>
              <a:ext cx="5334000" cy="3429000"/>
            </a:xfrm>
            <a:prstGeom prst="roundRect">
              <a:avLst>
                <a:gd name="adj" fmla="val 2222"/>
              </a:avLst>
            </a:prstGeom>
            <a:solidFill>
              <a:srgbClr val="FFFFFF"/>
            </a:solidFill>
            <a:ln w="14288">
              <a:solidFill>
                <a:srgbClr val="DEE2E6"/>
              </a:solidFill>
            </a:ln>
          </p:spPr>
        </p:sp>
        <p:sp>
          <p:nvSpPr>
            <p:cNvPr id="10" name="TextBox 10"/>
            <p:cNvSpPr txBox="1"/>
            <p:nvPr/>
          </p:nvSpPr>
          <p:spPr>
            <a:xfrm>
              <a:off x="788670" y="2188845"/>
              <a:ext cx="115100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TEXT_PANEL // LEFT</a:t>
              </a:r>
            </a:p>
          </p:txBody>
        </p:sp>
        <p:sp>
          <p:nvSpPr>
            <p:cNvPr id="11" name="TextBox 11"/>
            <p:cNvSpPr txBox="1"/>
            <p:nvPr/>
          </p:nvSpPr>
          <p:spPr>
            <a:xfrm>
              <a:off x="786765" y="2553652"/>
              <a:ext cx="4360545" cy="2832735"/>
            </a:xfrm>
            <a:prstGeom prst="rect">
              <a:avLst/>
            </a:prstGeom>
            <a:noFill/>
            <a:ln>
              <a:noFill/>
            </a:ln>
          </p:spPr>
          <p:txBody>
            <a:bodyPr wrap="square" lIns="0" tIns="0" rIns="0" bIns="0" anchor="t" anchorCtr="0"/>
            <a:lstStyle/>
            <a:p>
              <a:pPr algn="l">
                <a:lnSpc>
                  <a:spcPts val="1875"/>
                </a:lnSpc>
              </a:pPr>
              <a:r>
                <a:rPr lang="zh-CN" sz="1050" dirty="0">
                  <a:solidFill>
                    <a:srgbClr val="212529"/>
                  </a:solidFill>
                  <a:latin typeface="Arial"/>
                  <a:ea typeface="Microsoft YaHei"/>
                  <a:cs typeface="Arial"/>
                </a:rPr>
                <a:t xml:space="preserve">Lorem ipsum dolor sit amet, consectetur adipiscing elit. Sed do </a:t>
              </a:r>
              <a:r>
                <a:rPr lang="zh-CN" sz="1050" dirty="0">
                  <a:solidFill>
                    <a:srgbClr val="212529"/>
                  </a:solidFill>
                  <a:latin typeface="Arial"/>
                  <a:ea typeface="Microsoft YaHei"/>
                  <a:cs typeface="Arial"/>
                </a:rPr>
                <a:t xml:space="preserve">eiusmod tempor incididunt ut labore et dolore magna aliqua. Ut </a:t>
              </a:r>
              <a:r>
                <a:rPr lang="zh-CN" sz="1050" dirty="0">
                  <a:solidFill>
                    <a:srgbClr val="212529"/>
                  </a:solidFill>
                  <a:latin typeface="Arial"/>
                  <a:ea typeface="Microsoft YaHei"/>
                  <a:cs typeface="Arial"/>
                </a:rPr>
                <a:t xml:space="preserve">enim ad minim veniam, quis nostrud exercitation ullamco laboris </a:t>
              </a:r>
              <a:r>
                <a:rPr lang="zh-CN" sz="1050" dirty="0">
                  <a:solidFill>
                    <a:srgbClr val="212529"/>
                  </a:solidFill>
                  <a:latin typeface="Arial"/>
                  <a:ea typeface="Microsoft YaHei"/>
                  <a:cs typeface="Arial"/>
                </a:rPr>
                <a:t xml:space="preserve">nisi ut aliquip ex ea commodo consequat. Duis aute irure dolor in </a:t>
              </a:r>
              <a:r>
                <a:rPr lang="zh-CN" sz="1050" dirty="0">
                  <a:solidFill>
                    <a:srgbClr val="212529"/>
                  </a:solidFill>
                  <a:latin typeface="Arial"/>
                  <a:ea typeface="Microsoft YaHei"/>
                  <a:cs typeface="Arial"/>
                </a:rPr>
                <a:t xml:space="preserve">reprehenderit in voluptate velit esse cillum dolore eu fugiat nulla </a:t>
              </a:r>
              <a:r>
                <a:rPr lang="zh-CN" sz="1050" dirty="0">
                  <a:solidFill>
                    <a:srgbClr val="212529"/>
                  </a:solidFill>
                  <a:latin typeface="Arial"/>
                  <a:ea typeface="Microsoft YaHei"/>
                  <a:cs typeface="Arial"/>
                </a:rPr>
                <a:t xml:space="preserve">pariatur. Excepteur sint occaecat cupidatat non proident, sunt in </a:t>
              </a:r>
              <a:r>
                <a:rPr lang="zh-CN" sz="1050" dirty="0">
                  <a:solidFill>
                    <a:srgbClr val="212529"/>
                  </a:solidFill>
                  <a:latin typeface="Arial"/>
                  <a:ea typeface="Microsoft YaHei"/>
                  <a:cs typeface="Arial"/>
                </a:rPr>
                <a:t xml:space="preserve">culpa qui officia deserunt mollit anim id est laborum. Curabitur </a:t>
              </a:r>
              <a:r>
                <a:rPr lang="zh-CN" sz="1050" dirty="0">
                  <a:solidFill>
                    <a:srgbClr val="212529"/>
                  </a:solidFill>
                  <a:latin typeface="Arial"/>
                  <a:ea typeface="Microsoft YaHei"/>
                  <a:cs typeface="Arial"/>
                </a:rPr>
                <a:t xml:space="preserve">pretium tincidunt lacus. Nulla gravida orci a odio. Nullam varius, </a:t>
              </a:r>
              <a:r>
                <a:rPr lang="zh-CN" sz="1050" dirty="0">
                  <a:solidFill>
                    <a:srgbClr val="212529"/>
                  </a:solidFill>
                  <a:latin typeface="Arial"/>
                  <a:ea typeface="Microsoft YaHei"/>
                  <a:cs typeface="Arial"/>
                </a:rPr>
                <a:t xml:space="preserve">turpis et commodo pharetra, est eros bibendum elit, nec luctus </a:t>
              </a:r>
              <a:r>
                <a:rPr lang="zh-CN" sz="1050" dirty="0">
                  <a:solidFill>
                    <a:srgbClr val="212529"/>
                  </a:solidFill>
                  <a:latin typeface="Arial"/>
                  <a:ea typeface="Microsoft YaHei"/>
                  <a:cs typeface="Arial"/>
                </a:rPr>
                <a:t xml:space="preserve">magna felis sollicitudin mauris. Integer in mauris eu nibh euismod </a:t>
              </a:r>
              <a:r>
                <a:rPr lang="zh-CN" sz="1050" dirty="0">
                  <a:solidFill>
                    <a:srgbClr val="212529"/>
                  </a:solidFill>
                  <a:latin typeface="Arial"/>
                  <a:ea typeface="Microsoft YaHei"/>
                  <a:cs typeface="Arial"/>
                </a:rPr>
                <a:t xml:space="preserve">gravida. Duis ac tellus et risus vulputate vehicula. Donec lobortis </a:t>
              </a:r>
              <a:r>
                <a:rPr lang="zh-CN" sz="1050" dirty="0">
                  <a:solidFill>
                    <a:srgbClr val="212529"/>
                  </a:solidFill>
                  <a:latin typeface="Arial"/>
                  <a:ea typeface="Microsoft YaHei"/>
                  <a:cs typeface="Arial"/>
                </a:rPr>
                <a:t>risus a elit. Etiam tempor. Ut ullamcorper, ligula eu tempor</a:t>
              </a:r>
            </a:p>
          </p:txBody>
        </p:sp>
      </p:grpSp>
      <p:grpSp>
        <p:nvGrpSpPr>
          <p:cNvPr id="16" name="Group 16"/>
          <p:cNvGrpSpPr/>
          <p:nvPr/>
        </p:nvGrpSpPr>
        <p:grpSpPr>
          <a:xfrm>
            <a:off x="6286500" y="1905000"/>
            <a:ext cx="5334000" cy="3481387"/>
            <a:chOff x="6286500" y="1905000"/>
            <a:chExt cx="5334000" cy="3481387"/>
          </a:xfrm>
        </p:grpSpPr>
        <p:sp>
          <p:nvSpPr>
            <p:cNvPr id="13" name="Rectangle 13"/>
            <p:cNvSpPr/>
            <p:nvPr/>
          </p:nvSpPr>
          <p:spPr>
            <a:xfrm>
              <a:off x="6286500" y="1905000"/>
              <a:ext cx="5334000" cy="3429000"/>
            </a:xfrm>
            <a:prstGeom prst="roundRect">
              <a:avLst>
                <a:gd name="adj" fmla="val 2222"/>
              </a:avLst>
            </a:prstGeom>
            <a:solidFill>
              <a:srgbClr val="FFFFFF"/>
            </a:solidFill>
            <a:ln w="14288">
              <a:solidFill>
                <a:srgbClr val="DEE2E6"/>
              </a:solidFill>
            </a:ln>
          </p:spPr>
        </p:sp>
        <p:sp>
          <p:nvSpPr>
            <p:cNvPr id="14" name="TextBox 14"/>
            <p:cNvSpPr txBox="1"/>
            <p:nvPr/>
          </p:nvSpPr>
          <p:spPr>
            <a:xfrm>
              <a:off x="6503670" y="2188845"/>
              <a:ext cx="1187005"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TEXT_PANEL // RIGHT</a:t>
              </a:r>
            </a:p>
          </p:txBody>
        </p:sp>
        <p:sp>
          <p:nvSpPr>
            <p:cNvPr id="15" name="TextBox 15"/>
            <p:cNvSpPr txBox="1"/>
            <p:nvPr/>
          </p:nvSpPr>
          <p:spPr>
            <a:xfrm>
              <a:off x="6501765" y="2553652"/>
              <a:ext cx="4360545" cy="2832735"/>
            </a:xfrm>
            <a:prstGeom prst="rect">
              <a:avLst/>
            </a:prstGeom>
            <a:noFill/>
            <a:ln>
              <a:noFill/>
            </a:ln>
          </p:spPr>
          <p:txBody>
            <a:bodyPr wrap="square" lIns="0" tIns="0" rIns="0" bIns="0" anchor="t" anchorCtr="0"/>
            <a:lstStyle/>
            <a:p>
              <a:pPr algn="l">
                <a:lnSpc>
                  <a:spcPts val="1875"/>
                </a:lnSpc>
              </a:pPr>
              <a:r>
                <a:rPr lang="zh-CN" sz="1050" dirty="0">
                  <a:solidFill>
                    <a:srgbClr val="212529"/>
                  </a:solidFill>
                  <a:latin typeface="Arial"/>
                  <a:ea typeface="Microsoft YaHei"/>
                  <a:cs typeface="Arial"/>
                </a:rPr>
                <a:t xml:space="preserve">Lorem ipsum dolor sit amet, consectetur adipiscing elit. Sed do </a:t>
              </a:r>
              <a:r>
                <a:rPr lang="zh-CN" sz="1050" dirty="0">
                  <a:solidFill>
                    <a:srgbClr val="212529"/>
                  </a:solidFill>
                  <a:latin typeface="Arial"/>
                  <a:ea typeface="Microsoft YaHei"/>
                  <a:cs typeface="Arial"/>
                </a:rPr>
                <a:t xml:space="preserve">eiusmod tempor incididunt ut labore et dolore magna aliqua. Ut </a:t>
              </a:r>
              <a:r>
                <a:rPr lang="zh-CN" sz="1050" dirty="0">
                  <a:solidFill>
                    <a:srgbClr val="212529"/>
                  </a:solidFill>
                  <a:latin typeface="Arial"/>
                  <a:ea typeface="Microsoft YaHei"/>
                  <a:cs typeface="Arial"/>
                </a:rPr>
                <a:t xml:space="preserve">enim ad minim veniam, quis nostrud exercitation ullamco laboris </a:t>
              </a:r>
              <a:r>
                <a:rPr lang="zh-CN" sz="1050" dirty="0">
                  <a:solidFill>
                    <a:srgbClr val="212529"/>
                  </a:solidFill>
                  <a:latin typeface="Arial"/>
                  <a:ea typeface="Microsoft YaHei"/>
                  <a:cs typeface="Arial"/>
                </a:rPr>
                <a:t xml:space="preserve">nisi ut aliquip ex ea commodo consequat. Duis aute irure dolor in </a:t>
              </a:r>
              <a:r>
                <a:rPr lang="zh-CN" sz="1050" dirty="0">
                  <a:solidFill>
                    <a:srgbClr val="212529"/>
                  </a:solidFill>
                  <a:latin typeface="Arial"/>
                  <a:ea typeface="Microsoft YaHei"/>
                  <a:cs typeface="Arial"/>
                </a:rPr>
                <a:t xml:space="preserve">reprehenderit in voluptate velit esse cillum dolore eu fugiat nulla </a:t>
              </a:r>
              <a:r>
                <a:rPr lang="zh-CN" sz="1050" dirty="0">
                  <a:solidFill>
                    <a:srgbClr val="212529"/>
                  </a:solidFill>
                  <a:latin typeface="Arial"/>
                  <a:ea typeface="Microsoft YaHei"/>
                  <a:cs typeface="Arial"/>
                </a:rPr>
                <a:t xml:space="preserve">pariatur. Excepteur sint occaecat cupidatat non proident, sunt in </a:t>
              </a:r>
              <a:r>
                <a:rPr lang="zh-CN" sz="1050" dirty="0">
                  <a:solidFill>
                    <a:srgbClr val="212529"/>
                  </a:solidFill>
                  <a:latin typeface="Arial"/>
                  <a:ea typeface="Microsoft YaHei"/>
                  <a:cs typeface="Arial"/>
                </a:rPr>
                <a:t xml:space="preserve">culpa qui officia deserunt mollit anim id est laborum. Curabitur </a:t>
              </a:r>
              <a:r>
                <a:rPr lang="zh-CN" sz="1050" dirty="0">
                  <a:solidFill>
                    <a:srgbClr val="212529"/>
                  </a:solidFill>
                  <a:latin typeface="Arial"/>
                  <a:ea typeface="Microsoft YaHei"/>
                  <a:cs typeface="Arial"/>
                </a:rPr>
                <a:t xml:space="preserve">pretium tincidunt lacus. Nulla gravida orci a odio. Nullam varius, </a:t>
              </a:r>
              <a:r>
                <a:rPr lang="zh-CN" sz="1050" dirty="0">
                  <a:solidFill>
                    <a:srgbClr val="212529"/>
                  </a:solidFill>
                  <a:latin typeface="Arial"/>
                  <a:ea typeface="Microsoft YaHei"/>
                  <a:cs typeface="Arial"/>
                </a:rPr>
                <a:t xml:space="preserve">turpis et commodo pharetra, est eros bibendum elit, nec luctus </a:t>
              </a:r>
              <a:r>
                <a:rPr lang="zh-CN" sz="1050" dirty="0">
                  <a:solidFill>
                    <a:srgbClr val="212529"/>
                  </a:solidFill>
                  <a:latin typeface="Arial"/>
                  <a:ea typeface="Microsoft YaHei"/>
                  <a:cs typeface="Arial"/>
                </a:rPr>
                <a:t xml:space="preserve">magna felis sollicitudin mauris. Integer in mauris eu nibh euismod </a:t>
              </a:r>
              <a:r>
                <a:rPr lang="zh-CN" sz="1050" dirty="0">
                  <a:solidFill>
                    <a:srgbClr val="212529"/>
                  </a:solidFill>
                  <a:latin typeface="Arial"/>
                  <a:ea typeface="Microsoft YaHei"/>
                  <a:cs typeface="Arial"/>
                </a:rPr>
                <a:t xml:space="preserve">gravida. Duis ac tellus et risus vulputate vehicula. Donec lobortis </a:t>
              </a:r>
              <a:r>
                <a:rPr lang="zh-CN" sz="1050" dirty="0">
                  <a:solidFill>
                    <a:srgbClr val="212529"/>
                  </a:solidFill>
                  <a:latin typeface="Arial"/>
                  <a:ea typeface="Microsoft YaHei"/>
                  <a:cs typeface="Arial"/>
                </a:rPr>
                <a:t>risus a elit. Etiam tempor. Ut ullamcorper, ligula eu tempor</a:t>
              </a:r>
            </a:p>
          </p:txBody>
        </p:sp>
      </p:grpSp>
      <p:grpSp>
        <p:nvGrpSpPr>
          <p:cNvPr id="18" name="Group 18"/>
          <p:cNvGrpSpPr/>
          <p:nvPr/>
        </p:nvGrpSpPr>
        <p:grpSpPr>
          <a:xfrm>
            <a:off x="2617232" y="5601652"/>
            <a:ext cx="6957536" cy="213360"/>
            <a:chOff x="2617232" y="5601652"/>
            <a:chExt cx="6957536" cy="213360"/>
          </a:xfrm>
        </p:grpSpPr>
        <p:sp>
          <p:nvSpPr>
            <p:cNvPr id="17" name="TextBox 17"/>
            <p:cNvSpPr txBox="1"/>
            <p:nvPr/>
          </p:nvSpPr>
          <p:spPr>
            <a:xfrm>
              <a:off x="2617232" y="5601652"/>
              <a:ext cx="6957536"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*Projector focus check! If letters look blurry or have color halos, adjust the lens focus immediately.</a:t>
              </a:r>
            </a:p>
          </p:txBody>
        </p:sp>
      </p:grpSp>
      <p:grpSp>
        <p:nvGrpSpPr>
          <p:cNvPr id="22" name="Group 22"/>
          <p:cNvGrpSpPr/>
          <p:nvPr/>
        </p:nvGrpSpPr>
        <p:grpSpPr>
          <a:xfrm>
            <a:off x="560070" y="6238875"/>
            <a:ext cx="11071860" cy="323850"/>
            <a:chOff x="560070" y="6238875"/>
            <a:chExt cx="11071860" cy="323850"/>
          </a:xfrm>
        </p:grpSpPr>
        <p:sp>
          <p:nvSpPr>
            <p:cNvPr id="19" name="Line 19"/>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20" name="TextBox 20"/>
            <p:cNvSpPr txBox="1"/>
            <p:nvPr/>
          </p:nvSpPr>
          <p:spPr>
            <a:xfrm>
              <a:off x="560070" y="6379845"/>
              <a:ext cx="228514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FOCUS_CHECK: LETTERS_MUST_BE_SHARP</a:t>
              </a:r>
            </a:p>
          </p:txBody>
        </p:sp>
        <p:sp>
          <p:nvSpPr>
            <p:cNvPr id="21" name="TextBox 21"/>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PAGE_10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400"/>
                                        <p:tgtEl>
                                          <p:spTgt spid="1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lide(fromBottom)">
                                      <p:cBhvr>
                                        <p:cTn id="15" dur="400"/>
                                        <p:tgtEl>
                                          <p:spTgt spid="1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919097"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SYS.MEDIA_DECODE_LOCAL // P11</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5602224" cy="691515"/>
            <a:chOff x="537210" y="1042035"/>
            <a:chExt cx="5602224" cy="691515"/>
          </a:xfrm>
        </p:grpSpPr>
        <p:sp>
          <p:nvSpPr>
            <p:cNvPr id="6" name="TextBox 6"/>
            <p:cNvSpPr txBox="1"/>
            <p:nvPr/>
          </p:nvSpPr>
          <p:spPr>
            <a:xfrm>
              <a:off x="537210" y="1042035"/>
              <a:ext cx="5342339"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Audio &amp; Video: Local Playback</a:t>
              </a:r>
            </a:p>
          </p:txBody>
        </p:sp>
        <p:sp>
          <p:nvSpPr>
            <p:cNvPr id="7" name="TextBox 7"/>
            <p:cNvSpPr txBox="1"/>
            <p:nvPr/>
          </p:nvSpPr>
          <p:spPr>
            <a:xfrm>
              <a:off x="556260" y="1489710"/>
              <a:ext cx="5583174"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Verification of local hardware decoders and audio rendering endpoints.</a:t>
              </a:r>
            </a:p>
          </p:txBody>
        </p:sp>
      </p:grpSp>
      <p:grpSp>
        <p:nvGrpSpPr>
          <p:cNvPr id="22" name="Group 22"/>
          <p:cNvGrpSpPr/>
          <p:nvPr/>
        </p:nvGrpSpPr>
        <p:grpSpPr>
          <a:xfrm>
            <a:off x="571500" y="1905000"/>
            <a:ext cx="6477000" cy="3619500"/>
            <a:chOff x="571500" y="1905000"/>
            <a:chExt cx="6477000" cy="3619500"/>
          </a:xfrm>
        </p:grpSpPr>
        <p:sp>
          <p:nvSpPr>
            <p:cNvPr id="9" name="Rectangle 9"/>
            <p:cNvSpPr/>
            <p:nvPr/>
          </p:nvSpPr>
          <p:spPr>
            <a:xfrm>
              <a:off x="571500" y="1905000"/>
              <a:ext cx="6477000" cy="3619500"/>
            </a:xfrm>
            <a:prstGeom prst="roundRect">
              <a:avLst>
                <a:gd name="adj" fmla="val 2105"/>
              </a:avLst>
            </a:prstGeom>
            <a:solidFill>
              <a:srgbClr val="FFFFFF"/>
            </a:solidFill>
            <a:ln w="14288">
              <a:solidFill>
                <a:srgbClr val="DEE2E6"/>
              </a:solidFill>
            </a:ln>
          </p:spPr>
        </p:sp>
        <p:pic>
          <p:nvPicPr>
            <p:cNvPr id="10" name="Image 10"/>
            <p:cNvPicPr>
              <a:picLocks noChangeAspect="1"/>
            </p:cNvPicPr>
            <p:nvPr/>
          </p:nvPicPr>
          <p:blipFill>
            <a:blip r:embed="rId2"/>
            <a:srcRect l="1111" t="0" r="1111" b="0"/>
            <a:stretch>
              <a:fillRect/>
            </a:stretch>
          </p:blipFill>
          <p:spPr>
            <a:xfrm>
              <a:off x="762000" y="2095500"/>
              <a:ext cx="6096000" cy="2857500"/>
            </a:xfrm>
            <a:prstGeom prst="roundRect">
              <a:avLst>
                <a:gd name="adj" fmla="val 2000"/>
              </a:avLst>
            </a:prstGeom>
          </p:spPr>
        </p:pic>
        <p:sp>
          <p:nvSpPr>
            <p:cNvPr id="11" name="Rectangle 11"/>
            <p:cNvSpPr/>
            <p:nvPr/>
          </p:nvSpPr>
          <p:spPr>
            <a:xfrm>
              <a:off x="762000" y="2095500"/>
              <a:ext cx="6096000" cy="2857500"/>
            </a:xfrm>
            <a:prstGeom prst="roundRect">
              <a:avLst>
                <a:gd name="adj" fmla="val 2000"/>
              </a:avLst>
            </a:prstGeom>
            <a:solidFill>
              <a:srgbClr val="0F2C59">
                <a:alpha val="10000"/>
              </a:srgbClr>
            </a:solidFill>
            <a:ln w="9525">
              <a:solidFill>
                <a:srgbClr val="DEE2E6"/>
              </a:solidFill>
            </a:ln>
          </p:spPr>
        </p:sp>
        <p:sp>
          <p:nvSpPr>
            <p:cNvPr id="12" name="Rectangle 12"/>
            <p:cNvSpPr/>
            <p:nvPr/>
          </p:nvSpPr>
          <p:spPr>
            <a:xfrm>
              <a:off x="952500" y="4238625"/>
              <a:ext cx="5715000" cy="57150"/>
            </a:xfrm>
            <a:prstGeom prst="roundRect">
              <a:avLst>
                <a:gd name="adj" fmla="val 50000"/>
              </a:avLst>
            </a:prstGeom>
            <a:solidFill>
              <a:srgbClr val="FFFFFF">
                <a:alpha val="70000"/>
              </a:srgbClr>
            </a:solidFill>
            <a:ln>
              <a:noFill/>
            </a:ln>
          </p:spPr>
        </p:sp>
        <p:sp>
          <p:nvSpPr>
            <p:cNvPr id="13" name="Rectangle 13"/>
            <p:cNvSpPr/>
            <p:nvPr/>
          </p:nvSpPr>
          <p:spPr>
            <a:xfrm>
              <a:off x="952500" y="4238625"/>
              <a:ext cx="2286000" cy="57150"/>
            </a:xfrm>
            <a:prstGeom prst="roundRect">
              <a:avLst>
                <a:gd name="adj" fmla="val 50000"/>
              </a:avLst>
            </a:prstGeom>
            <a:solidFill>
              <a:srgbClr val="0F2C59"/>
            </a:solidFill>
            <a:ln>
              <a:noFill/>
            </a:ln>
          </p:spPr>
        </p:sp>
        <p:sp>
          <p:nvSpPr>
            <p:cNvPr id="14" name="Ellipse 14"/>
            <p:cNvSpPr/>
            <p:nvPr/>
          </p:nvSpPr>
          <p:spPr>
            <a:xfrm>
              <a:off x="3181350" y="4210050"/>
              <a:ext cx="114300" cy="114300"/>
            </a:xfrm>
            <a:prstGeom prst="ellipse">
              <a:avLst/>
            </a:prstGeom>
            <a:solidFill>
              <a:srgbClr val="0F2C59"/>
            </a:solidFill>
            <a:ln>
              <a:noFill/>
            </a:ln>
          </p:spPr>
        </p:sp>
        <p:sp>
          <p:nvSpPr>
            <p:cNvPr id="15" name="Ellipse 15"/>
            <p:cNvSpPr/>
            <p:nvPr/>
          </p:nvSpPr>
          <p:spPr>
            <a:xfrm>
              <a:off x="3505200" y="3219450"/>
              <a:ext cx="609600" cy="609600"/>
            </a:xfrm>
            <a:prstGeom prst="ellipse">
              <a:avLst/>
            </a:prstGeom>
            <a:solidFill>
              <a:srgbClr val="0F2C59">
                <a:alpha val="85000"/>
              </a:srgbClr>
            </a:solidFill>
            <a:ln>
              <a:noFill/>
            </a:ln>
          </p:spPr>
        </p:sp>
        <p:sp>
          <p:nvSpPr>
            <p:cNvPr id="16" name="Polygon 16"/>
            <p:cNvSpPr/>
            <p:nvPr/>
          </p:nvSpPr>
          <p:spPr>
            <a:xfrm>
              <a:off x="3733800" y="3390900"/>
              <a:ext cx="209550" cy="266700"/>
            </a:xfrm>
            <a:custGeom>
              <a:avLst/>
              <a:gdLst/>
              <a:ahLst/>
              <a:cxnLst/>
              <a:rect l="l" t="t" r="r" b="b"/>
              <a:pathLst>
                <a:path w="209550" h="266700">
                  <a:moveTo>
                    <a:pt x="0" y="0"/>
                  </a:moveTo>
                  <a:lnTo>
                    <a:pt x="209550" y="133350"/>
                  </a:lnTo>
                  <a:lnTo>
                    <a:pt x="0" y="266700"/>
                  </a:lnTo>
                  <a:close/>
                </a:path>
              </a:pathLst>
            </a:custGeom>
            <a:solidFill>
              <a:srgbClr val="FFFFFF"/>
            </a:solidFill>
            <a:ln>
              <a:noFill/>
            </a:ln>
          </p:spPr>
        </p:sp>
        <p:grpSp>
          <p:nvGrpSpPr>
            <p:cNvPr id="20" name="Group 20"/>
            <p:cNvGrpSpPr/>
            <p:nvPr/>
          </p:nvGrpSpPr>
          <p:grpSpPr>
            <a:xfrm>
              <a:off x="976312" y="4555986"/>
              <a:ext cx="143218" cy="127278"/>
              <a:chOff x="976312" y="4555986"/>
              <a:chExt cx="143218" cy="127278"/>
            </a:xfrm>
          </p:grpSpPr>
          <p:sp>
            <p:nvSpPr>
              <p:cNvPr id="17" name="Freeform 17"/>
              <p:cNvSpPr/>
              <p:nvPr/>
            </p:nvSpPr>
            <p:spPr>
              <a:xfrm>
                <a:off x="1071562" y="4587875"/>
                <a:ext cx="15875" cy="63500"/>
              </a:xfrm>
              <a:custGeom>
                <a:avLst/>
                <a:gdLst/>
                <a:ahLst/>
                <a:cxnLst/>
                <a:rect l="l" t="t" r="r" b="b"/>
                <a:pathLst>
                  <a:path w="15875" h="63500">
                    <a:moveTo>
                      <a:pt x="0" y="0"/>
                    </a:moveTo>
                    <a:cubicBezTo>
                      <a:pt x="9994" y="7495"/>
                      <a:pt x="15875" y="19258"/>
                      <a:pt x="15875" y="31750"/>
                    </a:cubicBezTo>
                    <a:cubicBezTo>
                      <a:pt x="15875" y="44242"/>
                      <a:pt x="9994" y="56005"/>
                      <a:pt x="0" y="63500"/>
                    </a:cubicBezTo>
                  </a:path>
                </a:pathLst>
              </a:custGeom>
              <a:noFill/>
              <a:ln w="19050">
                <a:solidFill>
                  <a:srgbClr val="0F2C59"/>
                </a:solidFill>
              </a:ln>
            </p:spPr>
          </p:sp>
          <p:sp>
            <p:nvSpPr>
              <p:cNvPr id="18" name="Freeform 18"/>
              <p:cNvSpPr/>
              <p:nvPr/>
            </p:nvSpPr>
            <p:spPr>
              <a:xfrm>
                <a:off x="1092994" y="4564062"/>
                <a:ext cx="26536" cy="111125"/>
              </a:xfrm>
              <a:custGeom>
                <a:avLst/>
                <a:gdLst/>
                <a:ahLst/>
                <a:cxnLst/>
                <a:rect l="l" t="t" r="r" b="b"/>
                <a:pathLst>
                  <a:path w="26536" h="111125">
                    <a:moveTo>
                      <a:pt x="0" y="0"/>
                    </a:moveTo>
                    <a:cubicBezTo>
                      <a:pt x="16783" y="13563"/>
                      <a:pt x="26536" y="33984"/>
                      <a:pt x="26536" y="55562"/>
                    </a:cubicBezTo>
                    <a:cubicBezTo>
                      <a:pt x="26536" y="77141"/>
                      <a:pt x="16783" y="97562"/>
                      <a:pt x="0" y="111125"/>
                    </a:cubicBezTo>
                  </a:path>
                </a:pathLst>
              </a:custGeom>
              <a:noFill/>
              <a:ln w="19050">
                <a:solidFill>
                  <a:srgbClr val="0F2C59"/>
                </a:solidFill>
              </a:ln>
            </p:spPr>
          </p:sp>
          <p:sp>
            <p:nvSpPr>
              <p:cNvPr id="19" name="Freeform 19"/>
              <p:cNvSpPr/>
              <p:nvPr/>
            </p:nvSpPr>
            <p:spPr>
              <a:xfrm>
                <a:off x="976312" y="4555986"/>
                <a:ext cx="64024" cy="127278"/>
              </a:xfrm>
              <a:custGeom>
                <a:avLst/>
                <a:gdLst/>
                <a:ahLst/>
                <a:cxnLst/>
                <a:rect l="l" t="t" r="r" b="b"/>
                <a:pathLst>
                  <a:path w="64024" h="127278">
                    <a:moveTo>
                      <a:pt x="23812" y="87452"/>
                    </a:moveTo>
                    <a:lnTo>
                      <a:pt x="7937" y="87452"/>
                    </a:lnTo>
                    <a:cubicBezTo>
                      <a:pt x="3554" y="87452"/>
                      <a:pt x="0" y="83898"/>
                      <a:pt x="0" y="79514"/>
                    </a:cubicBezTo>
                    <a:lnTo>
                      <a:pt x="0" y="47764"/>
                    </a:lnTo>
                    <a:cubicBezTo>
                      <a:pt x="0" y="43380"/>
                      <a:pt x="3554" y="39827"/>
                      <a:pt x="7937" y="39827"/>
                    </a:cubicBezTo>
                    <a:lnTo>
                      <a:pt x="23812" y="39827"/>
                    </a:lnTo>
                    <a:lnTo>
                      <a:pt x="51594" y="4108"/>
                    </a:lnTo>
                    <a:cubicBezTo>
                      <a:pt x="53027" y="1324"/>
                      <a:pt x="56277" y="0"/>
                      <a:pt x="59248" y="990"/>
                    </a:cubicBezTo>
                    <a:cubicBezTo>
                      <a:pt x="62218" y="1981"/>
                      <a:pt x="64024" y="4989"/>
                      <a:pt x="63500" y="8077"/>
                    </a:cubicBezTo>
                    <a:lnTo>
                      <a:pt x="63500" y="119202"/>
                    </a:lnTo>
                    <a:cubicBezTo>
                      <a:pt x="64024" y="122289"/>
                      <a:pt x="62218" y="125298"/>
                      <a:pt x="59248" y="126288"/>
                    </a:cubicBezTo>
                    <a:cubicBezTo>
                      <a:pt x="56277" y="127278"/>
                      <a:pt x="53027" y="125955"/>
                      <a:pt x="51594" y="123170"/>
                    </a:cubicBezTo>
                    <a:lnTo>
                      <a:pt x="23812" y="87452"/>
                    </a:lnTo>
                  </a:path>
                </a:pathLst>
              </a:custGeom>
              <a:noFill/>
              <a:ln w="19050">
                <a:solidFill>
                  <a:srgbClr val="0F2C59"/>
                </a:solidFill>
              </a:ln>
            </p:spPr>
          </p:sp>
        </p:grpSp>
        <p:sp>
          <p:nvSpPr>
            <p:cNvPr id="21" name="TextBox 21"/>
            <p:cNvSpPr txBox="1"/>
            <p:nvPr/>
          </p:nvSpPr>
          <p:spPr>
            <a:xfrm>
              <a:off x="1226820" y="4570095"/>
              <a:ext cx="2133624" cy="182880"/>
            </a:xfrm>
            <a:prstGeom prst="rect">
              <a:avLst/>
            </a:prstGeom>
            <a:noFill/>
            <a:ln>
              <a:noFill/>
            </a:ln>
          </p:spPr>
          <p:txBody>
            <a:bodyPr wrap="none" lIns="0" tIns="0" rIns="0" bIns="0" anchor="t" anchorCtr="0">
              <a:spAutoFit/>
            </a:bodyPr>
            <a:lstStyle/>
            <a:p>
              <a:pPr algn="l"/>
              <a:r>
                <a:rPr lang="zh-CN" sz="900" b="1" dirty="0">
                  <a:solidFill>
                    <a:srgbClr val="0F2C59"/>
                  </a:solidFill>
                  <a:latin typeface="Consolas"/>
                  <a:ea typeface="Microsoft YaHei"/>
                  <a:cs typeface="Consolas"/>
                </a:rPr>
                <a:t>AUDIO_TRACK: ACTIVE (STEREO 2.0)</a:t>
              </a:r>
            </a:p>
          </p:txBody>
        </p:sp>
      </p:grpSp>
      <p:grpSp>
        <p:nvGrpSpPr>
          <p:cNvPr id="32" name="Group 32"/>
          <p:cNvGrpSpPr/>
          <p:nvPr/>
        </p:nvGrpSpPr>
        <p:grpSpPr>
          <a:xfrm>
            <a:off x="7334250" y="1905000"/>
            <a:ext cx="4286250" cy="3619500"/>
            <a:chOff x="7334250" y="1905000"/>
            <a:chExt cx="4286250" cy="3619500"/>
          </a:xfrm>
        </p:grpSpPr>
        <p:sp>
          <p:nvSpPr>
            <p:cNvPr id="23" name="Rectangle 23"/>
            <p:cNvSpPr/>
            <p:nvPr/>
          </p:nvSpPr>
          <p:spPr>
            <a:xfrm>
              <a:off x="7334250" y="1905000"/>
              <a:ext cx="4286250" cy="3619500"/>
            </a:xfrm>
            <a:prstGeom prst="roundRect">
              <a:avLst>
                <a:gd name="adj" fmla="val 2105"/>
              </a:avLst>
            </a:prstGeom>
            <a:solidFill>
              <a:srgbClr val="FFFFFF"/>
            </a:solidFill>
            <a:ln w="14288">
              <a:solidFill>
                <a:srgbClr val="DEE2E6"/>
              </a:solidFill>
            </a:ln>
          </p:spPr>
        </p:sp>
        <p:sp>
          <p:nvSpPr>
            <p:cNvPr id="24" name="TextBox 24"/>
            <p:cNvSpPr txBox="1"/>
            <p:nvPr/>
          </p:nvSpPr>
          <p:spPr>
            <a:xfrm>
              <a:off x="7551420" y="2188845"/>
              <a:ext cx="172707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LOCAL_PLAYBACK // DECODE_A</a:t>
              </a:r>
            </a:p>
          </p:txBody>
        </p:sp>
        <p:sp>
          <p:nvSpPr>
            <p:cNvPr id="25" name="TextBox 25"/>
            <p:cNvSpPr txBox="1"/>
            <p:nvPr/>
          </p:nvSpPr>
          <p:spPr>
            <a:xfrm>
              <a:off x="7541895" y="2441258"/>
              <a:ext cx="2744948" cy="335280"/>
            </a:xfrm>
            <a:prstGeom prst="rect">
              <a:avLst/>
            </a:prstGeom>
            <a:noFill/>
            <a:ln>
              <a:noFill/>
            </a:ln>
          </p:spPr>
          <p:txBody>
            <a:bodyPr wrap="none" lIns="0" tIns="0" rIns="0" bIns="0" anchor="t" anchorCtr="0">
              <a:spAutoFit/>
            </a:bodyPr>
            <a:lstStyle/>
            <a:p>
              <a:pPr algn="l"/>
              <a:r>
                <a:rPr lang="zh-CN" sz="1650" b="1" dirty="0">
                  <a:solidFill>
                    <a:srgbClr val="0F2C59"/>
                  </a:solidFill>
                  <a:latin typeface="Arial"/>
                  <a:ea typeface="Microsoft YaHei"/>
                  <a:cs typeface="Arial"/>
                </a:rPr>
                <a:t>Local Asset Verification</a:t>
              </a:r>
            </a:p>
          </p:txBody>
        </p:sp>
        <p:sp>
          <p:nvSpPr>
            <p:cNvPr id="26" name="TextBox 26"/>
            <p:cNvSpPr txBox="1"/>
            <p:nvPr/>
          </p:nvSpPr>
          <p:spPr>
            <a:xfrm>
              <a:off x="7549515" y="2982278"/>
              <a:ext cx="3133725" cy="1165860"/>
            </a:xfrm>
            <a:prstGeom prst="rect">
              <a:avLst/>
            </a:prstGeom>
            <a:noFill/>
            <a:ln>
              <a:noFill/>
            </a:ln>
          </p:spPr>
          <p:txBody>
            <a:bodyPr wrap="square" lIns="0" tIns="0" rIns="0" bIns="0" anchor="t" anchorCtr="0"/>
            <a:lstStyle/>
            <a:p>
              <a:pPr algn="l">
                <a:lnSpc>
                  <a:spcPts val="1875"/>
                </a:lnSpc>
              </a:pPr>
              <a:r>
                <a:rPr lang="zh-CN" sz="1050" dirty="0">
                  <a:solidFill>
                    <a:srgbClr val="6C757D"/>
                  </a:solidFill>
                  <a:latin typeface="Arial"/>
                  <a:ea typeface="Microsoft YaHei"/>
                  <a:cs typeface="Arial"/>
                </a:rPr>
                <a:t xml:space="preserve">• Tests system audio routing &amp; device endpoints </a:t>
              </a:r>
              <a:r>
                <a:rPr lang="zh-CN" sz="1050" dirty="0">
                  <a:solidFill>
                    <a:srgbClr val="6C757D"/>
                  </a:solidFill>
                  <a:latin typeface="Arial"/>
                  <a:ea typeface="Microsoft YaHei"/>
                  <a:cs typeface="Arial"/>
                </a:rPr>
                <a:t xml:space="preserve">• Verifies GPU-accelerated video rendering </a:t>
              </a:r>
              <a:r>
                <a:rPr lang="zh-CN" sz="1050" dirty="0">
                  <a:solidFill>
                    <a:srgbClr val="6C757D"/>
                  </a:solidFill>
                  <a:latin typeface="Arial"/>
                  <a:ea typeface="Microsoft YaHei"/>
                  <a:cs typeface="Arial"/>
                </a:rPr>
                <a:t xml:space="preserve">• Container: MPEG-4 Part 14 (.mp4) </a:t>
              </a:r>
              <a:r>
                <a:rPr lang="zh-CN" sz="1050" dirty="0">
                  <a:solidFill>
                    <a:srgbClr val="6C757D"/>
                  </a:solidFill>
                  <a:latin typeface="Arial"/>
                  <a:ea typeface="Microsoft YaHei"/>
                  <a:cs typeface="Arial"/>
                </a:rPr>
                <a:t xml:space="preserve">• Resolution: 1920x1080 @ 60 FPS target </a:t>
              </a:r>
              <a:r>
                <a:rPr lang="zh-CN" sz="1050" dirty="0">
                  <a:solidFill>
                    <a:srgbClr val="6C757D"/>
                  </a:solidFill>
                  <a:latin typeface="Arial"/>
                  <a:ea typeface="Microsoft YaHei"/>
                  <a:cs typeface="Arial"/>
                </a:rPr>
                <a:t>• Sync: Local clock synchronization check</a:t>
              </a:r>
            </a:p>
          </p:txBody>
        </p:sp>
        <p:sp>
          <p:nvSpPr>
            <p:cNvPr id="27" name="Rectangle 27"/>
            <p:cNvSpPr/>
            <p:nvPr/>
          </p:nvSpPr>
          <p:spPr>
            <a:xfrm>
              <a:off x="7562850" y="4762500"/>
              <a:ext cx="2000250" cy="304800"/>
            </a:xfrm>
            <a:prstGeom prst="roundRect">
              <a:avLst>
                <a:gd name="adj" fmla="val 50000"/>
              </a:avLst>
            </a:prstGeom>
            <a:solidFill>
              <a:srgbClr val="008080">
                <a:alpha val="10000"/>
              </a:srgbClr>
            </a:solidFill>
            <a:ln>
              <a:noFill/>
            </a:ln>
          </p:spPr>
        </p:sp>
        <p:grpSp>
          <p:nvGrpSpPr>
            <p:cNvPr id="30" name="Group 30"/>
            <p:cNvGrpSpPr/>
            <p:nvPr/>
          </p:nvGrpSpPr>
          <p:grpSpPr>
            <a:xfrm>
              <a:off x="7735578" y="4839978"/>
              <a:ext cx="149844" cy="149844"/>
              <a:chOff x="7735578" y="4839978"/>
              <a:chExt cx="149844" cy="149844"/>
            </a:xfrm>
          </p:grpSpPr>
          <p:sp>
            <p:nvSpPr>
              <p:cNvPr id="28" name="Freeform 28"/>
              <p:cNvSpPr/>
              <p:nvPr/>
            </p:nvSpPr>
            <p:spPr>
              <a:xfrm>
                <a:off x="7735578" y="4839978"/>
                <a:ext cx="149844" cy="149844"/>
              </a:xfrm>
              <a:custGeom>
                <a:avLst/>
                <a:gdLst/>
                <a:ahLst/>
                <a:cxnLst/>
                <a:rect l="l" t="t" r="r" b="b"/>
                <a:pathLst>
                  <a:path w="149844" h="149844">
                    <a:moveTo>
                      <a:pt x="61627" y="13938"/>
                    </a:moveTo>
                    <a:cubicBezTo>
                      <a:pt x="65008" y="0"/>
                      <a:pt x="84836" y="0"/>
                      <a:pt x="88217" y="13938"/>
                    </a:cubicBezTo>
                    <a:cubicBezTo>
                      <a:pt x="89246" y="18185"/>
                      <a:pt x="92242" y="21685"/>
                      <a:pt x="96279" y="23358"/>
                    </a:cubicBezTo>
                    <a:cubicBezTo>
                      <a:pt x="100316" y="25031"/>
                      <a:pt x="104909" y="24675"/>
                      <a:pt x="108641" y="22400"/>
                    </a:cubicBezTo>
                    <a:cubicBezTo>
                      <a:pt x="120888" y="14938"/>
                      <a:pt x="134914" y="28956"/>
                      <a:pt x="127452" y="41211"/>
                    </a:cubicBezTo>
                    <a:cubicBezTo>
                      <a:pt x="125181" y="44941"/>
                      <a:pt x="124826" y="49531"/>
                      <a:pt x="126496" y="53565"/>
                    </a:cubicBezTo>
                    <a:cubicBezTo>
                      <a:pt x="128167" y="57600"/>
                      <a:pt x="131663" y="60595"/>
                      <a:pt x="135906" y="61627"/>
                    </a:cubicBezTo>
                    <a:cubicBezTo>
                      <a:pt x="149844" y="65008"/>
                      <a:pt x="149844" y="84836"/>
                      <a:pt x="135906" y="88217"/>
                    </a:cubicBezTo>
                    <a:cubicBezTo>
                      <a:pt x="131659" y="89246"/>
                      <a:pt x="128159" y="92242"/>
                      <a:pt x="126486" y="96279"/>
                    </a:cubicBezTo>
                    <a:cubicBezTo>
                      <a:pt x="124813" y="100316"/>
                      <a:pt x="125170" y="104909"/>
                      <a:pt x="127444" y="108641"/>
                    </a:cubicBezTo>
                    <a:cubicBezTo>
                      <a:pt x="134906" y="120888"/>
                      <a:pt x="120888" y="134914"/>
                      <a:pt x="108633" y="127452"/>
                    </a:cubicBezTo>
                    <a:cubicBezTo>
                      <a:pt x="104903" y="125181"/>
                      <a:pt x="100313" y="124826"/>
                      <a:pt x="96279" y="126496"/>
                    </a:cubicBezTo>
                    <a:cubicBezTo>
                      <a:pt x="92244" y="128167"/>
                      <a:pt x="89249" y="131663"/>
                      <a:pt x="88217" y="135906"/>
                    </a:cubicBezTo>
                    <a:cubicBezTo>
                      <a:pt x="84836" y="149844"/>
                      <a:pt x="65008" y="149844"/>
                      <a:pt x="61627" y="135906"/>
                    </a:cubicBezTo>
                    <a:cubicBezTo>
                      <a:pt x="60598" y="131659"/>
                      <a:pt x="57602" y="128159"/>
                      <a:pt x="53565" y="126486"/>
                    </a:cubicBezTo>
                    <a:cubicBezTo>
                      <a:pt x="49528" y="124813"/>
                      <a:pt x="44935" y="125170"/>
                      <a:pt x="41204" y="127445"/>
                    </a:cubicBezTo>
                    <a:cubicBezTo>
                      <a:pt x="28956" y="134906"/>
                      <a:pt x="14930" y="120888"/>
                      <a:pt x="22392" y="108633"/>
                    </a:cubicBezTo>
                    <a:cubicBezTo>
                      <a:pt x="24663" y="104903"/>
                      <a:pt x="25019" y="100313"/>
                      <a:pt x="23348" y="96279"/>
                    </a:cubicBezTo>
                    <a:cubicBezTo>
                      <a:pt x="21677" y="92244"/>
                      <a:pt x="18181" y="89249"/>
                      <a:pt x="13938" y="88217"/>
                    </a:cubicBezTo>
                    <a:cubicBezTo>
                      <a:pt x="0" y="84836"/>
                      <a:pt x="0" y="65008"/>
                      <a:pt x="13938" y="61627"/>
                    </a:cubicBezTo>
                    <a:cubicBezTo>
                      <a:pt x="18185" y="60598"/>
                      <a:pt x="21685" y="57602"/>
                      <a:pt x="23358" y="53565"/>
                    </a:cubicBezTo>
                    <a:cubicBezTo>
                      <a:pt x="25031" y="49528"/>
                      <a:pt x="24675" y="44935"/>
                      <a:pt x="22400" y="41204"/>
                    </a:cubicBezTo>
                    <a:cubicBezTo>
                      <a:pt x="14938" y="28956"/>
                      <a:pt x="28956" y="14930"/>
                      <a:pt x="41211" y="22392"/>
                    </a:cubicBezTo>
                    <a:cubicBezTo>
                      <a:pt x="49149" y="27218"/>
                      <a:pt x="59436" y="22947"/>
                      <a:pt x="61627" y="13938"/>
                    </a:cubicBezTo>
                  </a:path>
                </a:pathLst>
              </a:custGeom>
              <a:noFill/>
              <a:ln w="19050">
                <a:solidFill>
                  <a:srgbClr val="008080"/>
                </a:solidFill>
              </a:ln>
            </p:spPr>
          </p:sp>
          <p:sp>
            <p:nvSpPr>
              <p:cNvPr id="29" name="Freeform 29"/>
              <p:cNvSpPr/>
              <p:nvPr/>
            </p:nvSpPr>
            <p:spPr>
              <a:xfrm>
                <a:off x="7786688" y="4891088"/>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008080"/>
                </a:solidFill>
              </a:ln>
            </p:spPr>
          </p:sp>
        </p:grpSp>
        <p:sp>
          <p:nvSpPr>
            <p:cNvPr id="31" name="TextBox 31"/>
            <p:cNvSpPr txBox="1"/>
            <p:nvPr/>
          </p:nvSpPr>
          <p:spPr>
            <a:xfrm>
              <a:off x="7989570" y="4865370"/>
              <a:ext cx="1220010" cy="182880"/>
            </a:xfrm>
            <a:prstGeom prst="rect">
              <a:avLst/>
            </a:prstGeom>
            <a:noFill/>
            <a:ln>
              <a:noFill/>
            </a:ln>
          </p:spPr>
          <p:txBody>
            <a:bodyPr wrap="none" lIns="0" tIns="0" rIns="0" bIns="0" anchor="t" anchorCtr="0">
              <a:spAutoFit/>
            </a:bodyPr>
            <a:lstStyle/>
            <a:p>
              <a:pPr algn="l"/>
              <a:r>
                <a:rPr lang="zh-CN" sz="900" b="1" dirty="0">
                  <a:solidFill>
                    <a:srgbClr val="008080"/>
                  </a:solidFill>
                  <a:latin typeface="Consolas"/>
                  <a:ea typeface="Microsoft YaHei"/>
                  <a:cs typeface="Consolas"/>
                </a:rPr>
                <a:t>DECODER: ACCEL_ON</a:t>
              </a:r>
            </a:p>
          </p:txBody>
        </p:sp>
      </p:grpSp>
      <p:grpSp>
        <p:nvGrpSpPr>
          <p:cNvPr id="34" name="Group 34"/>
          <p:cNvGrpSpPr/>
          <p:nvPr/>
        </p:nvGrpSpPr>
        <p:grpSpPr>
          <a:xfrm>
            <a:off x="2333696" y="5696902"/>
            <a:ext cx="7524607" cy="213360"/>
            <a:chOff x="2333696" y="5696902"/>
            <a:chExt cx="7524607" cy="213360"/>
          </a:xfrm>
        </p:grpSpPr>
        <p:sp>
          <p:nvSpPr>
            <p:cNvPr id="33" name="TextBox 33"/>
            <p:cNvSpPr txBox="1"/>
            <p:nvPr/>
          </p:nvSpPr>
          <p:spPr>
            <a:xfrm>
              <a:off x="2333696" y="5696902"/>
              <a:ext cx="7524607"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*Trigger local video/audio block to test audio routing. Press spacebar or click to toggle local playback check.</a:t>
              </a:r>
            </a:p>
          </p:txBody>
        </p:sp>
      </p:grpSp>
      <p:grpSp>
        <p:nvGrpSpPr>
          <p:cNvPr id="38" name="Group 38"/>
          <p:cNvGrpSpPr/>
          <p:nvPr/>
        </p:nvGrpSpPr>
        <p:grpSpPr>
          <a:xfrm>
            <a:off x="560070" y="6238875"/>
            <a:ext cx="11071860" cy="323850"/>
            <a:chOff x="560070" y="6238875"/>
            <a:chExt cx="11071860" cy="323850"/>
          </a:xfrm>
        </p:grpSpPr>
        <p:sp>
          <p:nvSpPr>
            <p:cNvPr id="35" name="Line 35"/>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6" name="TextBox 36"/>
            <p:cNvSpPr txBox="1"/>
            <p:nvPr/>
          </p:nvSpPr>
          <p:spPr>
            <a:xfrm>
              <a:off x="560070" y="6379845"/>
              <a:ext cx="227314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MEDIA_CHECK: MP4_AUDIO_DECODE_TEST</a:t>
              </a:r>
            </a:p>
          </p:txBody>
        </p:sp>
        <p:sp>
          <p:nvSpPr>
            <p:cNvPr id="37" name="TextBox 37"/>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400"/>
                                        <p:tgtEl>
                                          <p:spTgt spid="2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Bottom)">
                                      <p:cBhvr>
                                        <p:cTn id="15" dur="400"/>
                                        <p:tgtEl>
                                          <p:spTgt spid="3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2"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985105"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SYS.MEDIA_DECODE_STREAM // P12</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6306312" cy="691515"/>
            <a:chOff x="537210" y="1042035"/>
            <a:chExt cx="6306312" cy="691515"/>
          </a:xfrm>
        </p:grpSpPr>
        <p:sp>
          <p:nvSpPr>
            <p:cNvPr id="6" name="TextBox 6"/>
            <p:cNvSpPr txBox="1"/>
            <p:nvPr/>
          </p:nvSpPr>
          <p:spPr>
            <a:xfrm>
              <a:off x="537210" y="1042035"/>
              <a:ext cx="6136238"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Audio &amp; Video: YouTube Streaming</a:t>
              </a:r>
            </a:p>
          </p:txBody>
        </p:sp>
        <p:sp>
          <p:nvSpPr>
            <p:cNvPr id="7" name="TextBox 7"/>
            <p:cNvSpPr txBox="1"/>
            <p:nvPr/>
          </p:nvSpPr>
          <p:spPr>
            <a:xfrm>
              <a:off x="556260" y="1489710"/>
              <a:ext cx="6287262"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Verification of network streaming buffers and online video integration latency.</a:t>
              </a:r>
            </a:p>
          </p:txBody>
        </p:sp>
      </p:grpSp>
      <p:grpSp>
        <p:nvGrpSpPr>
          <p:cNvPr id="19" name="Group 19"/>
          <p:cNvGrpSpPr/>
          <p:nvPr/>
        </p:nvGrpSpPr>
        <p:grpSpPr>
          <a:xfrm>
            <a:off x="571500" y="1905000"/>
            <a:ext cx="6477000" cy="3619500"/>
            <a:chOff x="571500" y="1905000"/>
            <a:chExt cx="6477000" cy="3619500"/>
          </a:xfrm>
        </p:grpSpPr>
        <p:sp>
          <p:nvSpPr>
            <p:cNvPr id="9" name="Rectangle 9"/>
            <p:cNvSpPr/>
            <p:nvPr/>
          </p:nvSpPr>
          <p:spPr>
            <a:xfrm>
              <a:off x="571500" y="1905000"/>
              <a:ext cx="6477000" cy="3619500"/>
            </a:xfrm>
            <a:prstGeom prst="roundRect">
              <a:avLst>
                <a:gd name="adj" fmla="val 2105"/>
              </a:avLst>
            </a:prstGeom>
            <a:solidFill>
              <a:srgbClr val="FFFFFF"/>
            </a:solidFill>
            <a:ln w="14288">
              <a:solidFill>
                <a:srgbClr val="DC3545"/>
              </a:solidFill>
            </a:ln>
          </p:spPr>
        </p:sp>
        <p:sp>
          <p:nvSpPr>
            <p:cNvPr id="10" name="Line 10"/>
            <p:cNvSpPr/>
            <p:nvPr/>
          </p:nvSpPr>
          <p:spPr>
            <a:xfrm>
              <a:off x="571500" y="3714750"/>
              <a:ext cx="6477000" cy="9525"/>
            </a:xfrm>
            <a:custGeom>
              <a:avLst/>
              <a:gdLst/>
              <a:ahLst/>
              <a:cxnLst/>
              <a:rect l="l" t="t" r="r" b="b"/>
              <a:pathLst>
                <a:path w="6477000" h="9525">
                  <a:moveTo>
                    <a:pt x="0" y="0"/>
                  </a:moveTo>
                  <a:lnTo>
                    <a:pt x="6477000" y="0"/>
                  </a:lnTo>
                </a:path>
              </a:pathLst>
            </a:custGeom>
            <a:noFill/>
            <a:ln w="9525">
              <a:solidFill>
                <a:srgbClr val="DEE2E6"/>
              </a:solidFill>
            </a:ln>
          </p:spPr>
        </p:sp>
        <p:sp>
          <p:nvSpPr>
            <p:cNvPr id="11" name="Line 11"/>
            <p:cNvSpPr/>
            <p:nvPr/>
          </p:nvSpPr>
          <p:spPr>
            <a:xfrm>
              <a:off x="3810000" y="1905000"/>
              <a:ext cx="9525" cy="3619500"/>
            </a:xfrm>
            <a:custGeom>
              <a:avLst/>
              <a:gdLst/>
              <a:ahLst/>
              <a:cxnLst/>
              <a:rect l="l" t="t" r="r" b="b"/>
              <a:pathLst>
                <a:path w="9525" h="3619500">
                  <a:moveTo>
                    <a:pt x="0" y="0"/>
                  </a:moveTo>
                  <a:lnTo>
                    <a:pt x="0" y="3619500"/>
                  </a:lnTo>
                </a:path>
              </a:pathLst>
            </a:custGeom>
            <a:noFill/>
            <a:ln w="9525">
              <a:solidFill>
                <a:srgbClr val="DEE2E6"/>
              </a:solidFill>
            </a:ln>
          </p:spPr>
        </p:sp>
        <p:sp>
          <p:nvSpPr>
            <p:cNvPr id="12" name="Rectangle 12"/>
            <p:cNvSpPr/>
            <p:nvPr/>
          </p:nvSpPr>
          <p:spPr>
            <a:xfrm>
              <a:off x="3333750" y="3429000"/>
              <a:ext cx="952500" cy="571500"/>
            </a:xfrm>
            <a:prstGeom prst="roundRect">
              <a:avLst>
                <a:gd name="adj" fmla="val 23333"/>
              </a:avLst>
            </a:prstGeom>
            <a:solidFill>
              <a:srgbClr val="DC3545"/>
            </a:solidFill>
            <a:ln>
              <a:noFill/>
            </a:ln>
          </p:spPr>
        </p:sp>
        <p:sp>
          <p:nvSpPr>
            <p:cNvPr id="13" name="Polygon 13"/>
            <p:cNvSpPr/>
            <p:nvPr/>
          </p:nvSpPr>
          <p:spPr>
            <a:xfrm>
              <a:off x="3733800" y="3581400"/>
              <a:ext cx="247650" cy="266700"/>
            </a:xfrm>
            <a:custGeom>
              <a:avLst/>
              <a:gdLst/>
              <a:ahLst/>
              <a:cxnLst/>
              <a:rect l="l" t="t" r="r" b="b"/>
              <a:pathLst>
                <a:path w="247650" h="266700">
                  <a:moveTo>
                    <a:pt x="0" y="0"/>
                  </a:moveTo>
                  <a:lnTo>
                    <a:pt x="247650" y="133350"/>
                  </a:lnTo>
                  <a:lnTo>
                    <a:pt x="0" y="266700"/>
                  </a:lnTo>
                  <a:close/>
                </a:path>
              </a:pathLst>
            </a:custGeom>
            <a:solidFill>
              <a:srgbClr val="FFFFFF"/>
            </a:solidFill>
            <a:ln>
              <a:noFill/>
            </a:ln>
          </p:spPr>
        </p:sp>
        <p:grpSp>
          <p:nvGrpSpPr>
            <p:cNvPr id="16" name="Group 16"/>
            <p:cNvGrpSpPr/>
            <p:nvPr/>
          </p:nvGrpSpPr>
          <p:grpSpPr>
            <a:xfrm>
              <a:off x="968375" y="4556125"/>
              <a:ext cx="158750" cy="127000"/>
              <a:chOff x="968375" y="4556125"/>
              <a:chExt cx="158750" cy="127000"/>
            </a:xfrm>
          </p:grpSpPr>
          <p:sp>
            <p:nvSpPr>
              <p:cNvPr id="14" name="Freeform 14"/>
              <p:cNvSpPr/>
              <p:nvPr/>
            </p:nvSpPr>
            <p:spPr>
              <a:xfrm>
                <a:off x="968375" y="4556125"/>
                <a:ext cx="158750" cy="127000"/>
              </a:xfrm>
              <a:custGeom>
                <a:avLst/>
                <a:gdLst/>
                <a:ahLst/>
                <a:cxnLst/>
                <a:rect l="l" t="t" r="r" b="b"/>
                <a:pathLst>
                  <a:path w="158750" h="127000">
                    <a:moveTo>
                      <a:pt x="0" y="31750"/>
                    </a:moveTo>
                    <a:cubicBezTo>
                      <a:pt x="0" y="14215"/>
                      <a:pt x="14215" y="0"/>
                      <a:pt x="31750" y="0"/>
                    </a:cubicBezTo>
                    <a:lnTo>
                      <a:pt x="127000" y="0"/>
                    </a:lnTo>
                    <a:cubicBezTo>
                      <a:pt x="144535" y="0"/>
                      <a:pt x="158750" y="14215"/>
                      <a:pt x="158750" y="31750"/>
                    </a:cubicBezTo>
                    <a:lnTo>
                      <a:pt x="158750" y="95250"/>
                    </a:lnTo>
                    <a:cubicBezTo>
                      <a:pt x="158750" y="112785"/>
                      <a:pt x="144535" y="127000"/>
                      <a:pt x="127000" y="127000"/>
                    </a:cubicBezTo>
                    <a:lnTo>
                      <a:pt x="31750" y="127000"/>
                    </a:lnTo>
                    <a:cubicBezTo>
                      <a:pt x="14215" y="127000"/>
                      <a:pt x="0" y="112785"/>
                      <a:pt x="0" y="95250"/>
                    </a:cubicBezTo>
                    <a:lnTo>
                      <a:pt x="0" y="31750"/>
                    </a:lnTo>
                  </a:path>
                </a:pathLst>
              </a:custGeom>
              <a:noFill/>
              <a:ln w="19050">
                <a:solidFill>
                  <a:srgbClr val="DC3545"/>
                </a:solidFill>
              </a:ln>
            </p:spPr>
          </p:sp>
          <p:sp>
            <p:nvSpPr>
              <p:cNvPr id="15" name="Freeform 15"/>
              <p:cNvSpPr/>
              <p:nvPr/>
            </p:nvSpPr>
            <p:spPr>
              <a:xfrm>
                <a:off x="1031875" y="4595812"/>
                <a:ext cx="39688" cy="47625"/>
              </a:xfrm>
              <a:custGeom>
                <a:avLst/>
                <a:gdLst/>
                <a:ahLst/>
                <a:cxnLst/>
                <a:rect l="l" t="t" r="r" b="b"/>
                <a:pathLst>
                  <a:path w="39688" h="47625">
                    <a:moveTo>
                      <a:pt x="0" y="0"/>
                    </a:moveTo>
                    <a:lnTo>
                      <a:pt x="39688" y="23812"/>
                    </a:lnTo>
                    <a:lnTo>
                      <a:pt x="0" y="47625"/>
                    </a:lnTo>
                    <a:lnTo>
                      <a:pt x="0" y="0"/>
                    </a:lnTo>
                  </a:path>
                </a:pathLst>
              </a:custGeom>
              <a:noFill/>
              <a:ln w="19050">
                <a:solidFill>
                  <a:srgbClr val="DC3545"/>
                </a:solidFill>
              </a:ln>
            </p:spPr>
          </p:sp>
        </p:grpSp>
        <p:sp>
          <p:nvSpPr>
            <p:cNvPr id="17" name="TextBox 17"/>
            <p:cNvSpPr txBox="1"/>
            <p:nvPr/>
          </p:nvSpPr>
          <p:spPr>
            <a:xfrm>
              <a:off x="1226820" y="4570095"/>
              <a:ext cx="2165128" cy="182880"/>
            </a:xfrm>
            <a:prstGeom prst="rect">
              <a:avLst/>
            </a:prstGeom>
            <a:noFill/>
            <a:ln>
              <a:noFill/>
            </a:ln>
          </p:spPr>
          <p:txBody>
            <a:bodyPr wrap="none" lIns="0" tIns="0" rIns="0" bIns="0" anchor="t" anchorCtr="0">
              <a:spAutoFit/>
            </a:bodyPr>
            <a:lstStyle/>
            <a:p>
              <a:pPr algn="l"/>
              <a:r>
                <a:rPr lang="zh-CN" sz="900" b="1" u="sng" dirty="0">
                  <a:solidFill>
                    <a:srgbClr val="DC3545"/>
                  </a:solidFill>
                  <a:latin typeface="Arial"/>
                  <a:ea typeface="Microsoft YaHei"/>
                  <a:cs typeface="Arial"/>
                </a:rPr>
                <a:t>▶️ click to play youtube sync check</a:t>
              </a:r>
            </a:p>
          </p:txBody>
        </p:sp>
        <p:sp>
          <p:nvSpPr>
            <p:cNvPr id="18" name="TextBox 18"/>
            <p:cNvSpPr txBox="1"/>
            <p:nvPr/>
          </p:nvSpPr>
          <p:spPr>
            <a:xfrm>
              <a:off x="1229678" y="4784884"/>
              <a:ext cx="1808369" cy="137160"/>
            </a:xfrm>
            <a:prstGeom prst="rect">
              <a:avLst/>
            </a:prstGeom>
            <a:noFill/>
            <a:ln>
              <a:noFill/>
            </a:ln>
          </p:spPr>
          <p:txBody>
            <a:bodyPr wrap="none" lIns="0" tIns="0" rIns="0" bIns="0" anchor="t" anchorCtr="0">
              <a:spAutoFit/>
            </a:bodyPr>
            <a:lstStyle/>
            <a:p>
              <a:pPr algn="l"/>
              <a:r>
                <a:rPr lang="zh-CN" sz="675" dirty="0">
                  <a:solidFill>
                    <a:srgbClr val="6C757D"/>
                  </a:solidFill>
                  <a:latin typeface="Consolas"/>
                  <a:ea typeface="Microsoft YaHei"/>
                  <a:cs typeface="Consolas"/>
                </a:rPr>
                <a:t>URL: youtube.com/watch?v=ucZl6vQ_8Uo</a:t>
              </a:r>
            </a:p>
          </p:txBody>
        </p:sp>
      </p:grpSp>
      <p:grpSp>
        <p:nvGrpSpPr>
          <p:cNvPr id="29" name="Group 29"/>
          <p:cNvGrpSpPr/>
          <p:nvPr/>
        </p:nvGrpSpPr>
        <p:grpSpPr>
          <a:xfrm>
            <a:off x="7334250" y="1905000"/>
            <a:ext cx="4286250" cy="3619500"/>
            <a:chOff x="7334250" y="1905000"/>
            <a:chExt cx="4286250" cy="3619500"/>
          </a:xfrm>
        </p:grpSpPr>
        <p:sp>
          <p:nvSpPr>
            <p:cNvPr id="20" name="Rectangle 20"/>
            <p:cNvSpPr/>
            <p:nvPr/>
          </p:nvSpPr>
          <p:spPr>
            <a:xfrm>
              <a:off x="7334250" y="1905000"/>
              <a:ext cx="4286250" cy="3619500"/>
            </a:xfrm>
            <a:prstGeom prst="roundRect">
              <a:avLst>
                <a:gd name="adj" fmla="val 2105"/>
              </a:avLst>
            </a:prstGeom>
            <a:solidFill>
              <a:srgbClr val="FFFFFF"/>
            </a:solidFill>
            <a:ln w="14288">
              <a:solidFill>
                <a:srgbClr val="DEE2E6"/>
              </a:solidFill>
            </a:ln>
          </p:spPr>
        </p:sp>
        <p:sp>
          <p:nvSpPr>
            <p:cNvPr id="21" name="TextBox 21"/>
            <p:cNvSpPr txBox="1"/>
            <p:nvPr/>
          </p:nvSpPr>
          <p:spPr>
            <a:xfrm>
              <a:off x="7551420" y="2188845"/>
              <a:ext cx="1883092"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NETWORK_PLAYBACK // STREAM_B</a:t>
              </a:r>
            </a:p>
          </p:txBody>
        </p:sp>
        <p:sp>
          <p:nvSpPr>
            <p:cNvPr id="22" name="TextBox 22"/>
            <p:cNvSpPr txBox="1"/>
            <p:nvPr/>
          </p:nvSpPr>
          <p:spPr>
            <a:xfrm>
              <a:off x="7541895" y="2441258"/>
              <a:ext cx="2329096" cy="335280"/>
            </a:xfrm>
            <a:prstGeom prst="rect">
              <a:avLst/>
            </a:prstGeom>
            <a:noFill/>
            <a:ln>
              <a:noFill/>
            </a:ln>
          </p:spPr>
          <p:txBody>
            <a:bodyPr wrap="none" lIns="0" tIns="0" rIns="0" bIns="0" anchor="t" anchorCtr="0">
              <a:spAutoFit/>
            </a:bodyPr>
            <a:lstStyle/>
            <a:p>
              <a:pPr algn="l"/>
              <a:r>
                <a:rPr lang="zh-CN" sz="1650" b="1" dirty="0">
                  <a:solidFill>
                    <a:srgbClr val="0F2C59"/>
                  </a:solidFill>
                  <a:latin typeface="Arial"/>
                  <a:ea typeface="Microsoft YaHei"/>
                  <a:cs typeface="Arial"/>
                </a:rPr>
                <a:t>YouTube Stream Info</a:t>
              </a:r>
            </a:p>
          </p:txBody>
        </p:sp>
        <p:sp>
          <p:nvSpPr>
            <p:cNvPr id="23" name="TextBox 23"/>
            <p:cNvSpPr txBox="1"/>
            <p:nvPr/>
          </p:nvSpPr>
          <p:spPr>
            <a:xfrm>
              <a:off x="7549515" y="2982278"/>
              <a:ext cx="3413760" cy="1165860"/>
            </a:xfrm>
            <a:prstGeom prst="rect">
              <a:avLst/>
            </a:prstGeom>
            <a:noFill/>
            <a:ln>
              <a:noFill/>
            </a:ln>
          </p:spPr>
          <p:txBody>
            <a:bodyPr wrap="square" lIns="0" tIns="0" rIns="0" bIns="0" anchor="t" anchorCtr="0"/>
            <a:lstStyle/>
            <a:p>
              <a:pPr algn="l">
                <a:lnSpc>
                  <a:spcPts val="1875"/>
                </a:lnSpc>
              </a:pPr>
              <a:r>
                <a:rPr lang="zh-CN" sz="1050" dirty="0">
                  <a:solidFill>
                    <a:srgbClr val="6C757D"/>
                  </a:solidFill>
                  <a:latin typeface="Arial"/>
                  <a:ea typeface="Microsoft YaHei"/>
                  <a:cs typeface="Arial"/>
                </a:rPr>
                <a:t xml:space="preserve">• Protocol: HTTPS Live Streaming (HLS) / MPEG-DASH </a:t>
              </a:r>
              <a:r>
                <a:rPr lang="zh-CN" sz="1050" dirty="0">
                  <a:solidFill>
                    <a:srgbClr val="6C757D"/>
                  </a:solidFill>
                  <a:latin typeface="Arial"/>
                  <a:ea typeface="Microsoft YaHei"/>
                  <a:cs typeface="Arial"/>
                </a:rPr>
                <a:t xml:space="preserve">• Latency Target: Under 5.0 seconds buffering </a:t>
              </a:r>
              <a:r>
                <a:rPr lang="zh-CN" sz="1050" dirty="0">
                  <a:solidFill>
                    <a:srgbClr val="6C757D"/>
                  </a:solidFill>
                  <a:latin typeface="Arial"/>
                  <a:ea typeface="Microsoft YaHei"/>
                  <a:cs typeface="Arial"/>
                </a:rPr>
                <a:t xml:space="preserve">• Integration: Powerpoint Online Video Link option </a:t>
              </a:r>
              <a:r>
                <a:rPr lang="zh-CN" sz="1050" dirty="0">
                  <a:solidFill>
                    <a:srgbClr val="6C757D"/>
                  </a:solidFill>
                  <a:latin typeface="Arial"/>
                  <a:ea typeface="Microsoft YaHei"/>
                  <a:cs typeface="Arial"/>
                </a:rPr>
                <a:t xml:space="preserve">• Synchronization: Audio-to-Video Phase calibration </a:t>
              </a:r>
              <a:r>
                <a:rPr lang="zh-CN" sz="1050" dirty="0">
                  <a:solidFill>
                    <a:srgbClr val="6C757D"/>
                  </a:solidFill>
                  <a:latin typeface="Arial"/>
                  <a:ea typeface="Microsoft YaHei"/>
                  <a:cs typeface="Arial"/>
                </a:rPr>
                <a:t>• Display Mode: 16:9 widescreen layout</a:t>
              </a:r>
            </a:p>
          </p:txBody>
        </p:sp>
        <p:sp>
          <p:nvSpPr>
            <p:cNvPr id="24" name="Rectangle 24"/>
            <p:cNvSpPr/>
            <p:nvPr/>
          </p:nvSpPr>
          <p:spPr>
            <a:xfrm>
              <a:off x="7562850" y="4762500"/>
              <a:ext cx="2095500" cy="304800"/>
            </a:xfrm>
            <a:prstGeom prst="roundRect">
              <a:avLst>
                <a:gd name="adj" fmla="val 50000"/>
              </a:avLst>
            </a:prstGeom>
            <a:solidFill>
              <a:srgbClr val="DC3545">
                <a:alpha val="10000"/>
              </a:srgbClr>
            </a:solidFill>
            <a:ln>
              <a:noFill/>
            </a:ln>
          </p:spPr>
        </p:sp>
        <p:grpSp>
          <p:nvGrpSpPr>
            <p:cNvPr id="27" name="Group 27"/>
            <p:cNvGrpSpPr/>
            <p:nvPr/>
          </p:nvGrpSpPr>
          <p:grpSpPr>
            <a:xfrm>
              <a:off x="7739062" y="4867275"/>
              <a:ext cx="142875" cy="95250"/>
              <a:chOff x="7739062" y="4867275"/>
              <a:chExt cx="142875" cy="95250"/>
            </a:xfrm>
          </p:grpSpPr>
          <p:sp>
            <p:nvSpPr>
              <p:cNvPr id="25" name="Freeform 25"/>
              <p:cNvSpPr/>
              <p:nvPr/>
            </p:nvSpPr>
            <p:spPr>
              <a:xfrm>
                <a:off x="7834312" y="4879730"/>
                <a:ext cx="47625" cy="70340"/>
              </a:xfrm>
              <a:custGeom>
                <a:avLst/>
                <a:gdLst/>
                <a:ahLst/>
                <a:cxnLst/>
                <a:rect l="l" t="t" r="r" b="b"/>
                <a:pathLst>
                  <a:path w="47625" h="70340">
                    <a:moveTo>
                      <a:pt x="0" y="19295"/>
                    </a:moveTo>
                    <a:lnTo>
                      <a:pt x="36139" y="1229"/>
                    </a:lnTo>
                    <a:cubicBezTo>
                      <a:pt x="38599" y="0"/>
                      <a:pt x="41520" y="132"/>
                      <a:pt x="43859" y="1577"/>
                    </a:cubicBezTo>
                    <a:cubicBezTo>
                      <a:pt x="46199" y="3022"/>
                      <a:pt x="47624" y="5575"/>
                      <a:pt x="47625" y="8325"/>
                    </a:cubicBezTo>
                    <a:lnTo>
                      <a:pt x="47625" y="62015"/>
                    </a:lnTo>
                    <a:cubicBezTo>
                      <a:pt x="47624" y="64764"/>
                      <a:pt x="46199" y="67318"/>
                      <a:pt x="43859" y="68763"/>
                    </a:cubicBezTo>
                    <a:cubicBezTo>
                      <a:pt x="41520" y="70208"/>
                      <a:pt x="38599" y="70340"/>
                      <a:pt x="36139" y="69111"/>
                    </a:cubicBezTo>
                    <a:lnTo>
                      <a:pt x="0" y="51045"/>
                    </a:lnTo>
                    <a:lnTo>
                      <a:pt x="0" y="19295"/>
                    </a:lnTo>
                  </a:path>
                </a:pathLst>
              </a:custGeom>
              <a:noFill/>
              <a:ln w="19050">
                <a:solidFill>
                  <a:srgbClr val="DC3545"/>
                </a:solidFill>
              </a:ln>
            </p:spPr>
          </p:sp>
          <p:sp>
            <p:nvSpPr>
              <p:cNvPr id="26" name="Freeform 26"/>
              <p:cNvSpPr/>
              <p:nvPr/>
            </p:nvSpPr>
            <p:spPr>
              <a:xfrm>
                <a:off x="7739062" y="4867275"/>
                <a:ext cx="95250" cy="95250"/>
              </a:xfrm>
              <a:custGeom>
                <a:avLst/>
                <a:gdLst/>
                <a:ahLst/>
                <a:cxnLst/>
                <a:rect l="l" t="t" r="r" b="b"/>
                <a:pathLst>
                  <a:path w="95250" h="9525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19050">
                <a:solidFill>
                  <a:srgbClr val="DC3545"/>
                </a:solidFill>
              </a:ln>
            </p:spPr>
          </p:sp>
        </p:grpSp>
        <p:sp>
          <p:nvSpPr>
            <p:cNvPr id="28" name="TextBox 28"/>
            <p:cNvSpPr txBox="1"/>
            <p:nvPr/>
          </p:nvSpPr>
          <p:spPr>
            <a:xfrm>
              <a:off x="7989570" y="4865370"/>
              <a:ext cx="1163303" cy="182880"/>
            </a:xfrm>
            <a:prstGeom prst="rect">
              <a:avLst/>
            </a:prstGeom>
            <a:noFill/>
            <a:ln>
              <a:noFill/>
            </a:ln>
          </p:spPr>
          <p:txBody>
            <a:bodyPr wrap="none" lIns="0" tIns="0" rIns="0" bIns="0" anchor="t" anchorCtr="0">
              <a:spAutoFit/>
            </a:bodyPr>
            <a:lstStyle/>
            <a:p>
              <a:pPr algn="l"/>
              <a:r>
                <a:rPr lang="zh-CN" sz="900" b="1" dirty="0">
                  <a:solidFill>
                    <a:srgbClr val="DC3545"/>
                  </a:solidFill>
                  <a:latin typeface="Consolas"/>
                  <a:ea typeface="Microsoft YaHei"/>
                  <a:cs typeface="Consolas"/>
                </a:rPr>
                <a:t>STREAMING: STABLE</a:t>
              </a:r>
            </a:p>
          </p:txBody>
        </p:sp>
      </p:grpSp>
      <p:grpSp>
        <p:nvGrpSpPr>
          <p:cNvPr id="31" name="Group 31"/>
          <p:cNvGrpSpPr/>
          <p:nvPr/>
        </p:nvGrpSpPr>
        <p:grpSpPr>
          <a:xfrm>
            <a:off x="2606731" y="5696902"/>
            <a:ext cx="6978539" cy="213360"/>
            <a:chOff x="2606731" y="5696902"/>
            <a:chExt cx="6978539" cy="213360"/>
          </a:xfrm>
        </p:grpSpPr>
        <p:sp>
          <p:nvSpPr>
            <p:cNvPr id="30" name="TextBox 30"/>
            <p:cNvSpPr txBox="1"/>
            <p:nvPr/>
          </p:nvSpPr>
          <p:spPr>
            <a:xfrm>
              <a:off x="2606731" y="5696902"/>
              <a:ext cx="6978539"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*To play video on click inside slide, use Insert &gt; Video &gt; Online Video in PowerPoint, and paste the URL.</a:t>
              </a:r>
            </a:p>
          </p:txBody>
        </p:sp>
      </p:grpSp>
      <p:grpSp>
        <p:nvGrpSpPr>
          <p:cNvPr id="35" name="Group 35"/>
          <p:cNvGrpSpPr/>
          <p:nvPr/>
        </p:nvGrpSpPr>
        <p:grpSpPr>
          <a:xfrm>
            <a:off x="560070" y="6238875"/>
            <a:ext cx="11071860" cy="323850"/>
            <a:chOff x="560070" y="6238875"/>
            <a:chExt cx="11071860" cy="323850"/>
          </a:xfrm>
        </p:grpSpPr>
        <p:sp>
          <p:nvSpPr>
            <p:cNvPr id="32" name="Line 32"/>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3" name="TextBox 33"/>
            <p:cNvSpPr txBox="1"/>
            <p:nvPr/>
          </p:nvSpPr>
          <p:spPr>
            <a:xfrm>
              <a:off x="560070" y="6379845"/>
              <a:ext cx="211112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STREAM_CHECK: YOUTUBE_BUFFER_OK</a:t>
              </a:r>
            </a:p>
          </p:txBody>
        </p:sp>
        <p:sp>
          <p:nvSpPr>
            <p:cNvPr id="34" name="TextBox 34"/>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slide(fromBottom)">
                                      <p:cBhvr>
                                        <p:cTn id="15" dur="400"/>
                                        <p:tgtEl>
                                          <p:spTgt spid="2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29"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2063115"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SYS.MEDIA_DECODE_FAILSAFE // P13</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537210" y="1042035"/>
            <a:ext cx="6498336" cy="691515"/>
            <a:chOff x="537210" y="1042035"/>
            <a:chExt cx="6498336" cy="691515"/>
          </a:xfrm>
        </p:grpSpPr>
        <p:sp>
          <p:nvSpPr>
            <p:cNvPr id="6" name="TextBox 6"/>
            <p:cNvSpPr txBox="1"/>
            <p:nvPr/>
          </p:nvSpPr>
          <p:spPr>
            <a:xfrm>
              <a:off x="537210" y="1042035"/>
              <a:ext cx="5550265"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Audio &amp; Video: Dead Link Check</a:t>
              </a:r>
            </a:p>
          </p:txBody>
        </p:sp>
        <p:sp>
          <p:nvSpPr>
            <p:cNvPr id="7" name="TextBox 7"/>
            <p:cNvSpPr txBox="1"/>
            <p:nvPr/>
          </p:nvSpPr>
          <p:spPr>
            <a:xfrm>
              <a:off x="556260" y="1489710"/>
              <a:ext cx="6479286" cy="243840"/>
            </a:xfrm>
            <a:prstGeom prst="rect">
              <a:avLst/>
            </a:prstGeom>
            <a:noFill/>
            <a:ln>
              <a:noFill/>
            </a:ln>
          </p:spPr>
          <p:txBody>
            <a:bodyPr wrap="none" lIns="0" tIns="0" rIns="0" bIns="0" anchor="t" anchorCtr="0">
              <a:spAutoFit/>
            </a:bodyPr>
            <a:lstStyle/>
            <a:p>
              <a:pPr algn="l"/>
              <a:r>
                <a:rPr lang="zh-CN" sz="1200" dirty="0">
                  <a:solidFill>
                    <a:srgbClr val="6C757D"/>
                  </a:solidFill>
                  <a:latin typeface="Arial"/>
                  <a:ea typeface="Microsoft YaHei"/>
                  <a:cs typeface="Arial"/>
                </a:rPr>
                <a:t>Verification of system recovery behavior when external media assets are missing.</a:t>
              </a:r>
            </a:p>
          </p:txBody>
        </p:sp>
      </p:grpSp>
      <p:grpSp>
        <p:nvGrpSpPr>
          <p:cNvPr id="18" name="Group 18"/>
          <p:cNvGrpSpPr/>
          <p:nvPr/>
        </p:nvGrpSpPr>
        <p:grpSpPr>
          <a:xfrm>
            <a:off x="571500" y="1905000"/>
            <a:ext cx="6477000" cy="3619500"/>
            <a:chOff x="571500" y="1905000"/>
            <a:chExt cx="6477000" cy="3619500"/>
          </a:xfrm>
        </p:grpSpPr>
        <p:sp>
          <p:nvSpPr>
            <p:cNvPr id="9" name="Rectangle 9"/>
            <p:cNvSpPr/>
            <p:nvPr/>
          </p:nvSpPr>
          <p:spPr>
            <a:xfrm>
              <a:off x="571500" y="1905000"/>
              <a:ext cx="6477000" cy="3619500"/>
            </a:xfrm>
            <a:prstGeom prst="roundRect">
              <a:avLst>
                <a:gd name="adj" fmla="val 2105"/>
              </a:avLst>
            </a:prstGeom>
            <a:solidFill>
              <a:srgbClr val="F8D7DA"/>
            </a:solidFill>
            <a:ln w="19050">
              <a:solidFill>
                <a:srgbClr val="DC3545"/>
              </a:solidFill>
            </a:ln>
            <a:effectLst>
              <a:glow rad="76200">
                <a:srgbClr val="DC3545">
                  <a:alpha val="40000"/>
                </a:srgbClr>
              </a:glow>
            </a:effectLst>
          </p:spPr>
        </p:sp>
        <p:sp>
          <p:nvSpPr>
            <p:cNvPr id="10" name="TextBox 10"/>
            <p:cNvSpPr txBox="1"/>
            <p:nvPr/>
          </p:nvSpPr>
          <p:spPr>
            <a:xfrm>
              <a:off x="2963785" y="2859405"/>
              <a:ext cx="1692431" cy="1341120"/>
            </a:xfrm>
            <a:prstGeom prst="rect">
              <a:avLst/>
            </a:prstGeom>
            <a:noFill/>
            <a:ln>
              <a:noFill/>
            </a:ln>
          </p:spPr>
          <p:txBody>
            <a:bodyPr wrap="none" lIns="0" tIns="0" rIns="0" bIns="0" anchor="t" anchorCtr="0">
              <a:spAutoFit/>
            </a:bodyPr>
            <a:lstStyle/>
            <a:p>
              <a:pPr algn="ctr"/>
              <a:r>
                <a:rPr lang="zh-CN" sz="6600" b="1" dirty="0">
                  <a:solidFill>
                    <a:srgbClr val="DC3545"/>
                  </a:solidFill>
                  <a:latin typeface="Consolas"/>
                  <a:ea typeface="Microsoft YaHei"/>
                  <a:cs typeface="Consolas"/>
                </a:rPr>
                <a:t>404</a:t>
              </a:r>
            </a:p>
          </p:txBody>
        </p:sp>
        <p:sp>
          <p:nvSpPr>
            <p:cNvPr id="11" name="TextBox 11"/>
            <p:cNvSpPr txBox="1"/>
            <p:nvPr/>
          </p:nvSpPr>
          <p:spPr>
            <a:xfrm>
              <a:off x="3086267" y="3950018"/>
              <a:ext cx="1447467" cy="274320"/>
            </a:xfrm>
            <a:prstGeom prst="rect">
              <a:avLst/>
            </a:prstGeom>
            <a:noFill/>
            <a:ln>
              <a:noFill/>
            </a:ln>
          </p:spPr>
          <p:txBody>
            <a:bodyPr wrap="none" lIns="0" tIns="0" rIns="0" bIns="0" anchor="t" anchorCtr="0">
              <a:spAutoFit/>
            </a:bodyPr>
            <a:lstStyle/>
            <a:p>
              <a:pPr algn="ctr"/>
              <a:r>
                <a:rPr lang="zh-CN" sz="1350" dirty="0">
                  <a:solidFill>
                    <a:srgbClr val="DC3545"/>
                  </a:solidFill>
                  <a:latin typeface="Consolas"/>
                  <a:ea typeface="Microsoft YaHei"/>
                  <a:cs typeface="Consolas"/>
                </a:rPr>
                <a:t>LINK_NOT_FOUND</a:t>
              </a:r>
            </a:p>
          </p:txBody>
        </p:sp>
        <p:grpSp>
          <p:nvGrpSpPr>
            <p:cNvPr id="15" name="Group 15"/>
            <p:cNvGrpSpPr/>
            <p:nvPr/>
          </p:nvGrpSpPr>
          <p:grpSpPr>
            <a:xfrm>
              <a:off x="976312" y="4738688"/>
              <a:ext cx="142875" cy="142875"/>
              <a:chOff x="976312" y="4738688"/>
              <a:chExt cx="142875" cy="142875"/>
            </a:xfrm>
          </p:grpSpPr>
          <p:sp>
            <p:nvSpPr>
              <p:cNvPr id="12" name="Freeform 12"/>
              <p:cNvSpPr/>
              <p:nvPr/>
            </p:nvSpPr>
            <p:spPr>
              <a:xfrm>
                <a:off x="976312" y="473868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DC3545"/>
                </a:solidFill>
              </a:ln>
            </p:spPr>
          </p:sp>
          <p:sp>
            <p:nvSpPr>
              <p:cNvPr id="13" name="Freeform 13"/>
              <p:cNvSpPr/>
              <p:nvPr/>
            </p:nvSpPr>
            <p:spPr>
              <a:xfrm>
                <a:off x="1047750" y="4778375"/>
                <a:ext cx="9525" cy="31750"/>
              </a:xfrm>
              <a:custGeom>
                <a:avLst/>
                <a:gdLst/>
                <a:ahLst/>
                <a:cxnLst/>
                <a:rect l="l" t="t" r="r" b="b"/>
                <a:pathLst>
                  <a:path w="9525" h="31750">
                    <a:moveTo>
                      <a:pt x="0" y="0"/>
                    </a:moveTo>
                    <a:lnTo>
                      <a:pt x="0" y="31750"/>
                    </a:lnTo>
                  </a:path>
                </a:pathLst>
              </a:custGeom>
              <a:noFill/>
              <a:ln w="19050">
                <a:solidFill>
                  <a:srgbClr val="DC3545"/>
                </a:solidFill>
              </a:ln>
            </p:spPr>
          </p:sp>
          <p:sp>
            <p:nvSpPr>
              <p:cNvPr id="14" name="Freeform 14"/>
              <p:cNvSpPr/>
              <p:nvPr/>
            </p:nvSpPr>
            <p:spPr>
              <a:xfrm>
                <a:off x="1047750" y="4841875"/>
                <a:ext cx="9525" cy="9525"/>
              </a:xfrm>
              <a:custGeom>
                <a:avLst/>
                <a:gdLst/>
                <a:ahLst/>
                <a:cxnLst/>
                <a:rect l="l" t="t" r="r" b="b"/>
                <a:pathLst>
                  <a:path w="9525" h="9525">
                    <a:moveTo>
                      <a:pt x="0" y="0"/>
                    </a:moveTo>
                    <a:lnTo>
                      <a:pt x="79" y="0"/>
                    </a:lnTo>
                  </a:path>
                </a:pathLst>
              </a:custGeom>
              <a:noFill/>
              <a:ln w="19050">
                <a:solidFill>
                  <a:srgbClr val="DC3545"/>
                </a:solidFill>
              </a:ln>
            </p:spPr>
          </p:sp>
        </p:grpSp>
        <p:sp>
          <p:nvSpPr>
            <p:cNvPr id="16" name="TextBox 16"/>
            <p:cNvSpPr txBox="1"/>
            <p:nvPr/>
          </p:nvSpPr>
          <p:spPr>
            <a:xfrm>
              <a:off x="1226820" y="4760595"/>
              <a:ext cx="2127323" cy="182880"/>
            </a:xfrm>
            <a:prstGeom prst="rect">
              <a:avLst/>
            </a:prstGeom>
            <a:noFill/>
            <a:ln>
              <a:noFill/>
            </a:ln>
          </p:spPr>
          <p:txBody>
            <a:bodyPr wrap="none" lIns="0" tIns="0" rIns="0" bIns="0" anchor="t" anchorCtr="0">
              <a:spAutoFit/>
            </a:bodyPr>
            <a:lstStyle/>
            <a:p>
              <a:pPr algn="l"/>
              <a:r>
                <a:rPr lang="zh-CN" sz="900" b="1" u="sng" dirty="0">
                  <a:solidFill>
                    <a:srgbClr val="DC3545"/>
                  </a:solidFill>
                  <a:latin typeface="Arial"/>
                  <a:ea typeface="Microsoft YaHei"/>
                  <a:cs typeface="Arial"/>
                </a:rPr>
                <a:t>🔗 Dead Link Test (Fail-safe check)</a:t>
              </a:r>
            </a:p>
          </p:txBody>
        </p:sp>
        <p:sp>
          <p:nvSpPr>
            <p:cNvPr id="17" name="TextBox 17"/>
            <p:cNvSpPr txBox="1"/>
            <p:nvPr/>
          </p:nvSpPr>
          <p:spPr>
            <a:xfrm>
              <a:off x="1229678" y="4975384"/>
              <a:ext cx="1866876" cy="137160"/>
            </a:xfrm>
            <a:prstGeom prst="rect">
              <a:avLst/>
            </a:prstGeom>
            <a:noFill/>
            <a:ln>
              <a:noFill/>
            </a:ln>
          </p:spPr>
          <p:txBody>
            <a:bodyPr wrap="none" lIns="0" tIns="0" rIns="0" bIns="0" anchor="t" anchorCtr="0">
              <a:spAutoFit/>
            </a:bodyPr>
            <a:lstStyle/>
            <a:p>
              <a:pPr algn="l"/>
              <a:r>
                <a:rPr lang="zh-CN" sz="675" dirty="0">
                  <a:solidFill>
                    <a:srgbClr val="DC3545">
                      <a:alphaMod val="70000"/>
                    </a:srgbClr>
                  </a:solidFill>
                  <a:latin typeface="Consolas"/>
                  <a:ea typeface="Microsoft YaHei"/>
                  <a:cs typeface="Consolas"/>
                </a:rPr>
                <a:t>URL: youtube.com/watch?v=brokenlink404</a:t>
              </a:r>
            </a:p>
          </p:txBody>
        </p:sp>
      </p:grpSp>
      <p:grpSp>
        <p:nvGrpSpPr>
          <p:cNvPr id="29" name="Group 29"/>
          <p:cNvGrpSpPr/>
          <p:nvPr/>
        </p:nvGrpSpPr>
        <p:grpSpPr>
          <a:xfrm>
            <a:off x="7334250" y="1905000"/>
            <a:ext cx="4286250" cy="3619500"/>
            <a:chOff x="7334250" y="1905000"/>
            <a:chExt cx="4286250" cy="3619500"/>
          </a:xfrm>
        </p:grpSpPr>
        <p:sp>
          <p:nvSpPr>
            <p:cNvPr id="19" name="Rectangle 19"/>
            <p:cNvSpPr/>
            <p:nvPr/>
          </p:nvSpPr>
          <p:spPr>
            <a:xfrm>
              <a:off x="7334250" y="1905000"/>
              <a:ext cx="4286250" cy="3619500"/>
            </a:xfrm>
            <a:prstGeom prst="roundRect">
              <a:avLst>
                <a:gd name="adj" fmla="val 2105"/>
              </a:avLst>
            </a:prstGeom>
            <a:solidFill>
              <a:srgbClr val="FFFFFF"/>
            </a:solidFill>
            <a:ln w="14288">
              <a:solidFill>
                <a:srgbClr val="DC3545"/>
              </a:solidFill>
            </a:ln>
          </p:spPr>
        </p:sp>
        <p:sp>
          <p:nvSpPr>
            <p:cNvPr id="20" name="TextBox 20"/>
            <p:cNvSpPr txBox="1"/>
            <p:nvPr/>
          </p:nvSpPr>
          <p:spPr>
            <a:xfrm>
              <a:off x="7551420" y="2188845"/>
              <a:ext cx="1841087" cy="182880"/>
            </a:xfrm>
            <a:prstGeom prst="rect">
              <a:avLst/>
            </a:prstGeom>
            <a:noFill/>
            <a:ln>
              <a:noFill/>
            </a:ln>
          </p:spPr>
          <p:txBody>
            <a:bodyPr wrap="none" lIns="0" tIns="0" rIns="0" bIns="0" anchor="t" anchorCtr="0">
              <a:spAutoFit/>
            </a:bodyPr>
            <a:lstStyle/>
            <a:p>
              <a:pPr algn="l"/>
              <a:r>
                <a:rPr lang="zh-CN" sz="900" dirty="0">
                  <a:solidFill>
                    <a:srgbClr val="DC3545"/>
                  </a:solidFill>
                  <a:latin typeface="Consolas"/>
                  <a:ea typeface="Microsoft YaHei"/>
                  <a:cs typeface="Consolas"/>
                </a:rPr>
                <a:t>FAIL_SAFE_TEST // EXCEPTION_C</a:t>
              </a:r>
            </a:p>
          </p:txBody>
        </p:sp>
        <p:sp>
          <p:nvSpPr>
            <p:cNvPr id="21" name="TextBox 21"/>
            <p:cNvSpPr txBox="1"/>
            <p:nvPr/>
          </p:nvSpPr>
          <p:spPr>
            <a:xfrm>
              <a:off x="7541895" y="2441258"/>
              <a:ext cx="2421507" cy="335280"/>
            </a:xfrm>
            <a:prstGeom prst="rect">
              <a:avLst/>
            </a:prstGeom>
            <a:noFill/>
            <a:ln>
              <a:noFill/>
            </a:ln>
          </p:spPr>
          <p:txBody>
            <a:bodyPr wrap="none" lIns="0" tIns="0" rIns="0" bIns="0" anchor="t" anchorCtr="0">
              <a:spAutoFit/>
            </a:bodyPr>
            <a:lstStyle/>
            <a:p>
              <a:pPr algn="l"/>
              <a:r>
                <a:rPr lang="zh-CN" sz="1650" b="1" dirty="0">
                  <a:solidFill>
                    <a:srgbClr val="0F2C59"/>
                  </a:solidFill>
                  <a:latin typeface="Arial"/>
                  <a:ea typeface="Microsoft YaHei"/>
                  <a:cs typeface="Arial"/>
                </a:rPr>
                <a:t>Fail-safe Diagnostics</a:t>
              </a:r>
            </a:p>
          </p:txBody>
        </p:sp>
        <p:sp>
          <p:nvSpPr>
            <p:cNvPr id="22" name="TextBox 22"/>
            <p:cNvSpPr txBox="1"/>
            <p:nvPr/>
          </p:nvSpPr>
          <p:spPr>
            <a:xfrm>
              <a:off x="7549515" y="2982278"/>
              <a:ext cx="3160395" cy="1165860"/>
            </a:xfrm>
            <a:prstGeom prst="rect">
              <a:avLst/>
            </a:prstGeom>
            <a:noFill/>
            <a:ln>
              <a:noFill/>
            </a:ln>
          </p:spPr>
          <p:txBody>
            <a:bodyPr wrap="square" lIns="0" tIns="0" rIns="0" bIns="0" anchor="t" anchorCtr="0"/>
            <a:lstStyle/>
            <a:p>
              <a:pPr algn="l">
                <a:lnSpc>
                  <a:spcPts val="1875"/>
                </a:lnSpc>
              </a:pPr>
              <a:r>
                <a:rPr lang="zh-CN" sz="1050" dirty="0">
                  <a:solidFill>
                    <a:srgbClr val="6C757D"/>
                  </a:solidFill>
                  <a:latin typeface="Arial"/>
                  <a:ea typeface="Microsoft YaHei"/>
                  <a:cs typeface="Arial"/>
                </a:rPr>
                <a:t xml:space="preserve">• Cold test: External asset withdrawal </a:t>
              </a:r>
              <a:r>
                <a:rPr lang="zh-CN" sz="1050" dirty="0">
                  <a:solidFill>
                    <a:srgbClr val="6C757D"/>
                  </a:solidFill>
                  <a:latin typeface="Arial"/>
                  <a:ea typeface="Microsoft YaHei"/>
                  <a:cs typeface="Arial"/>
                </a:rPr>
                <a:t xml:space="preserve">• Expected behavior: 404 or Video Unavailable </a:t>
              </a:r>
              <a:r>
                <a:rPr lang="zh-CN" sz="1050" dirty="0">
                  <a:solidFill>
                    <a:srgbClr val="6C757D"/>
                  </a:solidFill>
                  <a:latin typeface="Arial"/>
                  <a:ea typeface="Microsoft YaHei"/>
                  <a:cs typeface="Arial"/>
                </a:rPr>
                <a:t xml:space="preserve">• Target response: Presentation remains stable </a:t>
              </a:r>
              <a:r>
                <a:rPr lang="zh-CN" sz="1050" dirty="0">
                  <a:solidFill>
                    <a:srgbClr val="6C757D"/>
                  </a:solidFill>
                  <a:latin typeface="Arial"/>
                  <a:ea typeface="Microsoft YaHei"/>
                  <a:cs typeface="Arial"/>
                </a:rPr>
                <a:t xml:space="preserve">• Action: Verify crash-free navigation skip </a:t>
              </a:r>
              <a:r>
                <a:rPr lang="zh-CN" sz="1050" dirty="0">
                  <a:solidFill>
                    <a:srgbClr val="6C757D"/>
                  </a:solidFill>
                  <a:latin typeface="Arial"/>
                  <a:ea typeface="Microsoft YaHei"/>
                  <a:cs typeface="Arial"/>
                </a:rPr>
                <a:t>• Fallback: Render default warning state</a:t>
              </a:r>
            </a:p>
          </p:txBody>
        </p:sp>
        <p:sp>
          <p:nvSpPr>
            <p:cNvPr id="23" name="Rectangle 23"/>
            <p:cNvSpPr/>
            <p:nvPr/>
          </p:nvSpPr>
          <p:spPr>
            <a:xfrm>
              <a:off x="7562850" y="4762500"/>
              <a:ext cx="2095500" cy="304800"/>
            </a:xfrm>
            <a:prstGeom prst="roundRect">
              <a:avLst>
                <a:gd name="adj" fmla="val 50000"/>
              </a:avLst>
            </a:prstGeom>
            <a:solidFill>
              <a:srgbClr val="DC3545">
                <a:alpha val="10000"/>
              </a:srgbClr>
            </a:solidFill>
            <a:ln>
              <a:noFill/>
            </a:ln>
          </p:spPr>
        </p:sp>
        <p:grpSp>
          <p:nvGrpSpPr>
            <p:cNvPr id="27" name="Group 27"/>
            <p:cNvGrpSpPr/>
            <p:nvPr/>
          </p:nvGrpSpPr>
          <p:grpSpPr>
            <a:xfrm>
              <a:off x="7739062" y="4843462"/>
              <a:ext cx="142875" cy="142875"/>
              <a:chOff x="7739062" y="4843462"/>
              <a:chExt cx="142875" cy="142875"/>
            </a:xfrm>
          </p:grpSpPr>
          <p:sp>
            <p:nvSpPr>
              <p:cNvPr id="24" name="Freeform 24"/>
              <p:cNvSpPr/>
              <p:nvPr/>
            </p:nvSpPr>
            <p:spPr>
              <a:xfrm>
                <a:off x="7739062" y="48434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DC3545"/>
                </a:solidFill>
              </a:ln>
            </p:spPr>
          </p:sp>
          <p:sp>
            <p:nvSpPr>
              <p:cNvPr id="25" name="Freeform 25"/>
              <p:cNvSpPr/>
              <p:nvPr/>
            </p:nvSpPr>
            <p:spPr>
              <a:xfrm>
                <a:off x="7810500" y="4883150"/>
                <a:ext cx="9525" cy="31750"/>
              </a:xfrm>
              <a:custGeom>
                <a:avLst/>
                <a:gdLst/>
                <a:ahLst/>
                <a:cxnLst/>
                <a:rect l="l" t="t" r="r" b="b"/>
                <a:pathLst>
                  <a:path w="9525" h="31750">
                    <a:moveTo>
                      <a:pt x="0" y="0"/>
                    </a:moveTo>
                    <a:lnTo>
                      <a:pt x="0" y="31750"/>
                    </a:lnTo>
                  </a:path>
                </a:pathLst>
              </a:custGeom>
              <a:noFill/>
              <a:ln w="19050">
                <a:solidFill>
                  <a:srgbClr val="DC3545"/>
                </a:solidFill>
              </a:ln>
            </p:spPr>
          </p:sp>
          <p:sp>
            <p:nvSpPr>
              <p:cNvPr id="26" name="Freeform 26"/>
              <p:cNvSpPr/>
              <p:nvPr/>
            </p:nvSpPr>
            <p:spPr>
              <a:xfrm>
                <a:off x="7810500" y="4946650"/>
                <a:ext cx="9525" cy="9525"/>
              </a:xfrm>
              <a:custGeom>
                <a:avLst/>
                <a:gdLst/>
                <a:ahLst/>
                <a:cxnLst/>
                <a:rect l="l" t="t" r="r" b="b"/>
                <a:pathLst>
                  <a:path w="9525" h="9525">
                    <a:moveTo>
                      <a:pt x="0" y="0"/>
                    </a:moveTo>
                    <a:lnTo>
                      <a:pt x="79" y="0"/>
                    </a:lnTo>
                  </a:path>
                </a:pathLst>
              </a:custGeom>
              <a:noFill/>
              <a:ln w="19050">
                <a:solidFill>
                  <a:srgbClr val="DC3545"/>
                </a:solidFill>
              </a:ln>
            </p:spPr>
          </p:sp>
        </p:grpSp>
        <p:sp>
          <p:nvSpPr>
            <p:cNvPr id="28" name="TextBox 28"/>
            <p:cNvSpPr txBox="1"/>
            <p:nvPr/>
          </p:nvSpPr>
          <p:spPr>
            <a:xfrm>
              <a:off x="7989570" y="4865370"/>
              <a:ext cx="1396432" cy="182880"/>
            </a:xfrm>
            <a:prstGeom prst="rect">
              <a:avLst/>
            </a:prstGeom>
            <a:noFill/>
            <a:ln>
              <a:noFill/>
            </a:ln>
          </p:spPr>
          <p:txBody>
            <a:bodyPr wrap="none" lIns="0" tIns="0" rIns="0" bIns="0" anchor="t" anchorCtr="0">
              <a:spAutoFit/>
            </a:bodyPr>
            <a:lstStyle/>
            <a:p>
              <a:pPr algn="l"/>
              <a:r>
                <a:rPr lang="zh-CN" sz="900" b="1" dirty="0">
                  <a:solidFill>
                    <a:srgbClr val="DC3545"/>
                  </a:solidFill>
                  <a:latin typeface="Consolas"/>
                  <a:ea typeface="Microsoft YaHei"/>
                  <a:cs typeface="Consolas"/>
                </a:rPr>
                <a:t>EXCEPTION: CAUGHT_OK</a:t>
              </a:r>
            </a:p>
          </p:txBody>
        </p:sp>
      </p:grpSp>
      <p:grpSp>
        <p:nvGrpSpPr>
          <p:cNvPr id="31" name="Group 31"/>
          <p:cNvGrpSpPr/>
          <p:nvPr/>
        </p:nvGrpSpPr>
        <p:grpSpPr>
          <a:xfrm>
            <a:off x="2323195" y="5696902"/>
            <a:ext cx="7545610" cy="213360"/>
            <a:chOff x="2323195" y="5696902"/>
            <a:chExt cx="7545610" cy="213360"/>
          </a:xfrm>
        </p:grpSpPr>
        <p:sp>
          <p:nvSpPr>
            <p:cNvPr id="30" name="TextBox 30"/>
            <p:cNvSpPr txBox="1"/>
            <p:nvPr/>
          </p:nvSpPr>
          <p:spPr>
            <a:xfrm>
              <a:off x="2323195" y="5696902"/>
              <a:ext cx="7545610"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*Tests behavior when an online resource is unavailable. Ensure the slide transitions cleanly on error capture.</a:t>
              </a:r>
            </a:p>
          </p:txBody>
        </p:sp>
      </p:grpSp>
      <p:grpSp>
        <p:nvGrpSpPr>
          <p:cNvPr id="35" name="Group 35"/>
          <p:cNvGrpSpPr/>
          <p:nvPr/>
        </p:nvGrpSpPr>
        <p:grpSpPr>
          <a:xfrm>
            <a:off x="560070" y="6238875"/>
            <a:ext cx="11071860" cy="323850"/>
            <a:chOff x="560070" y="6238875"/>
            <a:chExt cx="11071860" cy="323850"/>
          </a:xfrm>
        </p:grpSpPr>
        <p:sp>
          <p:nvSpPr>
            <p:cNvPr id="32" name="Line 32"/>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3" name="TextBox 33"/>
            <p:cNvSpPr txBox="1"/>
            <p:nvPr/>
          </p:nvSpPr>
          <p:spPr>
            <a:xfrm>
              <a:off x="560070" y="6379845"/>
              <a:ext cx="2279142"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FAILSAFE_CHECK: SYSTEM_RECOVERY_OK</a:t>
              </a:r>
            </a:p>
          </p:txBody>
        </p:sp>
        <p:sp>
          <p:nvSpPr>
            <p:cNvPr id="34" name="TextBox 34"/>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slide(fromBottom)">
                                      <p:cBhvr>
                                        <p:cTn id="15" dur="400"/>
                                        <p:tgtEl>
                                          <p:spTgt spid="2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29"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307020"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SYS.TAKEAWAYS // P14</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7" name="Group 7"/>
          <p:cNvGrpSpPr/>
          <p:nvPr/>
        </p:nvGrpSpPr>
        <p:grpSpPr>
          <a:xfrm>
            <a:off x="537210" y="1042035"/>
            <a:ext cx="7024649" cy="548640"/>
            <a:chOff x="537210" y="1042035"/>
            <a:chExt cx="7024649" cy="548640"/>
          </a:xfrm>
        </p:grpSpPr>
        <p:sp>
          <p:nvSpPr>
            <p:cNvPr id="6" name="TextBox 6"/>
            <p:cNvSpPr txBox="1"/>
            <p:nvPr/>
          </p:nvSpPr>
          <p:spPr>
            <a:xfrm>
              <a:off x="537210" y="1042035"/>
              <a:ext cx="7024649" cy="548640"/>
            </a:xfrm>
            <a:prstGeom prst="rect">
              <a:avLst/>
            </a:prstGeom>
            <a:noFill/>
            <a:ln>
              <a:noFill/>
            </a:ln>
          </p:spPr>
          <p:txBody>
            <a:bodyPr wrap="none" lIns="0" tIns="0" rIns="0" bIns="0" anchor="t" anchorCtr="0">
              <a:spAutoFit/>
            </a:bodyPr>
            <a:lstStyle/>
            <a:p>
              <a:pPr algn="l"/>
              <a:r>
                <a:rPr lang="zh-CN" sz="2700" b="1" dirty="0">
                  <a:solidFill>
                    <a:srgbClr val="0F2C59"/>
                  </a:solidFill>
                  <a:latin typeface="Arial"/>
                  <a:ea typeface="Microsoft YaHei"/>
                  <a:cs typeface="Arial"/>
                </a:rPr>
                <a:t>Core Program Takeaways &amp; Next Steps</a:t>
              </a:r>
            </a:p>
          </p:txBody>
        </p:sp>
      </p:grpSp>
      <p:grpSp>
        <p:nvGrpSpPr>
          <p:cNvPr id="28" name="Group 28"/>
          <p:cNvGrpSpPr/>
          <p:nvPr/>
        </p:nvGrpSpPr>
        <p:grpSpPr>
          <a:xfrm>
            <a:off x="1366838" y="2081212"/>
            <a:ext cx="7586662" cy="2486025"/>
            <a:chOff x="1366838" y="2081212"/>
            <a:chExt cx="7586662" cy="2486025"/>
          </a:xfrm>
        </p:grpSpPr>
        <p:grpSp>
          <p:nvGrpSpPr>
            <p:cNvPr id="12" name="Group 12"/>
            <p:cNvGrpSpPr/>
            <p:nvPr/>
          </p:nvGrpSpPr>
          <p:grpSpPr>
            <a:xfrm>
              <a:off x="1366838" y="2081212"/>
              <a:ext cx="7586662" cy="200025"/>
              <a:chOff x="1366838" y="2081212"/>
              <a:chExt cx="7586662" cy="200025"/>
            </a:xfrm>
          </p:grpSpPr>
          <p:grpSp>
            <p:nvGrpSpPr>
              <p:cNvPr id="10" name="Group 10"/>
              <p:cNvGrpSpPr/>
              <p:nvPr/>
            </p:nvGrpSpPr>
            <p:grpSpPr>
              <a:xfrm>
                <a:off x="1366838" y="2081212"/>
                <a:ext cx="200025" cy="200025"/>
                <a:chOff x="1366838" y="2081212"/>
                <a:chExt cx="200025" cy="200025"/>
              </a:xfrm>
            </p:grpSpPr>
            <p:sp>
              <p:nvSpPr>
                <p:cNvPr id="8" name="Freeform 8"/>
                <p:cNvSpPr/>
                <p:nvPr/>
              </p:nvSpPr>
              <p:spPr>
                <a:xfrm>
                  <a:off x="1366838" y="20812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4A6B82"/>
                  </a:solidFill>
                </a:ln>
              </p:spPr>
            </p:sp>
            <p:sp>
              <p:nvSpPr>
                <p:cNvPr id="9" name="Freeform 9"/>
                <p:cNvSpPr/>
                <p:nvPr/>
              </p:nvSpPr>
              <p:spPr>
                <a:xfrm>
                  <a:off x="1433512" y="2159000"/>
                  <a:ext cx="66675" cy="44450"/>
                </a:xfrm>
                <a:custGeom>
                  <a:avLst/>
                  <a:gdLst/>
                  <a:ahLst/>
                  <a:cxnLst/>
                  <a:rect l="l" t="t" r="r" b="b"/>
                  <a:pathLst>
                    <a:path w="66675" h="44450">
                      <a:moveTo>
                        <a:pt x="0" y="22225"/>
                      </a:moveTo>
                      <a:lnTo>
                        <a:pt x="22225" y="44450"/>
                      </a:lnTo>
                      <a:lnTo>
                        <a:pt x="66675" y="0"/>
                      </a:lnTo>
                    </a:path>
                  </a:pathLst>
                </a:custGeom>
                <a:noFill/>
                <a:ln w="19050">
                  <a:solidFill>
                    <a:srgbClr val="4A6B82"/>
                  </a:solidFill>
                </a:ln>
              </p:spPr>
            </p:sp>
          </p:grpSp>
          <p:sp>
            <p:nvSpPr>
              <p:cNvPr id="11" name="Line 11"/>
              <p:cNvSpPr/>
              <p:nvPr/>
            </p:nvSpPr>
            <p:spPr>
              <a:xfrm>
                <a:off x="1762125" y="2228850"/>
                <a:ext cx="7191375" cy="9525"/>
              </a:xfrm>
              <a:custGeom>
                <a:avLst/>
                <a:gdLst/>
                <a:ahLst/>
                <a:cxnLst/>
                <a:rect l="l" t="t" r="r" b="b"/>
                <a:pathLst>
                  <a:path w="7191375" h="9525">
                    <a:moveTo>
                      <a:pt x="0" y="0"/>
                    </a:moveTo>
                    <a:lnTo>
                      <a:pt x="7191375" y="0"/>
                    </a:lnTo>
                  </a:path>
                </a:pathLst>
              </a:custGeom>
              <a:noFill/>
              <a:ln w="19050">
                <a:solidFill>
                  <a:srgbClr val="DEE2E6"/>
                </a:solidFill>
                <a:prstDash val="lgDash"/>
              </a:ln>
            </p:spPr>
          </p:sp>
        </p:grpSp>
        <p:grpSp>
          <p:nvGrpSpPr>
            <p:cNvPr id="17" name="Group 17"/>
            <p:cNvGrpSpPr/>
            <p:nvPr/>
          </p:nvGrpSpPr>
          <p:grpSpPr>
            <a:xfrm>
              <a:off x="1366838" y="2843212"/>
              <a:ext cx="7586662" cy="200025"/>
              <a:chOff x="1366838" y="2843212"/>
              <a:chExt cx="7586662" cy="200025"/>
            </a:xfrm>
          </p:grpSpPr>
          <p:grpSp>
            <p:nvGrpSpPr>
              <p:cNvPr id="15" name="Group 15"/>
              <p:cNvGrpSpPr/>
              <p:nvPr/>
            </p:nvGrpSpPr>
            <p:grpSpPr>
              <a:xfrm>
                <a:off x="1366838" y="2843212"/>
                <a:ext cx="200025" cy="200025"/>
                <a:chOff x="1366838" y="2843212"/>
                <a:chExt cx="200025" cy="200025"/>
              </a:xfrm>
            </p:grpSpPr>
            <p:sp>
              <p:nvSpPr>
                <p:cNvPr id="13" name="Freeform 13"/>
                <p:cNvSpPr/>
                <p:nvPr/>
              </p:nvSpPr>
              <p:spPr>
                <a:xfrm>
                  <a:off x="1366838" y="28432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4A6B82"/>
                  </a:solidFill>
                </a:ln>
              </p:spPr>
            </p:sp>
            <p:sp>
              <p:nvSpPr>
                <p:cNvPr id="14" name="Freeform 14"/>
                <p:cNvSpPr/>
                <p:nvPr/>
              </p:nvSpPr>
              <p:spPr>
                <a:xfrm>
                  <a:off x="1433512" y="2921000"/>
                  <a:ext cx="66675" cy="44450"/>
                </a:xfrm>
                <a:custGeom>
                  <a:avLst/>
                  <a:gdLst/>
                  <a:ahLst/>
                  <a:cxnLst/>
                  <a:rect l="l" t="t" r="r" b="b"/>
                  <a:pathLst>
                    <a:path w="66675" h="44450">
                      <a:moveTo>
                        <a:pt x="0" y="22225"/>
                      </a:moveTo>
                      <a:lnTo>
                        <a:pt x="22225" y="44450"/>
                      </a:lnTo>
                      <a:lnTo>
                        <a:pt x="66675" y="0"/>
                      </a:lnTo>
                    </a:path>
                  </a:pathLst>
                </a:custGeom>
                <a:noFill/>
                <a:ln w="19050">
                  <a:solidFill>
                    <a:srgbClr val="4A6B82"/>
                  </a:solidFill>
                </a:ln>
              </p:spPr>
            </p:sp>
          </p:grpSp>
          <p:sp>
            <p:nvSpPr>
              <p:cNvPr id="16" name="Line 16"/>
              <p:cNvSpPr/>
              <p:nvPr/>
            </p:nvSpPr>
            <p:spPr>
              <a:xfrm>
                <a:off x="1762125" y="2990850"/>
                <a:ext cx="7191375" cy="9525"/>
              </a:xfrm>
              <a:custGeom>
                <a:avLst/>
                <a:gdLst/>
                <a:ahLst/>
                <a:cxnLst/>
                <a:rect l="l" t="t" r="r" b="b"/>
                <a:pathLst>
                  <a:path w="7191375" h="9525">
                    <a:moveTo>
                      <a:pt x="0" y="0"/>
                    </a:moveTo>
                    <a:lnTo>
                      <a:pt x="7191375" y="0"/>
                    </a:lnTo>
                  </a:path>
                </a:pathLst>
              </a:custGeom>
              <a:noFill/>
              <a:ln w="19050">
                <a:solidFill>
                  <a:srgbClr val="DEE2E6"/>
                </a:solidFill>
                <a:prstDash val="lgDash"/>
              </a:ln>
            </p:spPr>
          </p:sp>
        </p:grpSp>
        <p:grpSp>
          <p:nvGrpSpPr>
            <p:cNvPr id="22" name="Group 22"/>
            <p:cNvGrpSpPr/>
            <p:nvPr/>
          </p:nvGrpSpPr>
          <p:grpSpPr>
            <a:xfrm>
              <a:off x="1366838" y="3605212"/>
              <a:ext cx="7586662" cy="200025"/>
              <a:chOff x="1366838" y="3605212"/>
              <a:chExt cx="7586662" cy="200025"/>
            </a:xfrm>
          </p:grpSpPr>
          <p:grpSp>
            <p:nvGrpSpPr>
              <p:cNvPr id="20" name="Group 20"/>
              <p:cNvGrpSpPr/>
              <p:nvPr/>
            </p:nvGrpSpPr>
            <p:grpSpPr>
              <a:xfrm>
                <a:off x="1366838" y="3605212"/>
                <a:ext cx="200025" cy="200025"/>
                <a:chOff x="1366838" y="3605212"/>
                <a:chExt cx="200025" cy="200025"/>
              </a:xfrm>
            </p:grpSpPr>
            <p:sp>
              <p:nvSpPr>
                <p:cNvPr id="18" name="Freeform 18"/>
                <p:cNvSpPr/>
                <p:nvPr/>
              </p:nvSpPr>
              <p:spPr>
                <a:xfrm>
                  <a:off x="1366838" y="36052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4A6B82"/>
                  </a:solidFill>
                </a:ln>
              </p:spPr>
            </p:sp>
            <p:sp>
              <p:nvSpPr>
                <p:cNvPr id="19" name="Freeform 19"/>
                <p:cNvSpPr/>
                <p:nvPr/>
              </p:nvSpPr>
              <p:spPr>
                <a:xfrm>
                  <a:off x="1433512" y="3683000"/>
                  <a:ext cx="66675" cy="44450"/>
                </a:xfrm>
                <a:custGeom>
                  <a:avLst/>
                  <a:gdLst/>
                  <a:ahLst/>
                  <a:cxnLst/>
                  <a:rect l="l" t="t" r="r" b="b"/>
                  <a:pathLst>
                    <a:path w="66675" h="44450">
                      <a:moveTo>
                        <a:pt x="0" y="22225"/>
                      </a:moveTo>
                      <a:lnTo>
                        <a:pt x="22225" y="44450"/>
                      </a:lnTo>
                      <a:lnTo>
                        <a:pt x="66675" y="0"/>
                      </a:lnTo>
                    </a:path>
                  </a:pathLst>
                </a:custGeom>
                <a:noFill/>
                <a:ln w="19050">
                  <a:solidFill>
                    <a:srgbClr val="4A6B82"/>
                  </a:solidFill>
                </a:ln>
              </p:spPr>
            </p:sp>
          </p:grpSp>
          <p:sp>
            <p:nvSpPr>
              <p:cNvPr id="21" name="Line 21"/>
              <p:cNvSpPr/>
              <p:nvPr/>
            </p:nvSpPr>
            <p:spPr>
              <a:xfrm>
                <a:off x="1762125" y="3752850"/>
                <a:ext cx="7191375" cy="9525"/>
              </a:xfrm>
              <a:custGeom>
                <a:avLst/>
                <a:gdLst/>
                <a:ahLst/>
                <a:cxnLst/>
                <a:rect l="l" t="t" r="r" b="b"/>
                <a:pathLst>
                  <a:path w="7191375" h="9525">
                    <a:moveTo>
                      <a:pt x="0" y="0"/>
                    </a:moveTo>
                    <a:lnTo>
                      <a:pt x="7191375" y="0"/>
                    </a:lnTo>
                  </a:path>
                </a:pathLst>
              </a:custGeom>
              <a:noFill/>
              <a:ln w="19050">
                <a:solidFill>
                  <a:srgbClr val="DEE2E6"/>
                </a:solidFill>
                <a:prstDash val="lgDash"/>
              </a:ln>
            </p:spPr>
          </p:sp>
        </p:grpSp>
        <p:grpSp>
          <p:nvGrpSpPr>
            <p:cNvPr id="27" name="Group 27"/>
            <p:cNvGrpSpPr/>
            <p:nvPr/>
          </p:nvGrpSpPr>
          <p:grpSpPr>
            <a:xfrm>
              <a:off x="1366838" y="4367212"/>
              <a:ext cx="7586662" cy="200025"/>
              <a:chOff x="1366838" y="4367212"/>
              <a:chExt cx="7586662" cy="200025"/>
            </a:xfrm>
          </p:grpSpPr>
          <p:grpSp>
            <p:nvGrpSpPr>
              <p:cNvPr id="25" name="Group 25"/>
              <p:cNvGrpSpPr/>
              <p:nvPr/>
            </p:nvGrpSpPr>
            <p:grpSpPr>
              <a:xfrm>
                <a:off x="1366838" y="4367212"/>
                <a:ext cx="200025" cy="200025"/>
                <a:chOff x="1366838" y="4367212"/>
                <a:chExt cx="200025" cy="200025"/>
              </a:xfrm>
            </p:grpSpPr>
            <p:sp>
              <p:nvSpPr>
                <p:cNvPr id="23" name="Freeform 23"/>
                <p:cNvSpPr/>
                <p:nvPr/>
              </p:nvSpPr>
              <p:spPr>
                <a:xfrm>
                  <a:off x="1366838" y="4367212"/>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4A6B82"/>
                  </a:solidFill>
                </a:ln>
              </p:spPr>
            </p:sp>
            <p:sp>
              <p:nvSpPr>
                <p:cNvPr id="24" name="Freeform 24"/>
                <p:cNvSpPr/>
                <p:nvPr/>
              </p:nvSpPr>
              <p:spPr>
                <a:xfrm>
                  <a:off x="1433512" y="4445000"/>
                  <a:ext cx="66675" cy="44450"/>
                </a:xfrm>
                <a:custGeom>
                  <a:avLst/>
                  <a:gdLst/>
                  <a:ahLst/>
                  <a:cxnLst/>
                  <a:rect l="l" t="t" r="r" b="b"/>
                  <a:pathLst>
                    <a:path w="66675" h="44450">
                      <a:moveTo>
                        <a:pt x="0" y="22225"/>
                      </a:moveTo>
                      <a:lnTo>
                        <a:pt x="22225" y="44450"/>
                      </a:lnTo>
                      <a:lnTo>
                        <a:pt x="66675" y="0"/>
                      </a:lnTo>
                    </a:path>
                  </a:pathLst>
                </a:custGeom>
                <a:noFill/>
                <a:ln w="19050">
                  <a:solidFill>
                    <a:srgbClr val="4A6B82"/>
                  </a:solidFill>
                </a:ln>
              </p:spPr>
            </p:sp>
          </p:grpSp>
          <p:sp>
            <p:nvSpPr>
              <p:cNvPr id="26" name="Line 26"/>
              <p:cNvSpPr/>
              <p:nvPr/>
            </p:nvSpPr>
            <p:spPr>
              <a:xfrm>
                <a:off x="1762125" y="4514850"/>
                <a:ext cx="7191375" cy="9525"/>
              </a:xfrm>
              <a:custGeom>
                <a:avLst/>
                <a:gdLst/>
                <a:ahLst/>
                <a:cxnLst/>
                <a:rect l="l" t="t" r="r" b="b"/>
                <a:pathLst>
                  <a:path w="7191375" h="9525">
                    <a:moveTo>
                      <a:pt x="0" y="0"/>
                    </a:moveTo>
                    <a:lnTo>
                      <a:pt x="7191375" y="0"/>
                    </a:lnTo>
                  </a:path>
                </a:pathLst>
              </a:custGeom>
              <a:noFill/>
              <a:ln w="19050">
                <a:solidFill>
                  <a:srgbClr val="DEE2E6"/>
                </a:solidFill>
                <a:prstDash val="lgDash"/>
              </a:ln>
            </p:spPr>
          </p:sp>
        </p:grpSp>
      </p:grpSp>
      <p:grpSp>
        <p:nvGrpSpPr>
          <p:cNvPr id="30" name="Group 30"/>
          <p:cNvGrpSpPr/>
          <p:nvPr/>
        </p:nvGrpSpPr>
        <p:grpSpPr>
          <a:xfrm>
            <a:off x="2501717" y="5601652"/>
            <a:ext cx="7188565" cy="213360"/>
            <a:chOff x="2501717" y="5601652"/>
            <a:chExt cx="7188565" cy="213360"/>
          </a:xfrm>
        </p:grpSpPr>
        <p:sp>
          <p:nvSpPr>
            <p:cNvPr id="29" name="TextBox 29"/>
            <p:cNvSpPr txBox="1"/>
            <p:nvPr/>
          </p:nvSpPr>
          <p:spPr>
            <a:xfrm>
              <a:off x="2501717" y="5601652"/>
              <a:ext cx="7188565"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*The bullet points are empty on screen but the notes are visible. Tests if the presenter can read ahead.</a:t>
              </a:r>
            </a:p>
          </p:txBody>
        </p:sp>
      </p:grpSp>
      <p:grpSp>
        <p:nvGrpSpPr>
          <p:cNvPr id="34" name="Group 34"/>
          <p:cNvGrpSpPr/>
          <p:nvPr/>
        </p:nvGrpSpPr>
        <p:grpSpPr>
          <a:xfrm>
            <a:off x="560070" y="6238875"/>
            <a:ext cx="11071860" cy="323850"/>
            <a:chOff x="560070" y="6238875"/>
            <a:chExt cx="11071860" cy="323850"/>
          </a:xfrm>
        </p:grpSpPr>
        <p:sp>
          <p:nvSpPr>
            <p:cNvPr id="31" name="Line 31"/>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32" name="TextBox 32"/>
            <p:cNvSpPr txBox="1"/>
            <p:nvPr/>
          </p:nvSpPr>
          <p:spPr>
            <a:xfrm>
              <a:off x="560070" y="6379845"/>
              <a:ext cx="2195131"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READAHEAD_CHECK: BLANK_BULLETS_OK</a:t>
              </a:r>
            </a:p>
          </p:txBody>
        </p:sp>
        <p:sp>
          <p:nvSpPr>
            <p:cNvPr id="33" name="TextBox 33"/>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lgGrid">
            <a:fgClr>
              <a:srgbClr val="E9ECEF"/>
            </a:fgClr>
            <a:bgClr>
              <a:srgbClr val="F4F6F9"/>
            </a:bgClr>
          </a:pattFill>
          <a:ln>
            <a:noFill/>
          </a:ln>
        </p:spPr>
      </p:sp>
      <p:grpSp>
        <p:nvGrpSpPr>
          <p:cNvPr id="5" name="Group 5"/>
          <p:cNvGrpSpPr/>
          <p:nvPr/>
        </p:nvGrpSpPr>
        <p:grpSpPr>
          <a:xfrm>
            <a:off x="560070" y="379095"/>
            <a:ext cx="11060430" cy="249555"/>
            <a:chOff x="560070" y="379095"/>
            <a:chExt cx="11060430" cy="249555"/>
          </a:xfrm>
        </p:grpSpPr>
        <p:sp>
          <p:nvSpPr>
            <p:cNvPr id="3" name="TextBox 3"/>
            <p:cNvSpPr txBox="1"/>
            <p:nvPr/>
          </p:nvSpPr>
          <p:spPr>
            <a:xfrm>
              <a:off x="560070" y="379095"/>
              <a:ext cx="1367028"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SYS.CONCLUSION // END</a:t>
              </a:r>
            </a:p>
          </p:txBody>
        </p:sp>
        <p:sp>
          <p:nvSpPr>
            <p:cNvPr id="4" name="Line 4"/>
            <p:cNvSpPr/>
            <p:nvPr/>
          </p:nvSpPr>
          <p:spPr>
            <a:xfrm>
              <a:off x="571500" y="619125"/>
              <a:ext cx="11049000" cy="9525"/>
            </a:xfrm>
            <a:custGeom>
              <a:avLst/>
              <a:gdLst/>
              <a:ahLst/>
              <a:cxnLst/>
              <a:rect l="l" t="t" r="r" b="b"/>
              <a:pathLst>
                <a:path w="11049000" h="9525">
                  <a:moveTo>
                    <a:pt x="0" y="0"/>
                  </a:moveTo>
                  <a:lnTo>
                    <a:pt x="11049000" y="0"/>
                  </a:lnTo>
                </a:path>
              </a:pathLst>
            </a:custGeom>
            <a:noFill/>
            <a:ln w="14288">
              <a:solidFill>
                <a:srgbClr val="DEE2E6"/>
              </a:solidFill>
            </a:ln>
          </p:spPr>
        </p:sp>
      </p:grpSp>
      <p:grpSp>
        <p:nvGrpSpPr>
          <p:cNvPr id="8" name="Group 8"/>
          <p:cNvGrpSpPr/>
          <p:nvPr/>
        </p:nvGrpSpPr>
        <p:grpSpPr>
          <a:xfrm>
            <a:off x="3027881" y="1518285"/>
            <a:ext cx="6136238" cy="548640"/>
            <a:chOff x="3027881" y="1518285"/>
            <a:chExt cx="6136238" cy="548640"/>
          </a:xfrm>
        </p:grpSpPr>
        <p:sp>
          <p:nvSpPr>
            <p:cNvPr id="6" name="TextBox 6"/>
            <p:cNvSpPr txBox="1"/>
            <p:nvPr/>
          </p:nvSpPr>
          <p:spPr>
            <a:xfrm>
              <a:off x="3027881" y="1518285"/>
              <a:ext cx="6136238" cy="548640"/>
            </a:xfrm>
            <a:prstGeom prst="rect">
              <a:avLst/>
            </a:prstGeom>
            <a:noFill/>
            <a:ln>
              <a:noFill/>
            </a:ln>
          </p:spPr>
          <p:txBody>
            <a:bodyPr wrap="none" lIns="0" tIns="0" rIns="0" bIns="0" anchor="t" anchorCtr="0">
              <a:spAutoFit/>
            </a:bodyPr>
            <a:lstStyle/>
            <a:p>
              <a:pPr algn="ctr"/>
              <a:r>
                <a:rPr lang="zh-CN" sz="2700" b="1" dirty="0">
                  <a:solidFill>
                    <a:srgbClr val="0F2C59"/>
                  </a:solidFill>
                  <a:latin typeface="Arial"/>
                  <a:ea typeface="Microsoft YaHei"/>
                  <a:cs typeface="Arial"/>
                </a:rPr>
                <a:t>Questions &amp; Strategic Discussion</a:t>
              </a:r>
            </a:p>
          </p:txBody>
        </p:sp>
        <p:sp>
          <p:nvSpPr>
            <p:cNvPr id="7" name="Line 7"/>
            <p:cNvSpPr/>
            <p:nvPr/>
          </p:nvSpPr>
          <p:spPr>
            <a:xfrm>
              <a:off x="4953000" y="2047875"/>
              <a:ext cx="2286000" cy="9525"/>
            </a:xfrm>
            <a:custGeom>
              <a:avLst/>
              <a:gdLst/>
              <a:ahLst/>
              <a:cxnLst/>
              <a:rect l="l" t="t" r="r" b="b"/>
              <a:pathLst>
                <a:path w="2286000" h="9525">
                  <a:moveTo>
                    <a:pt x="0" y="0"/>
                  </a:moveTo>
                  <a:lnTo>
                    <a:pt x="2286000" y="0"/>
                  </a:lnTo>
                </a:path>
              </a:pathLst>
            </a:custGeom>
            <a:noFill/>
            <a:ln w="19050">
              <a:solidFill>
                <a:srgbClr val="008080"/>
              </a:solidFill>
            </a:ln>
          </p:spPr>
        </p:sp>
      </p:grpSp>
      <p:grpSp>
        <p:nvGrpSpPr>
          <p:cNvPr id="10" name="Group 10"/>
          <p:cNvGrpSpPr/>
          <p:nvPr/>
        </p:nvGrpSpPr>
        <p:grpSpPr>
          <a:xfrm>
            <a:off x="4203611" y="2910840"/>
            <a:ext cx="3784778" cy="975360"/>
            <a:chOff x="4203611" y="2910840"/>
            <a:chExt cx="3784778" cy="975360"/>
          </a:xfrm>
          <a:effectLst>
            <a:glow rad="76200">
              <a:srgbClr val="008080">
                <a:alpha val="20000"/>
              </a:srgbClr>
            </a:glow>
          </a:effectLst>
        </p:grpSpPr>
        <p:sp>
          <p:nvSpPr>
            <p:cNvPr id="9" name="TextBox 9"/>
            <p:cNvSpPr txBox="1"/>
            <p:nvPr/>
          </p:nvSpPr>
          <p:spPr>
            <a:xfrm>
              <a:off x="4203611" y="2910840"/>
              <a:ext cx="3784778" cy="975360"/>
            </a:xfrm>
            <a:prstGeom prst="rect">
              <a:avLst/>
            </a:prstGeom>
            <a:noFill/>
            <a:ln>
              <a:noFill/>
            </a:ln>
          </p:spPr>
          <p:txBody>
            <a:bodyPr wrap="none" lIns="0" tIns="0" rIns="0" bIns="0" anchor="t" anchorCtr="0">
              <a:spAutoFit/>
            </a:bodyPr>
            <a:lstStyle/>
            <a:p>
              <a:pPr algn="ctr"/>
              <a:r>
                <a:rPr lang="zh-CN" sz="4800" b="1" dirty="0">
                  <a:solidFill>
                    <a:srgbClr val="0F2C59"/>
                  </a:solidFill>
                  <a:effectLst>
                    <a:glow rad="76200">
                      <a:srgbClr val="008080">
                        <a:alpha val="20000"/>
                      </a:srgbClr>
                    </a:glow>
                  </a:effectLst>
                  <a:latin typeface="Arial"/>
                  <a:ea typeface="Microsoft YaHei"/>
                  <a:cs typeface="Arial"/>
                </a:rPr>
                <a:t>THANK YOU.</a:t>
              </a:r>
            </a:p>
          </p:txBody>
        </p:sp>
      </p:grpSp>
      <p:grpSp>
        <p:nvGrpSpPr>
          <p:cNvPr id="13" name="Group 13"/>
          <p:cNvGrpSpPr/>
          <p:nvPr/>
        </p:nvGrpSpPr>
        <p:grpSpPr>
          <a:xfrm>
            <a:off x="4196524" y="4410075"/>
            <a:ext cx="3798951" cy="657225"/>
            <a:chOff x="4196524" y="4410075"/>
            <a:chExt cx="3798951" cy="657225"/>
          </a:xfrm>
        </p:grpSpPr>
        <p:sp>
          <p:nvSpPr>
            <p:cNvPr id="11" name="TextBox 11"/>
            <p:cNvSpPr txBox="1"/>
            <p:nvPr/>
          </p:nvSpPr>
          <p:spPr>
            <a:xfrm>
              <a:off x="5005816" y="4410075"/>
              <a:ext cx="2180368" cy="304800"/>
            </a:xfrm>
            <a:prstGeom prst="rect">
              <a:avLst/>
            </a:prstGeom>
            <a:noFill/>
            <a:ln>
              <a:noFill/>
            </a:ln>
          </p:spPr>
          <p:txBody>
            <a:bodyPr wrap="none" lIns="0" tIns="0" rIns="0" bIns="0" anchor="t" anchorCtr="0">
              <a:spAutoFit/>
            </a:bodyPr>
            <a:lstStyle/>
            <a:p>
              <a:pPr algn="ctr"/>
              <a:r>
                <a:rPr lang="zh-CN" sz="1500" b="1" dirty="0">
                  <a:solidFill>
                    <a:srgbClr val="212529"/>
                  </a:solidFill>
                  <a:latin typeface="Arial"/>
                  <a:ea typeface="Microsoft YaHei"/>
                  <a:cs typeface="Arial"/>
                </a:rPr>
                <a:t>Q&amp;A Session: Closed.</a:t>
              </a:r>
            </a:p>
          </p:txBody>
        </p:sp>
        <p:sp>
          <p:nvSpPr>
            <p:cNvPr id="12" name="TextBox 12"/>
            <p:cNvSpPr txBox="1"/>
            <p:nvPr/>
          </p:nvSpPr>
          <p:spPr>
            <a:xfrm>
              <a:off x="4196524" y="4823460"/>
              <a:ext cx="3798951" cy="243840"/>
            </a:xfrm>
            <a:prstGeom prst="rect">
              <a:avLst/>
            </a:prstGeom>
            <a:noFill/>
            <a:ln>
              <a:noFill/>
            </a:ln>
          </p:spPr>
          <p:txBody>
            <a:bodyPr wrap="none" lIns="0" tIns="0" rIns="0" bIns="0" anchor="t" anchorCtr="0">
              <a:spAutoFit/>
            </a:bodyPr>
            <a:lstStyle/>
            <a:p>
              <a:pPr algn="ctr"/>
              <a:r>
                <a:rPr lang="zh-CN" sz="1200" dirty="0">
                  <a:solidFill>
                    <a:srgbClr val="6C757D"/>
                  </a:solidFill>
                  <a:latin typeface="Arial"/>
                  <a:ea typeface="Microsoft YaHei"/>
                  <a:cs typeface="Arial"/>
                </a:rPr>
                <a:t>Action: Please proceed to the next agenda item.</a:t>
              </a:r>
            </a:p>
          </p:txBody>
        </p:sp>
      </p:grpSp>
      <p:grpSp>
        <p:nvGrpSpPr>
          <p:cNvPr id="15" name="Group 15"/>
          <p:cNvGrpSpPr/>
          <p:nvPr/>
        </p:nvGrpSpPr>
        <p:grpSpPr>
          <a:xfrm>
            <a:off x="3051286" y="5554028"/>
            <a:ext cx="6089428" cy="213360"/>
            <a:chOff x="3051286" y="5554028"/>
            <a:chExt cx="6089428" cy="213360"/>
          </a:xfrm>
        </p:grpSpPr>
        <p:sp>
          <p:nvSpPr>
            <p:cNvPr id="14" name="TextBox 14"/>
            <p:cNvSpPr txBox="1"/>
            <p:nvPr/>
          </p:nvSpPr>
          <p:spPr>
            <a:xfrm>
              <a:off x="3051286" y="5554028"/>
              <a:ext cx="6089428" cy="213360"/>
            </a:xfrm>
            <a:prstGeom prst="rect">
              <a:avLst/>
            </a:prstGeom>
            <a:noFill/>
            <a:ln>
              <a:noFill/>
            </a:ln>
          </p:spPr>
          <p:txBody>
            <a:bodyPr wrap="none" lIns="0" tIns="0" rIns="0" bIns="0" anchor="t" anchorCtr="0">
              <a:spAutoFit/>
            </a:bodyPr>
            <a:lstStyle/>
            <a:p>
              <a:pPr algn="ctr"/>
              <a:r>
                <a:rPr lang="zh-CN" sz="1050" dirty="0">
                  <a:solidFill>
                    <a:srgbClr val="6C757D"/>
                  </a:solidFill>
                  <a:latin typeface="Arial"/>
                  <a:ea typeface="Microsoft YaHei"/>
                  <a:cs typeface="Arial"/>
                </a:rPr>
                <a:t>*Color rendering check. Check for color bleed on white text. End of presentation check.</a:t>
              </a:r>
            </a:p>
          </p:txBody>
        </p:sp>
      </p:grpSp>
      <p:grpSp>
        <p:nvGrpSpPr>
          <p:cNvPr id="19" name="Group 19"/>
          <p:cNvGrpSpPr/>
          <p:nvPr/>
        </p:nvGrpSpPr>
        <p:grpSpPr>
          <a:xfrm>
            <a:off x="560070" y="6238875"/>
            <a:ext cx="11071860" cy="323850"/>
            <a:chOff x="560070" y="6238875"/>
            <a:chExt cx="11071860" cy="323850"/>
          </a:xfrm>
        </p:grpSpPr>
        <p:sp>
          <p:nvSpPr>
            <p:cNvPr id="16" name="Line 16"/>
            <p:cNvSpPr/>
            <p:nvPr/>
          </p:nvSpPr>
          <p:spPr>
            <a:xfrm>
              <a:off x="571500" y="6238875"/>
              <a:ext cx="11049000" cy="9525"/>
            </a:xfrm>
            <a:custGeom>
              <a:avLst/>
              <a:gdLst/>
              <a:ahLst/>
              <a:cxnLst/>
              <a:rect l="l" t="t" r="r" b="b"/>
              <a:pathLst>
                <a:path w="11049000" h="9525">
                  <a:moveTo>
                    <a:pt x="0" y="0"/>
                  </a:moveTo>
                  <a:lnTo>
                    <a:pt x="11049000" y="0"/>
                  </a:lnTo>
                </a:path>
              </a:pathLst>
            </a:custGeom>
            <a:noFill/>
            <a:ln w="14288">
              <a:solidFill>
                <a:srgbClr val="DEE2E6"/>
              </a:solidFill>
            </a:ln>
          </p:spPr>
        </p:sp>
        <p:sp>
          <p:nvSpPr>
            <p:cNvPr id="17" name="TextBox 17"/>
            <p:cNvSpPr txBox="1"/>
            <p:nvPr/>
          </p:nvSpPr>
          <p:spPr>
            <a:xfrm>
              <a:off x="560070" y="6379845"/>
              <a:ext cx="2291143" cy="182880"/>
            </a:xfrm>
            <a:prstGeom prst="rect">
              <a:avLst/>
            </a:prstGeom>
            <a:noFill/>
            <a:ln>
              <a:noFill/>
            </a:ln>
          </p:spPr>
          <p:txBody>
            <a:bodyPr wrap="none" lIns="0" tIns="0" rIns="0" bIns="0" anchor="t" anchorCtr="0">
              <a:spAutoFit/>
            </a:bodyPr>
            <a:lstStyle/>
            <a:p>
              <a:pPr algn="l"/>
              <a:r>
                <a:rPr lang="zh-CN" sz="900" dirty="0">
                  <a:solidFill>
                    <a:srgbClr val="6C757D"/>
                  </a:solidFill>
                  <a:latin typeface="Consolas"/>
                  <a:ea typeface="Microsoft YaHei"/>
                  <a:cs typeface="Consolas"/>
                </a:rPr>
                <a:t>COLOR_CHECK: PALETTE_INTEGRITY_TEST</a:t>
              </a:r>
            </a:p>
          </p:txBody>
        </p:sp>
        <p:sp>
          <p:nvSpPr>
            <p:cNvPr id="18" name="TextBox 18"/>
            <p:cNvSpPr txBox="1"/>
            <p:nvPr/>
          </p:nvSpPr>
          <p:spPr>
            <a:xfrm>
              <a:off x="10810970" y="6379845"/>
              <a:ext cx="820960" cy="182880"/>
            </a:xfrm>
            <a:prstGeom prst="rect">
              <a:avLst/>
            </a:prstGeom>
            <a:noFill/>
            <a:ln>
              <a:noFill/>
            </a:ln>
          </p:spPr>
          <p:txBody>
            <a:bodyPr wrap="none" lIns="0" tIns="0" rIns="0" bIns="0" anchor="t" anchorCtr="0">
              <a:spAutoFit/>
            </a:bodyPr>
            <a:lstStyle/>
            <a:p>
              <a:pPr algn="r"/>
              <a:r>
                <a:rPr lang="zh-CN" sz="900" dirty="0">
                  <a:solidFill>
                    <a:srgbClr val="6C757D"/>
                  </a:solidFill>
                  <a:latin typeface="Consolas"/>
                  <a:ea typeface="Microsoft YaHei"/>
                  <a:cs typeface="Consolas"/>
                </a:rPr>
                <a:t>PAGE_15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400"/>
                                        <p:tgtEl>
                                          <p:spTgt spid="13"/>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2026-06-14T19:17:05Z</dcterms:created>
  <dcterms:modified xsi:type="dcterms:W3CDTF">2026-06-14T19:17:05Z</dcterms:modified>
  <cp:category/>
  <cp:contentStatus/>
</cp:coreProperties>
</file>