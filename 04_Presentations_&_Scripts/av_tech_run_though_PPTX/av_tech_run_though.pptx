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NOTES ===</a:t>
            </a:r>
          </a:p>
          <a:p>
            <a:r>
              <a:t>AV TECH CUES:</a:t>
            </a:r>
          </a:p>
          <a:p>
            <a:r>
              <a:t>- Audio: Start speaking to establish microphone gain (lapel/handheld).</a:t>
            </a:r>
          </a:p>
          <a:p>
            <a:r>
              <a:t>- Video: Verify widescreen 16:9 projection aspect ratio and edge alignment.</a:t>
            </a:r>
          </a:p>
          <a:p>
            <a:r>
              <a:t>- Confidence Monitor: Verify the title slide appears correctly on the floor monitor.</a:t>
            </a:r>
          </a:p>
          <a:p/>
          <a:p>
            <a:r>
              <a:t>PRESENTER SCRIPT:</a:t>
            </a:r>
          </a:p>
          <a:p>
            <a:r>
              <a:t>"Hello and welcome, everyone. Today we are going to explore a question of absolute historical significance: 'Why should anyone listen to the presenter?' Now, while we ponder this deep psychological mystery, you might notice that my slides look clean and my voice is projecting nicely. That is because this is actually a stealthy five-minute technical check. So if you can't hear me in the back, or if my face looks green on screen, let's fix it 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NOTES ===</a:t>
            </a:r>
          </a:p>
          <a:p>
            <a:r>
              <a:t>AV TECH CUES:</a:t>
            </a:r>
          </a:p>
          <a:p>
            <a:r>
              <a:t>- Audio: Check vocal projection. Speak clearly and at a standard pace.</a:t>
            </a:r>
          </a:p>
          <a:p>
            <a:r>
              <a:t>- Video: Verify text contrast on the screen. The white bullet text and cyan accents should be easily readable.</a:t>
            </a:r>
          </a:p>
          <a:p/>
          <a:p>
            <a:r>
              <a:t>PRESENTER SCRIPT:</a:t>
            </a:r>
          </a:p>
          <a:p>
            <a:r>
              <a:t>"To answer why you should listen to me, we must look at the math. The Universal Credibility Formula states that credibility is confidence times volume, divided by the number of times I say 'Um'. Confidence is my job. Volume is the tech booth's job. And 'Um' is the friction. If I say 'Um' too much, my credibility drops. If the tech booth turns my volume down, my credibility also drops. So we are working in partnership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NOTES ===</a:t>
            </a:r>
          </a:p>
          <a:p>
            <a:r>
              <a:t>AV TECH CUES:</a:t>
            </a:r>
          </a:p>
          <a:p>
            <a:r>
              <a:t>- Confidence Monitor check: Look down and check if notes are large enough to read easily. Confirm the stage monitor displays this two-column layout correctly.</a:t>
            </a:r>
          </a:p>
          <a:p/>
          <a:p>
            <a:r>
              <a:t>PRESENTER SCRIPT:</a:t>
            </a:r>
          </a:p>
          <a:p>
            <a:r>
              <a:t>"This brings us to the confidence monitor on the floor in front of me. The expectation is that I look at you and only glance down occasionally. The reality is that this screen is highly magnetic. It takes enormous strength not to just stare at my feet and read this word-for-word like a hostage. Let's do a live calibration. Tech team: the monitor looks great, text size is spot on, and I am going to try my best to look up at the audience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NOTES ===</a:t>
            </a:r>
          </a:p>
          <a:p>
            <a:r>
              <a:t>AV TECH CUES:</a:t>
            </a:r>
          </a:p>
          <a:p>
            <a:r>
              <a:t>- Audio levels test: Change vocal dynamics here. Speak very quietly, then speak with high energy to test compression/limiting thresholds.</a:t>
            </a:r>
          </a:p>
          <a:p/>
          <a:p>
            <a:r>
              <a:t>PRESENTER SCRIPT:</a:t>
            </a:r>
          </a:p>
          <a:p>
            <a:r>
              <a:t>"Now for audio check part two: The Microphone Paradox. When handed a mic, everyone wants to tap it. Please don't. The sound engineers will wince. Instead, let's test dynamic range. I'm going to whisper a bit to see if you can still hear me clearly [whisper slightly]. Now, I'll speak at a higher projection to make sure I'm not clipping the master channel. Perfect. The sound is crisp and there's no feedback."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NOTES ===</a:t>
            </a:r>
          </a:p>
          <a:p>
            <a:r>
              <a:t>AV TECH CUES:</a:t>
            </a:r>
          </a:p>
          <a:p>
            <a:r>
              <a:t>- Video color space check: Verify that primary and secondary colors are distinct. If the yellow looks green, or the white block looks yellowish, the projector bulb or connection cables need adjustment.</a:t>
            </a:r>
          </a:p>
          <a:p/>
          <a:p>
            <a:r>
              <a:t>PRESENTER SCRIPT:</a:t>
            </a:r>
          </a:p>
          <a:p>
            <a:r>
              <a:t>"Now for the visual calibration check. We have eight color swatches lined up. These test the projector's color fidelity. If my magenta block looks red, or the cyan looks like regular blue, then either the projector bulb is tired, or my design choices are even worse than my wardrobe. Everything looks highly vibrant up here. The colors are perfectly balanced."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NOTES ===</a:t>
            </a:r>
          </a:p>
          <a:p>
            <a:r>
              <a:t>AV TECH CUES:</a:t>
            </a:r>
          </a:p>
          <a:p>
            <a:r>
              <a:t>- Clicker range check: Walk to the far left and right edges of the stage. Test clicking the remote from different spots to check transmitter range and line-of-sight.</a:t>
            </a:r>
          </a:p>
          <a:p/>
          <a:p>
            <a:r>
              <a:t>PRESENTER SCRIPT:</a:t>
            </a:r>
          </a:p>
          <a:p>
            <a:r>
              <a:t>"Let's test the wireless clicker range. I'm going to walk over to stage left, press the button... it works. Now, stage right... press... works. The latency check is successful. We want to avoid the Clicker Paradox where you press the clicker, nothing happens for 3 seconds, you press it again in a panic, and suddenly you're three slides ahead, looking at your thank you slide before you've even introduced your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NOTES ===</a:t>
            </a:r>
          </a:p>
          <a:p>
            <a:r>
              <a:t>AV TECH CUES:</a:t>
            </a:r>
          </a:p>
          <a:p>
            <a:r>
              <a:t>- Screen Glare check: Check if the laser pointer (red or green) is clearly visible on the screen. Adjust projector brightness if it washes out the laser dot.</a:t>
            </a:r>
          </a:p>
          <a:p/>
          <a:p>
            <a:r>
              <a:t>PRESENTER SCRIPT:</a:t>
            </a:r>
          </a:p>
          <a:p>
            <a:r>
              <a:t>"Pillar number one of presentation authority is the laser pointer. It is scientifically proven that humans have a cat-like response to a tiny dot of light. If I point it here, you look here. However, the most important rule is the danger zone. Never point your laser pointer at the tech booth. The crew has controls that can instantly cut your mic, play exit music, or turn off the projector. Keep the laser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NOTES ===</a:t>
            </a:r>
          </a:p>
          <a:p>
            <a:r>
              <a:t>AV TECH CUES:</a:t>
            </a:r>
          </a:p>
          <a:p>
            <a:r>
              <a:t>- Audio/Video Sync check: This slide acts as a placeholder for audio-video playback verification. Ensure HDMI/Aux audio output is patched and active.</a:t>
            </a:r>
          </a:p>
          <a:p/>
          <a:p>
            <a:r>
              <a:t>PRESENTER SCRIPT:</a:t>
            </a:r>
          </a:p>
          <a:p>
            <a:r>
              <a:t>"The ultimate high-stakes gamble in modern presenting is the embedded video. You click play, you wait, and you pray to the AV gods. Usually, the video works, but there is no sound. You look at the tech crew, they look at you, and you both participate in an awkward staring contest. Thankfully, we are keeping it safe today with static slides, but if you have a video in your presentation, make sure to test it during soundcheck!"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NOTES ===</a:t>
            </a:r>
          </a:p>
          <a:p>
            <a:r>
              <a:t>AV TECH CUES:</a:t>
            </a:r>
          </a:p>
          <a:p>
            <a:r>
              <a:t>- Camera alignment &amp; stage lighting check: Verify that the presenter's clothing doesn't blend into the slide background on the video feed. Check for lighting hotspots on clothing.</a:t>
            </a:r>
          </a:p>
          <a:p/>
          <a:p>
            <a:r>
              <a:t>PRESENTER SCRIPT:</a:t>
            </a:r>
          </a:p>
          <a:p>
            <a:r>
              <a:t>"Pillar number two of credibility is your wardrobe. It is a technical check for the video team. If you wear a black shirt in front of a dark slide, on camera you look like a floating head. If you wear tiny pinstripes, you create a moiré effect that makes the camera sensor look like it's hallucinating. Also, always wear something with a waistband. If you don't, the tech crew has to clip a heavy wireless battery pack to your collar, which ruins your posture and your confidence."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NOTES ===</a:t>
            </a:r>
          </a:p>
          <a:p>
            <a:r>
              <a:t>AV TECH CUES:</a:t>
            </a:r>
          </a:p>
          <a:p>
            <a:r>
              <a:t>- Stage boundary test: Physically walk to the left, center, and right stage areas to test lighting coverage and check for audio feedback when close to side speakers.</a:t>
            </a:r>
          </a:p>
          <a:p/>
          <a:p>
            <a:r>
              <a:t>PRESENTER SCRIPT:</a:t>
            </a:r>
          </a:p>
          <a:p>
            <a:r>
              <a:t>"This slide is a physical boundary check. Stage Left is a Safe Zone—nice lighting, no feedback. Center Stage is the Spotlight, where the camera is framed. And Stage Right... well, that is where we get close to the main speakers. Let's test this... walking center [walk center]... now walking right [walk right]... if we hear feedback, we know the boundary limit. Everything sounds great. Tech crew, you tuned these feedback suppressors beautifully!"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 NOTES ===</a:t>
            </a:r>
          </a:p>
          <a:p>
            <a:r>
              <a:t>AV TECH CUES:</a:t>
            </a:r>
          </a:p>
          <a:p>
            <a:r>
              <a:t>- Margins &amp; aspect check: Inspect margins. The brackets text at the bottom should be visible. If it is cut off, adjust the projector zoom/overscan.</a:t>
            </a:r>
          </a:p>
          <a:p/>
          <a:p>
            <a:r>
              <a:t>PRESENTER SCRIPT:</a:t>
            </a:r>
          </a:p>
          <a:p>
            <a:r>
              <a:t>"Let's look at the scientific data regarding audience attention. As this bar chart shows, only 10% of you are actually listening. A whopping 48% are thinking of the lunch buffet, and 30% are checking emails. This is why visual engagement is so important—it is the only way I can compete with your inbox! Also, tech crew: check the text at the very bottom of the screen. If you can read that margin calibration notice, our projector framing is perfect."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 NOTES ===</a:t>
            </a:r>
          </a:p>
          <a:p>
            <a:r>
              <a:t>AV TECH CUES:</a:t>
            </a:r>
          </a:p>
          <a:p>
            <a:r>
              <a:t>- Audio: Prepare for volume fade-out. Check outro music fade-in.</a:t>
            </a:r>
          </a:p>
          <a:p>
            <a:r>
              <a:t>- Final slide reset: Return presentation to start page or black screen after speaker exits stage.</a:t>
            </a:r>
          </a:p>
          <a:p/>
          <a:p>
            <a:r>
              <a:t>PRESENTER SCRIPT:</a:t>
            </a:r>
          </a:p>
          <a:p>
            <a:r>
              <a:t>"In conclusion, the ultimate rule of presentation credibility isn't your slides, your laser pointer, or your wardrobe. It's the technical team in the back of the room. They hold the ultimate power to make you look like a rockstar, or turn you into a muted mime. Let's give a warm round of applause to our AV and technical crew, and let's get the main event started.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914400" y="1828800"/>
            <a:ext cx="10362895" cy="3200400"/>
          </a:xfrm>
          <a:prstGeom prst="rect">
            <a:avLst/>
          </a:prstGeom>
          <a:noFill/>
        </p:spPr>
        <p:txBody>
          <a:bodyPr wrap="square">
            <a:spAutoFit/>
          </a:bodyPr>
          <a:lstStyle/>
          <a:p>
            <a:pPr>
              <a:spcAft>
                <a:spcPts val="2000"/>
              </a:spcAft>
              <a:defRPr sz="5400" b="1">
                <a:solidFill>
                  <a:srgbClr val="00D2FF"/>
                </a:solidFill>
                <a:latin typeface="Trebuchet MS"/>
              </a:defRPr>
            </a:pPr>
            <a:r>
              <a:t>Why You Should Listen to Me</a:t>
            </a:r>
          </a:p>
          <a:p>
            <a:pPr>
              <a:spcAft>
                <a:spcPts val="4000"/>
              </a:spcAft>
              <a:defRPr sz="2400">
                <a:solidFill>
                  <a:srgbClr val="DCE1EB"/>
                </a:solidFill>
                <a:latin typeface="Calibri"/>
              </a:defRPr>
            </a:pPr>
            <a:r>
              <a:t>(And Other Crucial Audio-Visual Testing Experiments)</a:t>
            </a:r>
          </a:p>
          <a:p>
            <a:pPr>
              <a:defRPr sz="1600">
                <a:solidFill>
                  <a:srgbClr val="8C91A0"/>
                </a:solidFill>
                <a:latin typeface="Calibri"/>
              </a:defRPr>
            </a:pPr>
            <a:r>
              <a:t>Presenter: A Very Serious Speaker  |  Purpose: 5-Minute AV System Check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The Universal Credibility Formula</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728655" cy="1645920"/>
          </a:xfrm>
          <a:prstGeom prst="roundRect">
            <a:avLst/>
          </a:prstGeom>
          <a:solidFill>
            <a:srgbClr val="1D232F"/>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solidFill>
                  <a:srgbClr val="DCE1EB"/>
                </a:solidFill>
                <a:latin typeface="Trebuchet MS"/>
              </a:defRPr>
            </a:pPr>
            <a:r>
              <a:t>Credibility  =  </a:t>
            </a:r>
            <a:r>
              <a:rPr b="1">
                <a:solidFill>
                  <a:srgbClr val="00D2FF"/>
                </a:solidFill>
              </a:rPr>
              <a:t>(Confidence  ×  Volume)</a:t>
            </a:r>
            <a:r>
              <a:rPr>
                <a:solidFill>
                  <a:srgbClr val="DCE1EB"/>
                </a:solidFill>
              </a:rPr>
              <a:t>  /  </a:t>
            </a:r>
            <a:r>
              <a:rPr b="1">
                <a:solidFill>
                  <a:srgbClr val="E74C3C"/>
                </a:solidFill>
              </a:rPr>
              <a:t>Um's</a:t>
            </a:r>
          </a:p>
        </p:txBody>
      </p:sp>
      <p:sp>
        <p:nvSpPr>
          <p:cNvPr id="5" name="TextBox 4"/>
          <p:cNvSpPr txBox="1"/>
          <p:nvPr/>
        </p:nvSpPr>
        <p:spPr>
          <a:xfrm>
            <a:off x="731520" y="3657600"/>
            <a:ext cx="10728655" cy="2560320"/>
          </a:xfrm>
          <a:prstGeom prst="rect">
            <a:avLst/>
          </a:prstGeom>
          <a:noFill/>
        </p:spPr>
        <p:txBody>
          <a:bodyPr wrap="square">
            <a:spAutoFit/>
          </a:bodyPr>
          <a:lstStyle/>
          <a:p>
            <a:pPr>
              <a:spcAft>
                <a:spcPts val="1200"/>
              </a:spcAft>
              <a:defRPr sz="2000">
                <a:solidFill>
                  <a:srgbClr val="DCE1EB"/>
                </a:solidFill>
                <a:latin typeface="Calibri"/>
              </a:defRPr>
            </a:pPr>
            <a:r>
              <a:t>•  Confidence: Measured in direct, non-blinking eye contact with the front row.</a:t>
            </a:r>
          </a:p>
          <a:p>
            <a:pPr>
              <a:spcAft>
                <a:spcPts val="1200"/>
              </a:spcAft>
              <a:defRPr sz="2000">
                <a:solidFill>
                  <a:srgbClr val="DCE1EB"/>
                </a:solidFill>
                <a:latin typeface="Calibri"/>
              </a:defRPr>
            </a:pPr>
            <a:r>
              <a:t>•  Volume: Controlled entirely by the tech booth (be nice to them, they can make you sound like a god).</a:t>
            </a:r>
          </a:p>
          <a:p>
            <a:pPr>
              <a:spcAft>
                <a:spcPts val="1200"/>
              </a:spcAft>
              <a:defRPr sz="2000">
                <a:solidFill>
                  <a:srgbClr val="DCE1EB"/>
                </a:solidFill>
                <a:latin typeface="Calibri"/>
              </a:defRPr>
            </a:pPr>
            <a:r>
              <a:t>•  Um's: The silent credibility killer. Each 'Um' reduces authority by approximately 12.5%.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The Confidence Monitor: Friend or Foe?</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645920"/>
            <a:ext cx="5120640" cy="4389120"/>
          </a:xfrm>
          <a:prstGeom prst="rect">
            <a:avLst/>
          </a:prstGeom>
          <a:solidFill>
            <a:srgbClr val="1D232F"/>
          </a:solidFill>
          <a:ln w="1905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800"/>
              </a:spcAft>
              <a:defRPr sz="2400" b="1">
                <a:solidFill>
                  <a:srgbClr val="2ECC71"/>
                </a:solidFill>
                <a:latin typeface="Trebuchet MS"/>
              </a:defRPr>
            </a:pPr>
            <a:r>
              <a:t>The Expectation</a:t>
            </a:r>
          </a:p>
          <a:p>
            <a:pPr>
              <a:spcAft>
                <a:spcPts val="1000"/>
              </a:spcAft>
              <a:defRPr sz="1800">
                <a:solidFill>
                  <a:srgbClr val="DCE1EB"/>
                </a:solidFill>
                <a:latin typeface="Calibri"/>
              </a:defRPr>
            </a:pPr>
            <a:r>
              <a:t>✔  Maintain natural eye contact.</a:t>
            </a:r>
          </a:p>
          <a:p>
            <a:pPr>
              <a:spcAft>
                <a:spcPts val="1000"/>
              </a:spcAft>
              <a:defRPr sz="1800">
                <a:solidFill>
                  <a:srgbClr val="DCE1EB"/>
                </a:solidFill>
                <a:latin typeface="Calibri"/>
              </a:defRPr>
            </a:pPr>
            <a:r>
              <a:t>✔  Quick, casual glances to verify sync.</a:t>
            </a:r>
          </a:p>
          <a:p>
            <a:pPr>
              <a:spcAft>
                <a:spcPts val="1000"/>
              </a:spcAft>
              <a:defRPr sz="1800">
                <a:solidFill>
                  <a:srgbClr val="DCE1EB"/>
                </a:solidFill>
                <a:latin typeface="Calibri"/>
              </a:defRPr>
            </a:pPr>
            <a:r>
              <a:t>✔  Feel like an elite keynote speaker.</a:t>
            </a:r>
          </a:p>
          <a:p>
            <a:pPr>
              <a:spcAft>
                <a:spcPts val="1000"/>
              </a:spcAft>
              <a:defRPr sz="1800">
                <a:solidFill>
                  <a:srgbClr val="DCE1EB"/>
                </a:solidFill>
                <a:latin typeface="Calibri"/>
              </a:defRPr>
            </a:pPr>
            <a:r>
              <a:t>✔  Command the room with posture.</a:t>
            </a:r>
          </a:p>
        </p:txBody>
      </p:sp>
      <p:sp>
        <p:nvSpPr>
          <p:cNvPr id="5" name="Rectangle 4"/>
          <p:cNvSpPr/>
          <p:nvPr/>
        </p:nvSpPr>
        <p:spPr>
          <a:xfrm>
            <a:off x="6339535" y="1645920"/>
            <a:ext cx="5120640" cy="4389120"/>
          </a:xfrm>
          <a:prstGeom prst="rect">
            <a:avLst/>
          </a:prstGeom>
          <a:solidFill>
            <a:srgbClr val="1D232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1800"/>
              </a:spcAft>
              <a:defRPr sz="2400" b="1">
                <a:solidFill>
                  <a:srgbClr val="E74C3C"/>
                </a:solidFill>
                <a:latin typeface="Trebuchet MS"/>
              </a:defRPr>
            </a:pPr>
            <a:r>
              <a:t>The Reality</a:t>
            </a:r>
          </a:p>
          <a:p>
            <a:pPr>
              <a:spcAft>
                <a:spcPts val="1000"/>
              </a:spcAft>
              <a:defRPr sz="1800">
                <a:solidFill>
                  <a:srgbClr val="DCE1EB"/>
                </a:solidFill>
                <a:latin typeface="Calibri"/>
              </a:defRPr>
            </a:pPr>
            <a:r>
              <a:t>✘  Stare blankly at the floor monitor.</a:t>
            </a:r>
          </a:p>
          <a:p>
            <a:pPr>
              <a:spcAft>
                <a:spcPts val="1000"/>
              </a:spcAft>
              <a:defRPr sz="1800">
                <a:solidFill>
                  <a:srgbClr val="DCE1EB"/>
                </a:solidFill>
                <a:latin typeface="Calibri"/>
              </a:defRPr>
            </a:pPr>
            <a:r>
              <a:t>✘  Read slides word-for-word.</a:t>
            </a:r>
          </a:p>
          <a:p>
            <a:pPr>
              <a:spcAft>
                <a:spcPts val="1000"/>
              </a:spcAft>
              <a:defRPr sz="1800">
                <a:solidFill>
                  <a:srgbClr val="DCE1EB"/>
                </a:solidFill>
                <a:latin typeface="Calibri"/>
              </a:defRPr>
            </a:pPr>
            <a:r>
              <a:t>✘  Look like you are reading a hostage note.</a:t>
            </a:r>
          </a:p>
          <a:p>
            <a:pPr>
              <a:spcAft>
                <a:spcPts val="1000"/>
              </a:spcAft>
              <a:defRPr sz="1800">
                <a:solidFill>
                  <a:srgbClr val="DCE1EB"/>
                </a:solidFill>
                <a:latin typeface="Calibri"/>
              </a:defRPr>
            </a:pPr>
            <a:r>
              <a:t>✘  Audience wonders if you lost your keys.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The Microphone Paradox</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728655" cy="2743200"/>
          </a:xfrm>
          <a:prstGeom prst="rect">
            <a:avLst/>
          </a:prstGeom>
          <a:noFill/>
        </p:spPr>
        <p:txBody>
          <a:bodyPr wrap="square">
            <a:spAutoFit/>
          </a:bodyPr>
          <a:lstStyle/>
          <a:p>
            <a:pPr>
              <a:spcAft>
                <a:spcPts val="1200"/>
              </a:spcAft>
              <a:defRPr sz="2000">
                <a:solidFill>
                  <a:srgbClr val="DCE1EB"/>
                </a:solidFill>
                <a:latin typeface="Calibri"/>
              </a:defRPr>
            </a:pPr>
            <a:r>
              <a:t>•  The Tap Check: Tapping the mic capsule is a felony in the AV community.</a:t>
            </a:r>
          </a:p>
          <a:p>
            <a:pPr>
              <a:spcAft>
                <a:spcPts val="1200"/>
              </a:spcAft>
              <a:defRPr sz="2000">
                <a:solidFill>
                  <a:srgbClr val="DCE1EB"/>
                </a:solidFill>
                <a:latin typeface="Calibri"/>
              </a:defRPr>
            </a:pPr>
            <a:r>
              <a:t>•  The Whisper Test: Speak too softly, and the noise gate chops you off.</a:t>
            </a:r>
          </a:p>
          <a:p>
            <a:pPr>
              <a:spcAft>
                <a:spcPts val="1200"/>
              </a:spcAft>
              <a:defRPr sz="2000">
                <a:solidFill>
                  <a:srgbClr val="DCE1EB"/>
                </a:solidFill>
                <a:latin typeface="Calibri"/>
              </a:defRPr>
            </a:pPr>
            <a:r>
              <a:t>•  The Projection Test: Speak too loudly, and you clip the digital levels.</a:t>
            </a:r>
          </a:p>
          <a:p>
            <a:pPr>
              <a:spcAft>
                <a:spcPts val="1200"/>
              </a:spcAft>
              <a:defRPr sz="2000">
                <a:solidFill>
                  <a:srgbClr val="DCE1EB"/>
                </a:solidFill>
                <a:latin typeface="Calibri"/>
              </a:defRPr>
            </a:pPr>
            <a:r>
              <a:t>•  Etiquette: Keep the microphone two fingers away, not inside your mouth.</a:t>
            </a:r>
          </a:p>
        </p:txBody>
      </p:sp>
      <p:sp>
        <p:nvSpPr>
          <p:cNvPr id="5" name="Rounded Rectangle 4"/>
          <p:cNvSpPr/>
          <p:nvPr/>
        </p:nvSpPr>
        <p:spPr>
          <a:xfrm>
            <a:off x="731520" y="4754880"/>
            <a:ext cx="10728655" cy="1097280"/>
          </a:xfrm>
          <a:prstGeom prst="roundRect">
            <a:avLst/>
          </a:prstGeom>
          <a:solidFill>
            <a:srgbClr val="2D1919"/>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800" b="1">
                <a:solidFill>
                  <a:srgbClr val="E74C3C"/>
                </a:solidFill>
                <a:latin typeface="Trebuchet MS"/>
              </a:defRPr>
            </a:pPr>
            <a:r>
              <a:t>WARNING: Pointing the microphone directly at the main speakers will trigger feedback, which is the loudest sound known to mankind.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Projector Calibration &amp; Color Check</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011680"/>
            <a:ext cx="1097280" cy="2011680"/>
          </a:xfrm>
          <a:prstGeom prst="rect">
            <a:avLst/>
          </a:prstGeom>
          <a:solidFill>
            <a:srgbClr val="00D2FF"/>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206240"/>
            <a:ext cx="1280160" cy="731520"/>
          </a:xfrm>
          <a:prstGeom prst="rect">
            <a:avLst/>
          </a:prstGeom>
          <a:noFill/>
        </p:spPr>
        <p:txBody>
          <a:bodyPr wrap="square">
            <a:spAutoFit/>
          </a:bodyPr>
          <a:lstStyle/>
          <a:p>
            <a:pPr algn="ctr">
              <a:defRPr sz="1400" b="1">
                <a:solidFill>
                  <a:srgbClr val="DCE1EB"/>
                </a:solidFill>
                <a:latin typeface="Trebuchet MS"/>
              </a:defRPr>
            </a:pPr>
            <a:r>
              <a:t>Cyan</a:t>
            </a:r>
          </a:p>
        </p:txBody>
      </p:sp>
      <p:sp>
        <p:nvSpPr>
          <p:cNvPr id="6" name="Rectangle 5"/>
          <p:cNvSpPr/>
          <p:nvPr/>
        </p:nvSpPr>
        <p:spPr>
          <a:xfrm>
            <a:off x="2103120" y="2011680"/>
            <a:ext cx="1097280" cy="2011680"/>
          </a:xfrm>
          <a:prstGeom prst="rect">
            <a:avLst/>
          </a:prstGeom>
          <a:solidFill>
            <a:srgbClr val="FF0080"/>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4206240"/>
            <a:ext cx="1280160" cy="731520"/>
          </a:xfrm>
          <a:prstGeom prst="rect">
            <a:avLst/>
          </a:prstGeom>
          <a:noFill/>
        </p:spPr>
        <p:txBody>
          <a:bodyPr wrap="square">
            <a:spAutoFit/>
          </a:bodyPr>
          <a:lstStyle/>
          <a:p>
            <a:pPr algn="ctr">
              <a:defRPr sz="1400" b="1">
                <a:solidFill>
                  <a:srgbClr val="DCE1EB"/>
                </a:solidFill>
                <a:latin typeface="Trebuchet MS"/>
              </a:defRPr>
            </a:pPr>
            <a:r>
              <a:t>Magenta</a:t>
            </a:r>
          </a:p>
        </p:txBody>
      </p:sp>
      <p:sp>
        <p:nvSpPr>
          <p:cNvPr id="8" name="Rectangle 7"/>
          <p:cNvSpPr/>
          <p:nvPr/>
        </p:nvSpPr>
        <p:spPr>
          <a:xfrm>
            <a:off x="3474720" y="2011680"/>
            <a:ext cx="1097280" cy="2011680"/>
          </a:xfrm>
          <a:prstGeom prst="rect">
            <a:avLst/>
          </a:prstGeom>
          <a:solidFill>
            <a:srgbClr val="FFD200"/>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4206240"/>
            <a:ext cx="1280160" cy="731520"/>
          </a:xfrm>
          <a:prstGeom prst="rect">
            <a:avLst/>
          </a:prstGeom>
          <a:noFill/>
        </p:spPr>
        <p:txBody>
          <a:bodyPr wrap="square">
            <a:spAutoFit/>
          </a:bodyPr>
          <a:lstStyle/>
          <a:p>
            <a:pPr algn="ctr">
              <a:defRPr sz="1400" b="1">
                <a:solidFill>
                  <a:srgbClr val="DCE1EB"/>
                </a:solidFill>
                <a:latin typeface="Trebuchet MS"/>
              </a:defRPr>
            </a:pPr>
            <a:r>
              <a:t>Yellow</a:t>
            </a:r>
          </a:p>
        </p:txBody>
      </p:sp>
      <p:sp>
        <p:nvSpPr>
          <p:cNvPr id="10" name="Rectangle 9"/>
          <p:cNvSpPr/>
          <p:nvPr/>
        </p:nvSpPr>
        <p:spPr>
          <a:xfrm>
            <a:off x="4846320" y="2011680"/>
            <a:ext cx="1097280" cy="2011680"/>
          </a:xfrm>
          <a:prstGeom prst="rect">
            <a:avLst/>
          </a:prstGeom>
          <a:solidFill>
            <a:srgbClr val="E74C3C"/>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4206240"/>
            <a:ext cx="1280160" cy="731520"/>
          </a:xfrm>
          <a:prstGeom prst="rect">
            <a:avLst/>
          </a:prstGeom>
          <a:noFill/>
        </p:spPr>
        <p:txBody>
          <a:bodyPr wrap="square">
            <a:spAutoFit/>
          </a:bodyPr>
          <a:lstStyle/>
          <a:p>
            <a:pPr algn="ctr">
              <a:defRPr sz="1400" b="1">
                <a:solidFill>
                  <a:srgbClr val="DCE1EB"/>
                </a:solidFill>
                <a:latin typeface="Trebuchet MS"/>
              </a:defRPr>
            </a:pPr>
            <a:r>
              <a:t>Red</a:t>
            </a:r>
          </a:p>
        </p:txBody>
      </p:sp>
      <p:sp>
        <p:nvSpPr>
          <p:cNvPr id="12" name="Rectangle 11"/>
          <p:cNvSpPr/>
          <p:nvPr/>
        </p:nvSpPr>
        <p:spPr>
          <a:xfrm>
            <a:off x="6217920" y="2011680"/>
            <a:ext cx="1097280" cy="2011680"/>
          </a:xfrm>
          <a:prstGeom prst="rect">
            <a:avLst/>
          </a:prstGeom>
          <a:solidFill>
            <a:srgbClr val="2ECC71"/>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4206240"/>
            <a:ext cx="1280160" cy="731520"/>
          </a:xfrm>
          <a:prstGeom prst="rect">
            <a:avLst/>
          </a:prstGeom>
          <a:noFill/>
        </p:spPr>
        <p:txBody>
          <a:bodyPr wrap="square">
            <a:spAutoFit/>
          </a:bodyPr>
          <a:lstStyle/>
          <a:p>
            <a:pPr algn="ctr">
              <a:defRPr sz="1400" b="1">
                <a:solidFill>
                  <a:srgbClr val="DCE1EB"/>
                </a:solidFill>
                <a:latin typeface="Trebuchet MS"/>
              </a:defRPr>
            </a:pPr>
            <a:r>
              <a:t>Green</a:t>
            </a:r>
          </a:p>
        </p:txBody>
      </p:sp>
      <p:sp>
        <p:nvSpPr>
          <p:cNvPr id="14" name="Rectangle 13"/>
          <p:cNvSpPr/>
          <p:nvPr/>
        </p:nvSpPr>
        <p:spPr>
          <a:xfrm>
            <a:off x="7589520" y="2011680"/>
            <a:ext cx="1097280" cy="2011680"/>
          </a:xfrm>
          <a:prstGeom prst="rect">
            <a:avLst/>
          </a:prstGeom>
          <a:solidFill>
            <a:srgbClr val="3498DB"/>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0" y="4206240"/>
            <a:ext cx="1280160" cy="731520"/>
          </a:xfrm>
          <a:prstGeom prst="rect">
            <a:avLst/>
          </a:prstGeom>
          <a:noFill/>
        </p:spPr>
        <p:txBody>
          <a:bodyPr wrap="square">
            <a:spAutoFit/>
          </a:bodyPr>
          <a:lstStyle/>
          <a:p>
            <a:pPr algn="ctr">
              <a:defRPr sz="1400" b="1">
                <a:solidFill>
                  <a:srgbClr val="DCE1EB"/>
                </a:solidFill>
                <a:latin typeface="Trebuchet MS"/>
              </a:defRPr>
            </a:pPr>
            <a:r>
              <a:t>Blue</a:t>
            </a:r>
          </a:p>
        </p:txBody>
      </p:sp>
      <p:sp>
        <p:nvSpPr>
          <p:cNvPr id="16" name="Rectangle 15"/>
          <p:cNvSpPr/>
          <p:nvPr/>
        </p:nvSpPr>
        <p:spPr>
          <a:xfrm>
            <a:off x="8961120" y="2011680"/>
            <a:ext cx="1097280" cy="2011680"/>
          </a:xfrm>
          <a:prstGeom prst="rect">
            <a:avLst/>
          </a:prstGeom>
          <a:solidFill>
            <a:srgbClr val="FFFFFF"/>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4206240"/>
            <a:ext cx="1280160" cy="731520"/>
          </a:xfrm>
          <a:prstGeom prst="rect">
            <a:avLst/>
          </a:prstGeom>
          <a:noFill/>
        </p:spPr>
        <p:txBody>
          <a:bodyPr wrap="square">
            <a:spAutoFit/>
          </a:bodyPr>
          <a:lstStyle/>
          <a:p>
            <a:pPr algn="ctr">
              <a:defRPr sz="1400" b="1">
                <a:solidFill>
                  <a:srgbClr val="DCE1EB"/>
                </a:solidFill>
                <a:latin typeface="Trebuchet MS"/>
              </a:defRPr>
            </a:pPr>
            <a:r>
              <a:t>White</a:t>
            </a:r>
          </a:p>
        </p:txBody>
      </p:sp>
      <p:sp>
        <p:nvSpPr>
          <p:cNvPr id="18" name="Rectangle 17"/>
          <p:cNvSpPr/>
          <p:nvPr/>
        </p:nvSpPr>
        <p:spPr>
          <a:xfrm>
            <a:off x="10332720" y="2011680"/>
            <a:ext cx="1097280" cy="2011680"/>
          </a:xfrm>
          <a:prstGeom prst="rect">
            <a:avLst/>
          </a:prstGeom>
          <a:solidFill>
            <a:srgbClr val="646973"/>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0" y="4206240"/>
            <a:ext cx="1280160" cy="731520"/>
          </a:xfrm>
          <a:prstGeom prst="rect">
            <a:avLst/>
          </a:prstGeom>
          <a:noFill/>
        </p:spPr>
        <p:txBody>
          <a:bodyPr wrap="square">
            <a:spAutoFit/>
          </a:bodyPr>
          <a:lstStyle/>
          <a:p>
            <a:pPr algn="ctr">
              <a:defRPr sz="1400" b="1">
                <a:solidFill>
                  <a:srgbClr val="DCE1EB"/>
                </a:solidFill>
                <a:latin typeface="Trebuchet MS"/>
              </a:defRPr>
            </a:pPr>
            <a:r>
              <a:t>Dark Grey</a:t>
            </a:r>
          </a:p>
        </p:txBody>
      </p:sp>
      <p:sp>
        <p:nvSpPr>
          <p:cNvPr id="20" name="TextBox 19"/>
          <p:cNvSpPr txBox="1"/>
          <p:nvPr/>
        </p:nvSpPr>
        <p:spPr>
          <a:xfrm>
            <a:off x="731520" y="5303520"/>
            <a:ext cx="10728655" cy="914400"/>
          </a:xfrm>
          <a:prstGeom prst="rect">
            <a:avLst/>
          </a:prstGeom>
          <a:noFill/>
        </p:spPr>
        <p:txBody>
          <a:bodyPr wrap="square">
            <a:spAutoFit/>
          </a:bodyPr>
          <a:lstStyle/>
          <a:p>
            <a:pPr algn="ctr">
              <a:defRPr sz="1800" i="1">
                <a:solidFill>
                  <a:srgbClr val="8C91A0"/>
                </a:solidFill>
                <a:latin typeface="Calibri"/>
              </a:defRPr>
            </a:pPr>
            <a:r>
              <a:t>Action: Verify that all eight color blocks are distinct, vibrant, and aligned on the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The Clicker Latency Challenge</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011680"/>
            <a:ext cx="3291840" cy="2926080"/>
          </a:xfrm>
          <a:prstGeom prst="roundRect">
            <a:avLst/>
          </a:prstGeom>
          <a:solidFill>
            <a:srgbClr val="1D232F"/>
          </a:solidFill>
          <a:ln w="19050">
            <a:solidFill>
              <a:srgbClr val="8C91A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400"/>
              </a:spcAft>
              <a:defRPr sz="2200" b="1">
                <a:solidFill>
                  <a:srgbClr val="DCE1EB"/>
                </a:solidFill>
                <a:latin typeface="Trebuchet MS"/>
              </a:defRPr>
            </a:pPr>
            <a:r>
              <a:t>1. Press Clicker</a:t>
            </a:r>
          </a:p>
          <a:p>
            <a:pPr>
              <a:defRPr sz="1600">
                <a:solidFill>
                  <a:srgbClr val="DCE1EB"/>
                </a:solidFill>
                <a:latin typeface="Calibri"/>
              </a:defRPr>
            </a:pPr>
            <a:r>
              <a:t>You press the button, hoping for instant feedback.</a:t>
            </a:r>
          </a:p>
        </p:txBody>
      </p:sp>
      <p:sp>
        <p:nvSpPr>
          <p:cNvPr id="5" name="Rounded Rectangle 4"/>
          <p:cNvSpPr/>
          <p:nvPr/>
        </p:nvSpPr>
        <p:spPr>
          <a:xfrm>
            <a:off x="4389120" y="2011680"/>
            <a:ext cx="3291840" cy="2926080"/>
          </a:xfrm>
          <a:prstGeom prst="roundRect">
            <a:avLst/>
          </a:prstGeom>
          <a:solidFill>
            <a:srgbClr val="1D232F"/>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400"/>
              </a:spcAft>
              <a:defRPr sz="2200" b="1">
                <a:solidFill>
                  <a:srgbClr val="00D2FF"/>
                </a:solidFill>
                <a:latin typeface="Trebuchet MS"/>
              </a:defRPr>
            </a:pPr>
            <a:r>
              <a:t>2. Awkward Delay</a:t>
            </a:r>
          </a:p>
          <a:p>
            <a:pPr>
              <a:defRPr sz="1600">
                <a:solidFill>
                  <a:srgbClr val="DCE1EB"/>
                </a:solidFill>
                <a:latin typeface="Calibri"/>
              </a:defRPr>
            </a:pPr>
            <a:r>
              <a:t>Nothing happens. You make intense eye contact with the audience.</a:t>
            </a:r>
          </a:p>
        </p:txBody>
      </p:sp>
      <p:sp>
        <p:nvSpPr>
          <p:cNvPr id="6" name="Rounded Rectangle 5"/>
          <p:cNvSpPr/>
          <p:nvPr/>
        </p:nvSpPr>
        <p:spPr>
          <a:xfrm>
            <a:off x="8046720" y="2011680"/>
            <a:ext cx="3291840" cy="2926080"/>
          </a:xfrm>
          <a:prstGeom prst="roundRect">
            <a:avLst/>
          </a:prstGeom>
          <a:solidFill>
            <a:srgbClr val="1D232F"/>
          </a:solidFill>
          <a:ln w="19050">
            <a:solidFill>
              <a:srgbClr val="8C91A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1400"/>
              </a:spcAft>
              <a:defRPr sz="2200" b="1">
                <a:solidFill>
                  <a:srgbClr val="DCE1EB"/>
                </a:solidFill>
                <a:latin typeface="Trebuchet MS"/>
              </a:defRPr>
            </a:pPr>
            <a:r>
              <a:t>3. Double Jump</a:t>
            </a:r>
          </a:p>
          <a:p>
            <a:pPr>
              <a:defRPr sz="1600">
                <a:solidFill>
                  <a:srgbClr val="DCE1EB"/>
                </a:solidFill>
                <a:latin typeface="Calibri"/>
              </a:defRPr>
            </a:pPr>
            <a:r>
              <a:t>You press it again, and it skips two slides ahead. Immediate panic.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Credibility Pillar #1: The Laser Pointer</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486400" cy="4114800"/>
          </a:xfrm>
          <a:prstGeom prst="rect">
            <a:avLst/>
          </a:prstGeom>
          <a:noFill/>
        </p:spPr>
        <p:txBody>
          <a:bodyPr wrap="square">
            <a:spAutoFit/>
          </a:bodyPr>
          <a:lstStyle/>
          <a:p>
            <a:pPr>
              <a:spcAft>
                <a:spcPts val="1600"/>
              </a:spcAft>
              <a:defRPr sz="2000">
                <a:solidFill>
                  <a:srgbClr val="DCE1EB"/>
                </a:solidFill>
                <a:latin typeface="Calibri"/>
              </a:defRPr>
            </a:pPr>
            <a:r>
              <a:t>•  The Cat Effect: Humans will follow a tiny glowing dot anywhere on the screen.</a:t>
            </a:r>
          </a:p>
          <a:p>
            <a:pPr>
              <a:spcAft>
                <a:spcPts val="1600"/>
              </a:spcAft>
              <a:defRPr sz="2000">
                <a:solidFill>
                  <a:srgbClr val="DCE1EB"/>
                </a:solidFill>
                <a:latin typeface="Calibri"/>
              </a:defRPr>
            </a:pPr>
            <a:r>
              <a:t>•  Rule of Engagement: Use it to point at actual data, not to highlight random words.</a:t>
            </a:r>
          </a:p>
          <a:p>
            <a:pPr>
              <a:spcAft>
                <a:spcPts val="1600"/>
              </a:spcAft>
              <a:defRPr sz="2000">
                <a:solidFill>
                  <a:srgbClr val="DCE1EB"/>
                </a:solidFill>
                <a:latin typeface="Calibri"/>
              </a:defRPr>
            </a:pPr>
            <a:r>
              <a:t>•  Speed Limit: Keep the laser steady. Waving it frantically creates a light show, not credibility.</a:t>
            </a:r>
          </a:p>
          <a:p>
            <a:pPr>
              <a:spcAft>
                <a:spcPts val="1600"/>
              </a:spcAft>
              <a:defRPr sz="2000">
                <a:solidFill>
                  <a:srgbClr val="DCE1EB"/>
                </a:solidFill>
                <a:latin typeface="Calibri"/>
              </a:defRPr>
            </a:pPr>
            <a:r>
              <a:t>•  Laser Safety: Never point it at the audience, cameras, or the soundboard.</a:t>
            </a:r>
          </a:p>
        </p:txBody>
      </p:sp>
      <p:sp>
        <p:nvSpPr>
          <p:cNvPr id="5" name="Rectangle 4"/>
          <p:cNvSpPr/>
          <p:nvPr/>
        </p:nvSpPr>
        <p:spPr>
          <a:xfrm>
            <a:off x="6858000" y="1828800"/>
            <a:ext cx="4572000" cy="3840480"/>
          </a:xfrm>
          <a:prstGeom prst="rect">
            <a:avLst/>
          </a:prstGeom>
          <a:solidFill>
            <a:srgbClr val="1D232F"/>
          </a:solidFill>
          <a:ln w="1905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2000"/>
              </a:spcAft>
              <a:defRPr sz="2200" b="1">
                <a:solidFill>
                  <a:srgbClr val="F1C40F"/>
                </a:solidFill>
                <a:latin typeface="Trebuchet MS"/>
              </a:defRPr>
            </a:pPr>
            <a:r>
              <a:t>LASER TARGET ZONES</a:t>
            </a:r>
          </a:p>
          <a:p>
            <a:pPr>
              <a:spcAft>
                <a:spcPts val="1000"/>
              </a:spcAft>
              <a:defRPr sz="1600">
                <a:solidFill>
                  <a:srgbClr val="DCE1EB"/>
                </a:solidFill>
                <a:latin typeface="Calibri"/>
              </a:defRPr>
            </a:pPr>
            <a:r>
              <a:t>✔  The Screen: Target data points. Very safe.</a:t>
            </a:r>
          </a:p>
          <a:p>
            <a:pPr>
              <a:spcAft>
                <a:spcPts val="1000"/>
              </a:spcAft>
              <a:defRPr sz="1600">
                <a:solidFill>
                  <a:srgbClr val="DCE1EB"/>
                </a:solidFill>
                <a:latin typeface="Calibri"/>
              </a:defRPr>
            </a:pPr>
            <a:r>
              <a:t>✘  The Tech Booth: They have mute buttons. Very dangerous.</a:t>
            </a:r>
          </a:p>
          <a:p>
            <a:pPr>
              <a:spcAft>
                <a:spcPts val="1000"/>
              </a:spcAft>
              <a:defRPr sz="1600">
                <a:solidFill>
                  <a:srgbClr val="DCE1EB"/>
                </a:solidFill>
                <a:latin typeface="Calibri"/>
              </a:defRPr>
            </a:pPr>
            <a:r>
              <a:t>✘  Your Own Face: Blinding yourself. Not recommended.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The Video Embed Gamble</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560320"/>
            <a:ext cx="3200400" cy="2011680"/>
          </a:xfrm>
          <a:prstGeom prst="rect">
            <a:avLst/>
          </a:prstGeom>
          <a:solidFill>
            <a:srgbClr val="1D232F"/>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800"/>
              </a:spcAft>
              <a:defRPr sz="2000" b="1">
                <a:solidFill>
                  <a:srgbClr val="00D2FF"/>
                </a:solidFill>
                <a:latin typeface="Trebuchet MS"/>
              </a:defRPr>
            </a:pPr>
            <a:r>
              <a:t>Step 1: Click Play</a:t>
            </a:r>
          </a:p>
          <a:p>
            <a:pPr>
              <a:defRPr sz="1400">
                <a:solidFill>
                  <a:srgbClr val="DCE1EB"/>
                </a:solidFill>
                <a:latin typeface="Calibri"/>
              </a:defRPr>
            </a:pPr>
            <a:r>
              <a:t>You click the embedded video link with confidence.</a:t>
            </a:r>
          </a:p>
        </p:txBody>
      </p:sp>
      <p:sp>
        <p:nvSpPr>
          <p:cNvPr id="5" name="Rectangle 4"/>
          <p:cNvSpPr/>
          <p:nvPr/>
        </p:nvSpPr>
        <p:spPr>
          <a:xfrm>
            <a:off x="4480560" y="2560320"/>
            <a:ext cx="3200400" cy="2011680"/>
          </a:xfrm>
          <a:prstGeom prst="rect">
            <a:avLst/>
          </a:prstGeom>
          <a:solidFill>
            <a:srgbClr val="1D232F"/>
          </a:solidFill>
          <a:ln w="1905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800"/>
              </a:spcAft>
              <a:defRPr sz="2000" b="1">
                <a:solidFill>
                  <a:srgbClr val="F1C40F"/>
                </a:solidFill>
                <a:latin typeface="Trebuchet MS"/>
              </a:defRPr>
            </a:pPr>
            <a:r>
              <a:t>Step 2: Silent Playback</a:t>
            </a:r>
          </a:p>
          <a:p>
            <a:pPr>
              <a:defRPr sz="1400">
                <a:solidFill>
                  <a:srgbClr val="DCE1EB"/>
                </a:solidFill>
                <a:latin typeface="Calibri"/>
              </a:defRPr>
            </a:pPr>
            <a:r>
              <a:t>Video plays smoothly, but with absolute silence. Audience looks confused.</a:t>
            </a:r>
          </a:p>
        </p:txBody>
      </p:sp>
      <p:sp>
        <p:nvSpPr>
          <p:cNvPr id="6" name="Rectangle 5"/>
          <p:cNvSpPr/>
          <p:nvPr/>
        </p:nvSpPr>
        <p:spPr>
          <a:xfrm>
            <a:off x="8229600" y="2560320"/>
            <a:ext cx="3200400" cy="2011680"/>
          </a:xfrm>
          <a:prstGeom prst="rect">
            <a:avLst/>
          </a:prstGeom>
          <a:solidFill>
            <a:srgbClr val="1D232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800"/>
              </a:spcAft>
              <a:defRPr sz="2000" b="1">
                <a:solidFill>
                  <a:srgbClr val="E74C3C"/>
                </a:solidFill>
                <a:latin typeface="Trebuchet MS"/>
              </a:defRPr>
            </a:pPr>
            <a:r>
              <a:t>Step 3: Staring Contest</a:t>
            </a:r>
          </a:p>
          <a:p>
            <a:pPr>
              <a:defRPr sz="1400">
                <a:solidFill>
                  <a:srgbClr val="DCE1EB"/>
                </a:solidFill>
                <a:latin typeface="Calibri"/>
              </a:defRPr>
            </a:pPr>
            <a:r>
              <a:t>You stare at the tech crew. They stare back. A moment of silence.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Credibility Pillar #2: Presenter Wardrobe</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5486400" cy="4114800"/>
          </a:xfrm>
          <a:prstGeom prst="rect">
            <a:avLst/>
          </a:prstGeom>
          <a:noFill/>
        </p:spPr>
        <p:txBody>
          <a:bodyPr wrap="square">
            <a:spAutoFit/>
          </a:bodyPr>
          <a:lstStyle/>
          <a:p>
            <a:pPr>
              <a:spcAft>
                <a:spcPts val="1600"/>
              </a:spcAft>
              <a:defRPr sz="2000">
                <a:solidFill>
                  <a:srgbClr val="DCE1EB"/>
                </a:solidFill>
                <a:latin typeface="Calibri"/>
              </a:defRPr>
            </a:pPr>
            <a:r>
              <a:t>•  Contrast is King: Dark clothing on dark slides turns you into a 'floating head'.</a:t>
            </a:r>
          </a:p>
          <a:p>
            <a:pPr>
              <a:spcAft>
                <a:spcPts val="1600"/>
              </a:spcAft>
              <a:defRPr sz="2000">
                <a:solidFill>
                  <a:srgbClr val="DCE1EB"/>
                </a:solidFill>
                <a:latin typeface="Calibri"/>
              </a:defRPr>
            </a:pPr>
            <a:r>
              <a:t>•  Mic-Friendly: Lapel mics require collars or strong button-up shirts.</a:t>
            </a:r>
          </a:p>
          <a:p>
            <a:pPr>
              <a:spcAft>
                <a:spcPts val="1600"/>
              </a:spcAft>
              <a:defRPr sz="2000">
                <a:solidFill>
                  <a:srgbClr val="DCE1EB"/>
                </a:solidFill>
                <a:latin typeface="Calibri"/>
              </a:defRPr>
            </a:pPr>
            <a:r>
              <a:t>•  Camera Moiré: Avoid tight stripes or grids that make camera sensors flicker.</a:t>
            </a:r>
          </a:p>
          <a:p>
            <a:pPr>
              <a:spcAft>
                <a:spcPts val="1600"/>
              </a:spcAft>
              <a:defRPr sz="2000">
                <a:solidFill>
                  <a:srgbClr val="DCE1EB"/>
                </a:solidFill>
                <a:latin typeface="Calibri"/>
              </a:defRPr>
            </a:pPr>
            <a:r>
              <a:t>•  Wireless Transmitter: Belts are highly recommended to clip the heavy battery pack.</a:t>
            </a:r>
          </a:p>
        </p:txBody>
      </p:sp>
      <p:sp>
        <p:nvSpPr>
          <p:cNvPr id="5" name="Rectangle 4"/>
          <p:cNvSpPr/>
          <p:nvPr/>
        </p:nvSpPr>
        <p:spPr>
          <a:xfrm>
            <a:off x="6858000" y="1645920"/>
            <a:ext cx="4572000" cy="4114800"/>
          </a:xfrm>
          <a:prstGeom prst="rect">
            <a:avLst/>
          </a:prstGeom>
          <a:solidFill>
            <a:srgbClr val="1D232F"/>
          </a:solidFill>
          <a:ln w="12700">
            <a:solidFill>
              <a:srgbClr val="8C91A0"/>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800"/>
              </a:spcAft>
              <a:defRPr sz="2200" b="1">
                <a:solidFill>
                  <a:srgbClr val="00D2FF"/>
                </a:solidFill>
                <a:latin typeface="Trebuchet MS"/>
              </a:defRPr>
            </a:pPr>
            <a:r>
              <a:t>WARDROBE CALIBRATION</a:t>
            </a:r>
          </a:p>
          <a:p>
            <a:pPr>
              <a:spcAft>
                <a:spcPts val="1000"/>
              </a:spcAft>
              <a:defRPr sz="1600">
                <a:solidFill>
                  <a:srgbClr val="DCE1EB"/>
                </a:solidFill>
                <a:latin typeface="Calibri"/>
              </a:defRPr>
            </a:pPr>
            <a:r>
              <a:t>✔  Solid Dark Jacket: High contrast against light screens.</a:t>
            </a:r>
          </a:p>
          <a:p>
            <a:pPr>
              <a:spcAft>
                <a:spcPts val="1000"/>
              </a:spcAft>
              <a:defRPr sz="1600">
                <a:solidFill>
                  <a:srgbClr val="DCE1EB"/>
                </a:solidFill>
                <a:latin typeface="Calibri"/>
              </a:defRPr>
            </a:pPr>
            <a:r>
              <a:t>✔  Collered Shirt: Perfect for lapel microphone placement.</a:t>
            </a:r>
          </a:p>
          <a:p>
            <a:pPr>
              <a:spcAft>
                <a:spcPts val="1000"/>
              </a:spcAft>
              <a:defRPr sz="1600">
                <a:solidFill>
                  <a:srgbClr val="DCE1EB"/>
                </a:solidFill>
                <a:latin typeface="Calibri"/>
              </a:defRPr>
            </a:pPr>
            <a:r>
              <a:t>✘  Fine Grid Patterns: Causes Moire flicker on video recordings.</a:t>
            </a:r>
          </a:p>
          <a:p>
            <a:pPr>
              <a:spcAft>
                <a:spcPts val="1000"/>
              </a:spcAft>
              <a:defRPr sz="1600">
                <a:solidFill>
                  <a:srgbClr val="DCE1EB"/>
                </a:solidFill>
                <a:latin typeface="Calibri"/>
              </a:defRPr>
            </a:pPr>
            <a:r>
              <a:t>✘  No Pockets/Belt: Nowhere to clip the wireless bodypack.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Stage Navigation Boundaries</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828800"/>
            <a:ext cx="3291840" cy="4114800"/>
          </a:xfrm>
          <a:prstGeom prst="roundRect">
            <a:avLst/>
          </a:prstGeom>
          <a:solidFill>
            <a:srgbClr val="1D232F"/>
          </a:solidFill>
          <a:ln w="254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600"/>
              </a:spcAft>
              <a:defRPr sz="2400" b="1">
                <a:solidFill>
                  <a:srgbClr val="2ECC71"/>
                </a:solidFill>
                <a:latin typeface="Trebuchet MS"/>
              </a:defRPr>
            </a:pPr>
            <a:r>
              <a:t>Stage Left</a:t>
            </a:r>
          </a:p>
          <a:p>
            <a:pPr>
              <a:spcAft>
                <a:spcPts val="2000"/>
              </a:spcAft>
              <a:defRPr sz="1600" b="1">
                <a:solidFill>
                  <a:srgbClr val="2ECC71"/>
                </a:solidFill>
                <a:latin typeface="Trebuchet MS"/>
              </a:defRPr>
            </a:pPr>
            <a:r>
              <a:t>SAFE ZONE</a:t>
            </a:r>
          </a:p>
          <a:p>
            <a:pPr>
              <a:defRPr sz="1600">
                <a:solidFill>
                  <a:srgbClr val="DCE1EB"/>
                </a:solidFill>
                <a:latin typeface="Calibri"/>
              </a:defRPr>
            </a:pPr>
            <a:r>
              <a:t>Good lighting, stable audio, safe distance from main speakers.</a:t>
            </a:r>
          </a:p>
        </p:txBody>
      </p:sp>
      <p:sp>
        <p:nvSpPr>
          <p:cNvPr id="5" name="Rounded Rectangle 4"/>
          <p:cNvSpPr/>
          <p:nvPr/>
        </p:nvSpPr>
        <p:spPr>
          <a:xfrm>
            <a:off x="4389120" y="1828800"/>
            <a:ext cx="3291840" cy="4114800"/>
          </a:xfrm>
          <a:prstGeom prst="roundRect">
            <a:avLst/>
          </a:prstGeom>
          <a:solidFill>
            <a:srgbClr val="1D232F"/>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600"/>
              </a:spcAft>
              <a:defRPr sz="2400" b="1">
                <a:solidFill>
                  <a:srgbClr val="00D2FF"/>
                </a:solidFill>
                <a:latin typeface="Trebuchet MS"/>
              </a:defRPr>
            </a:pPr>
            <a:r>
              <a:t>Center Stage</a:t>
            </a:r>
          </a:p>
          <a:p>
            <a:pPr>
              <a:spcAft>
                <a:spcPts val="2000"/>
              </a:spcAft>
              <a:defRPr sz="1600" b="1">
                <a:solidFill>
                  <a:srgbClr val="00D2FF"/>
                </a:solidFill>
                <a:latin typeface="Trebuchet MS"/>
              </a:defRPr>
            </a:pPr>
            <a:r>
              <a:t>THE SPOTLIGHT</a:t>
            </a:r>
          </a:p>
          <a:p>
            <a:pPr>
              <a:defRPr sz="1600">
                <a:solidFill>
                  <a:srgbClr val="DCE1EB"/>
                </a:solidFill>
                <a:latin typeface="Calibri"/>
              </a:defRPr>
            </a:pPr>
            <a:r>
              <a:t>Maximum visibility, main camera frame, best impact.</a:t>
            </a:r>
          </a:p>
        </p:txBody>
      </p:sp>
      <p:sp>
        <p:nvSpPr>
          <p:cNvPr id="6" name="Rounded Rectangle 5"/>
          <p:cNvSpPr/>
          <p:nvPr/>
        </p:nvSpPr>
        <p:spPr>
          <a:xfrm>
            <a:off x="8046720" y="1828800"/>
            <a:ext cx="3291840" cy="4114800"/>
          </a:xfrm>
          <a:prstGeom prst="roundRect">
            <a:avLst/>
          </a:prstGeom>
          <a:solidFill>
            <a:srgbClr val="1D232F"/>
          </a:solidFill>
          <a:ln w="254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600"/>
              </a:spcAft>
              <a:defRPr sz="2400" b="1">
                <a:solidFill>
                  <a:srgbClr val="E74C3C"/>
                </a:solidFill>
                <a:latin typeface="Trebuchet MS"/>
              </a:defRPr>
            </a:pPr>
            <a:r>
              <a:t>Stage Right</a:t>
            </a:r>
          </a:p>
          <a:p>
            <a:pPr>
              <a:spcAft>
                <a:spcPts val="2000"/>
              </a:spcAft>
              <a:defRPr sz="1600" b="1">
                <a:solidFill>
                  <a:srgbClr val="E74C3C"/>
                </a:solidFill>
                <a:latin typeface="Trebuchet MS"/>
              </a:defRPr>
            </a:pPr>
            <a:r>
              <a:t>FEEDBACK DANGER</a:t>
            </a:r>
          </a:p>
          <a:p>
            <a:pPr>
              <a:defRPr sz="1600">
                <a:solidFill>
                  <a:srgbClr val="DCE1EB"/>
                </a:solidFill>
                <a:latin typeface="Calibri"/>
              </a:defRPr>
            </a:pPr>
            <a:r>
              <a:t>Close to PA speakers. Walk here only if you want feedback.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Audience Attention Breakdown</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4114800" cy="914400"/>
          </a:xfrm>
          <a:prstGeom prst="rect">
            <a:avLst/>
          </a:prstGeom>
          <a:noFill/>
        </p:spPr>
        <p:txBody>
          <a:bodyPr wrap="square" lIns="0" rIns="0" tIns="0">
            <a:spAutoFit/>
          </a:bodyPr>
          <a:lstStyle/>
          <a:p>
            <a:pPr>
              <a:defRPr sz="1600" b="1">
                <a:solidFill>
                  <a:srgbClr val="DCE1EB"/>
                </a:solidFill>
                <a:latin typeface="Trebuchet MS"/>
              </a:defRPr>
            </a:pPr>
            <a:r>
              <a:t>Evaluating slide design contrast</a:t>
            </a:r>
          </a:p>
        </p:txBody>
      </p:sp>
      <p:sp>
        <p:nvSpPr>
          <p:cNvPr id="5" name="Rectangle 4"/>
          <p:cNvSpPr/>
          <p:nvPr/>
        </p:nvSpPr>
        <p:spPr>
          <a:xfrm>
            <a:off x="5029200" y="1737360"/>
            <a:ext cx="768096" cy="457200"/>
          </a:xfrm>
          <a:prstGeom prst="rect">
            <a:avLst/>
          </a:prstGeom>
          <a:solidFill>
            <a:srgbClr val="00D2FF"/>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88736" y="1645920"/>
            <a:ext cx="914400" cy="914400"/>
          </a:xfrm>
          <a:prstGeom prst="rect">
            <a:avLst/>
          </a:prstGeom>
          <a:noFill/>
        </p:spPr>
        <p:txBody>
          <a:bodyPr wrap="none" lIns="0" rIns="0" tIns="0">
            <a:spAutoFit/>
          </a:bodyPr>
          <a:lstStyle/>
          <a:p>
            <a:pPr>
              <a:defRPr sz="1600" b="1">
                <a:solidFill>
                  <a:srgbClr val="00D2FF"/>
                </a:solidFill>
                <a:latin typeface="Trebuchet MS"/>
              </a:defRPr>
            </a:pPr>
            <a:r>
              <a:t>12%</a:t>
            </a:r>
          </a:p>
        </p:txBody>
      </p:sp>
      <p:sp>
        <p:nvSpPr>
          <p:cNvPr id="7" name="TextBox 6"/>
          <p:cNvSpPr txBox="1"/>
          <p:nvPr/>
        </p:nvSpPr>
        <p:spPr>
          <a:xfrm>
            <a:off x="731520" y="2834640"/>
            <a:ext cx="4114800" cy="914400"/>
          </a:xfrm>
          <a:prstGeom prst="rect">
            <a:avLst/>
          </a:prstGeom>
          <a:noFill/>
        </p:spPr>
        <p:txBody>
          <a:bodyPr wrap="square" lIns="0" rIns="0" tIns="0">
            <a:spAutoFit/>
          </a:bodyPr>
          <a:lstStyle/>
          <a:p>
            <a:pPr>
              <a:defRPr sz="1600" b="1">
                <a:solidFill>
                  <a:srgbClr val="DCE1EB"/>
                </a:solidFill>
                <a:latin typeface="Trebuchet MS"/>
              </a:defRPr>
            </a:pPr>
            <a:r>
              <a:t>Wondering when the lunch buffet opens</a:t>
            </a:r>
          </a:p>
        </p:txBody>
      </p:sp>
      <p:sp>
        <p:nvSpPr>
          <p:cNvPr id="8" name="Rectangle 7"/>
          <p:cNvSpPr/>
          <p:nvPr/>
        </p:nvSpPr>
        <p:spPr>
          <a:xfrm>
            <a:off x="5029200" y="2926080"/>
            <a:ext cx="3072384" cy="457200"/>
          </a:xfrm>
          <a:prstGeom prst="rect">
            <a:avLst/>
          </a:prstGeom>
          <a:solidFill>
            <a:srgbClr val="2ECC71"/>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93024" y="2834640"/>
            <a:ext cx="914400" cy="914400"/>
          </a:xfrm>
          <a:prstGeom prst="rect">
            <a:avLst/>
          </a:prstGeom>
          <a:noFill/>
        </p:spPr>
        <p:txBody>
          <a:bodyPr wrap="none" lIns="0" rIns="0" tIns="0">
            <a:spAutoFit/>
          </a:bodyPr>
          <a:lstStyle/>
          <a:p>
            <a:pPr>
              <a:defRPr sz="1600" b="1">
                <a:solidFill>
                  <a:srgbClr val="2ECC71"/>
                </a:solidFill>
                <a:latin typeface="Trebuchet MS"/>
              </a:defRPr>
            </a:pPr>
            <a:r>
              <a:t>48%</a:t>
            </a:r>
          </a:p>
        </p:txBody>
      </p:sp>
      <p:sp>
        <p:nvSpPr>
          <p:cNvPr id="10" name="TextBox 9"/>
          <p:cNvSpPr txBox="1"/>
          <p:nvPr/>
        </p:nvSpPr>
        <p:spPr>
          <a:xfrm>
            <a:off x="731520" y="4023360"/>
            <a:ext cx="4114800" cy="914400"/>
          </a:xfrm>
          <a:prstGeom prst="rect">
            <a:avLst/>
          </a:prstGeom>
          <a:noFill/>
        </p:spPr>
        <p:txBody>
          <a:bodyPr wrap="square" lIns="0" rIns="0" tIns="0">
            <a:spAutoFit/>
          </a:bodyPr>
          <a:lstStyle/>
          <a:p>
            <a:pPr>
              <a:defRPr sz="1600" b="1">
                <a:solidFill>
                  <a:srgbClr val="DCE1EB"/>
                </a:solidFill>
                <a:latin typeface="Trebuchet MS"/>
              </a:defRPr>
            </a:pPr>
            <a:r>
              <a:t>Answering emails on their phone</a:t>
            </a:r>
          </a:p>
        </p:txBody>
      </p:sp>
      <p:sp>
        <p:nvSpPr>
          <p:cNvPr id="11" name="Rectangle 10"/>
          <p:cNvSpPr/>
          <p:nvPr/>
        </p:nvSpPr>
        <p:spPr>
          <a:xfrm>
            <a:off x="5029200" y="4114800"/>
            <a:ext cx="1920240" cy="457200"/>
          </a:xfrm>
          <a:prstGeom prst="rect">
            <a:avLst/>
          </a:prstGeom>
          <a:solidFill>
            <a:srgbClr val="F1C40F"/>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4023360"/>
            <a:ext cx="914400" cy="914400"/>
          </a:xfrm>
          <a:prstGeom prst="rect">
            <a:avLst/>
          </a:prstGeom>
          <a:noFill/>
        </p:spPr>
        <p:txBody>
          <a:bodyPr wrap="none" lIns="0" rIns="0" tIns="0">
            <a:spAutoFit/>
          </a:bodyPr>
          <a:lstStyle/>
          <a:p>
            <a:pPr>
              <a:defRPr sz="1600" b="1">
                <a:solidFill>
                  <a:srgbClr val="F1C40F"/>
                </a:solidFill>
                <a:latin typeface="Trebuchet MS"/>
              </a:defRPr>
            </a:pPr>
            <a:r>
              <a:t>30%</a:t>
            </a:r>
          </a:p>
        </p:txBody>
      </p:sp>
      <p:sp>
        <p:nvSpPr>
          <p:cNvPr id="13" name="TextBox 12"/>
          <p:cNvSpPr txBox="1"/>
          <p:nvPr/>
        </p:nvSpPr>
        <p:spPr>
          <a:xfrm>
            <a:off x="731520" y="5212080"/>
            <a:ext cx="4114800" cy="914400"/>
          </a:xfrm>
          <a:prstGeom prst="rect">
            <a:avLst/>
          </a:prstGeom>
          <a:noFill/>
        </p:spPr>
        <p:txBody>
          <a:bodyPr wrap="square" lIns="0" rIns="0" tIns="0">
            <a:spAutoFit/>
          </a:bodyPr>
          <a:lstStyle/>
          <a:p>
            <a:pPr>
              <a:defRPr sz="1600" b="1">
                <a:solidFill>
                  <a:srgbClr val="DCE1EB"/>
                </a:solidFill>
                <a:latin typeface="Trebuchet MS"/>
              </a:defRPr>
            </a:pPr>
            <a:r>
              <a:t>Actually listening to my speech</a:t>
            </a:r>
          </a:p>
        </p:txBody>
      </p:sp>
      <p:sp>
        <p:nvSpPr>
          <p:cNvPr id="14" name="Rectangle 13"/>
          <p:cNvSpPr/>
          <p:nvPr/>
        </p:nvSpPr>
        <p:spPr>
          <a:xfrm>
            <a:off x="5029200" y="5303520"/>
            <a:ext cx="640080" cy="457200"/>
          </a:xfrm>
          <a:prstGeom prst="rect">
            <a:avLst/>
          </a:prstGeom>
          <a:solidFill>
            <a:srgbClr val="E74C3C"/>
          </a:solidFill>
          <a:ln>
            <a:solidFill>
              <a:srgbClr val="1418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5212080"/>
            <a:ext cx="914400" cy="914400"/>
          </a:xfrm>
          <a:prstGeom prst="rect">
            <a:avLst/>
          </a:prstGeom>
          <a:noFill/>
        </p:spPr>
        <p:txBody>
          <a:bodyPr wrap="none" lIns="0" rIns="0" tIns="0">
            <a:spAutoFit/>
          </a:bodyPr>
          <a:lstStyle/>
          <a:p>
            <a:pPr>
              <a:defRPr sz="1600" b="1">
                <a:solidFill>
                  <a:srgbClr val="E74C3C"/>
                </a:solidFill>
                <a:latin typeface="Trebuchet MS"/>
              </a:defRPr>
            </a:pPr>
            <a:r>
              <a:t>10%</a:t>
            </a:r>
          </a:p>
        </p:txBody>
      </p:sp>
      <p:sp>
        <p:nvSpPr>
          <p:cNvPr id="16" name="TextBox 15"/>
          <p:cNvSpPr txBox="1"/>
          <p:nvPr/>
        </p:nvSpPr>
        <p:spPr>
          <a:xfrm>
            <a:off x="731520" y="6035040"/>
            <a:ext cx="10728655" cy="457200"/>
          </a:xfrm>
          <a:prstGeom prst="rect">
            <a:avLst/>
          </a:prstGeom>
          <a:noFill/>
        </p:spPr>
        <p:txBody>
          <a:bodyPr wrap="none" lIns="0" rIns="0" tIns="0">
            <a:spAutoFit/>
          </a:bodyPr>
          <a:lstStyle/>
          <a:p>
            <a:pPr algn="ctr">
              <a:defRPr sz="1200" i="1">
                <a:solidFill>
                  <a:srgbClr val="8C91A0"/>
                </a:solidFill>
                <a:latin typeface="Calibri"/>
              </a:defRPr>
            </a:pPr>
            <a:r>
              <a:t>[Margin Calibration: Ensure this text box, which is close to the bottom bezel, is fully visible and not cut 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821"/>
        </a:solidFill>
        <a:effectLst/>
      </p:bgPr>
    </p:bg>
    <p:spTree>
      <p:nvGrpSpPr>
        <p:cNvPr id="1" name=""/>
        <p:cNvGrpSpPr/>
        <p:nvPr/>
      </p:nvGrpSpPr>
      <p:grpSpPr/>
      <p:sp>
        <p:nvSpPr>
          <p:cNvPr id="2" name="TextBox 1"/>
          <p:cNvSpPr txBox="1"/>
          <p:nvPr/>
        </p:nvSpPr>
        <p:spPr>
          <a:xfrm>
            <a:off x="731520" y="457200"/>
            <a:ext cx="10728655" cy="731520"/>
          </a:xfrm>
          <a:prstGeom prst="rect">
            <a:avLst/>
          </a:prstGeom>
          <a:noFill/>
        </p:spPr>
        <p:txBody>
          <a:bodyPr wrap="square" lIns="0" tIns="0" rIns="0" bIns="0">
            <a:spAutoFit/>
          </a:bodyPr>
          <a:lstStyle/>
          <a:p>
            <a:pPr>
              <a:defRPr sz="3600" b="1">
                <a:solidFill>
                  <a:srgbClr val="00D2FF"/>
                </a:solidFill>
                <a:latin typeface="Trebuchet MS"/>
              </a:defRPr>
            </a:pPr>
            <a:r>
              <a:t>Summary: Trust the Tech Crew</a:t>
            </a:r>
          </a:p>
        </p:txBody>
      </p:sp>
      <p:sp>
        <p:nvSpPr>
          <p:cNvPr id="3" name="Rectangle 2"/>
          <p:cNvSpPr/>
          <p:nvPr/>
        </p:nvSpPr>
        <p:spPr>
          <a:xfrm>
            <a:off x="731520" y="1188720"/>
            <a:ext cx="10728655" cy="18288"/>
          </a:xfrm>
          <a:prstGeom prst="rect">
            <a:avLst/>
          </a:prstGeom>
          <a:solidFill>
            <a:srgbClr val="283241"/>
          </a:solidFill>
          <a:ln>
            <a:solidFill>
              <a:srgbClr val="2832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728655" cy="2926080"/>
          </a:xfrm>
          <a:prstGeom prst="rect">
            <a:avLst/>
          </a:prstGeom>
          <a:noFill/>
        </p:spPr>
        <p:txBody>
          <a:bodyPr wrap="square">
            <a:spAutoFit/>
          </a:bodyPr>
          <a:lstStyle/>
          <a:p>
            <a:pPr>
              <a:spcAft>
                <a:spcPts val="1400"/>
              </a:spcAft>
              <a:defRPr sz="2000">
                <a:solidFill>
                  <a:srgbClr val="DCE1EB"/>
                </a:solidFill>
                <a:latin typeface="Calibri"/>
              </a:defRPr>
            </a:pPr>
            <a:r>
              <a:t>•  A 5-Minute Test Saves a 60-Minute Disaster: Always check your levels, colors, and monitors early.</a:t>
            </a:r>
          </a:p>
          <a:p>
            <a:pPr>
              <a:spcAft>
                <a:spcPts val="1400"/>
              </a:spcAft>
              <a:defRPr sz="2000">
                <a:solidFill>
                  <a:srgbClr val="DCE1EB"/>
                </a:solidFill>
                <a:latin typeface="Calibri"/>
              </a:defRPr>
            </a:pPr>
            <a:r>
              <a:t>•  Keep it Simple: Slides are visual aids to highlight key concepts, not a word-for-word teleprompter.</a:t>
            </a:r>
          </a:p>
          <a:p>
            <a:pPr>
              <a:spcAft>
                <a:spcPts val="1400"/>
              </a:spcAft>
              <a:defRPr sz="2000">
                <a:solidFill>
                  <a:srgbClr val="DCE1EB"/>
                </a:solidFill>
                <a:latin typeface="Calibri"/>
              </a:defRPr>
            </a:pPr>
            <a:r>
              <a:t>•  Respect the Crew: They control the master volume. Be nice, or they will make you sound like a chipmunk.</a:t>
            </a:r>
          </a:p>
          <a:p>
            <a:pPr>
              <a:spcAft>
                <a:spcPts val="1400"/>
              </a:spcAft>
              <a:defRPr sz="2000">
                <a:solidFill>
                  <a:srgbClr val="DCE1EB"/>
                </a:solidFill>
                <a:latin typeface="Calibri"/>
              </a:defRPr>
            </a:pPr>
            <a:r>
              <a:t>•  Call to Action: Treat your AV crew like partners. Let's give them a hand and get this show started!</a:t>
            </a:r>
          </a:p>
        </p:txBody>
      </p:sp>
      <p:sp>
        <p:nvSpPr>
          <p:cNvPr id="5" name="Rounded Rectangle 4"/>
          <p:cNvSpPr/>
          <p:nvPr/>
        </p:nvSpPr>
        <p:spPr>
          <a:xfrm>
            <a:off x="731520" y="4754880"/>
            <a:ext cx="10728655" cy="1097280"/>
          </a:xfrm>
          <a:prstGeom prst="roundRect">
            <a:avLst/>
          </a:prstGeom>
          <a:solidFill>
            <a:srgbClr val="1D232F"/>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2000" b="1">
                <a:solidFill>
                  <a:srgbClr val="00D2FF"/>
                </a:solidFill>
                <a:latin typeface="Trebuchet MS"/>
              </a:defRPr>
            </a:pPr>
            <a:r>
              <a:t>THANK YOU!</a:t>
            </a:r>
            <a:br/>
            <a:r>
              <a:t>Let's Begin the Main Event.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